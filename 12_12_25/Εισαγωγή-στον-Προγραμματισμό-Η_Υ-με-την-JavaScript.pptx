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9144000" cy="5143500" type="screen16x9"/>
  <p:notesSz cx="6858000" cy="9144000"/>
  <p:embeddedFontLst>
    <p:embeddedFont>
      <p:font typeface="Nunito" pitchFamily="2" charset="0"/>
      <p:regular r:id="rId48"/>
      <p:bold r:id="rId49"/>
      <p:italic r:id="rId50"/>
      <p:boldItalic r:id="rId51"/>
    </p:embeddedFont>
    <p:embeddedFont>
      <p:font typeface="Verdana" panose="020B0604030504040204" pitchFamily="3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1D21A9-7E1A-4391-8461-BF05E97620D1}">
  <a:tblStyle styleId="{FD1D21A9-7E1A-4391-8461-BF05E97620D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727e05330a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727e05330a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727e05330a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727e05330a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727e05330a_0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727e05330a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727e05330a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727e05330a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27e05330a_0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27e05330a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7277c6079d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7277c6079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7277c6079d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7277c6079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7277c6079d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7277c6079d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729cd20f6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729cd20f6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7277c6079d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7277c6079d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7277c6079d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7277c6079d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7277c6079d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7277c6079d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729b992ab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729b992ab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729b992ab5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729b992ab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729b992ab5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729b992ab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729b4e0e5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729b4e0e5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729b4e0e50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729b4e0e5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729b4e0e50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729b4e0e50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729b4e0e50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729b4e0e5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729b4e0e50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729b4e0e50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729b4e0e50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729b4e0e50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737a2733a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737a2733a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737a2733af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737a2733a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737a2733af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737a2733af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737a2733af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737a2733a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737a2733af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737a2733a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7fc8d19890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7fc8d1989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fc8d19890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fc8d19890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7fc8d19890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7fc8d19890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7fc8d19890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7fc8d19890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fc8d19890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7fc8d19890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7fc8d19890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7fc8d19890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7fc8d19890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7fc8d19890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7fc8d19890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7fc8d19890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848e1d3e11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848e1d3e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7fc8d1989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7fc8d1989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848e1d3e11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848e1d3e11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848e1d3e11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848e1d3e1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848e1d3e11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848e1d3e11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caa692f91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caa692f91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caa692f911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caa692f91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caa692f911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caa692f91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caa692f911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caa692f91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caa692f911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caa692f911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Autofit/>
          </a:bodyPr>
          <a:lstStyle>
            <a:lvl1pPr marL="457200" lvl="0" indent="-311150" algn="ctr">
              <a:spcBef>
                <a:spcPts val="0"/>
              </a:spcBef>
              <a:spcAft>
                <a:spcPts val="0"/>
              </a:spcAft>
              <a:buSzPts val="1300"/>
              <a:buChar char="●"/>
              <a:defRPr/>
            </a:lvl1pPr>
            <a:lvl2pPr marL="914400" lvl="1" indent="-298450" algn="ctr">
              <a:spcBef>
                <a:spcPts val="1600"/>
              </a:spcBef>
              <a:spcAft>
                <a:spcPts val="0"/>
              </a:spcAft>
              <a:buSzPts val="1100"/>
              <a:buChar char="○"/>
              <a:defRPr/>
            </a:lvl2pPr>
            <a:lvl3pPr marL="1371600" lvl="2" indent="-298450" algn="ctr">
              <a:spcBef>
                <a:spcPts val="1600"/>
              </a:spcBef>
              <a:spcAft>
                <a:spcPts val="0"/>
              </a:spcAft>
              <a:buSzPts val="1100"/>
              <a:buChar char="■"/>
              <a:defRPr/>
            </a:lvl3pPr>
            <a:lvl4pPr marL="1828800" lvl="3" indent="-298450" algn="ctr">
              <a:spcBef>
                <a:spcPts val="1600"/>
              </a:spcBef>
              <a:spcAft>
                <a:spcPts val="0"/>
              </a:spcAft>
              <a:buSzPts val="1100"/>
              <a:buChar char="●"/>
              <a:defRPr/>
            </a:lvl4pPr>
            <a:lvl5pPr marL="2286000" lvl="4" indent="-298450" algn="ctr">
              <a:spcBef>
                <a:spcPts val="1600"/>
              </a:spcBef>
              <a:spcAft>
                <a:spcPts val="0"/>
              </a:spcAft>
              <a:buSzPts val="1100"/>
              <a:buChar char="○"/>
              <a:defRPr/>
            </a:lvl5pPr>
            <a:lvl6pPr marL="2743200" lvl="5" indent="-298450" algn="ctr">
              <a:spcBef>
                <a:spcPts val="1600"/>
              </a:spcBef>
              <a:spcAft>
                <a:spcPts val="0"/>
              </a:spcAft>
              <a:buSzPts val="1100"/>
              <a:buChar char="■"/>
              <a:defRPr/>
            </a:lvl6pPr>
            <a:lvl7pPr marL="3200400" lvl="6" indent="-298450" algn="ctr">
              <a:spcBef>
                <a:spcPts val="1600"/>
              </a:spcBef>
              <a:spcAft>
                <a:spcPts val="0"/>
              </a:spcAft>
              <a:buSzPts val="1100"/>
              <a:buChar char="●"/>
              <a:defRPr/>
            </a:lvl7pPr>
            <a:lvl8pPr marL="3657600" lvl="7" indent="-298450" algn="ctr">
              <a:spcBef>
                <a:spcPts val="1600"/>
              </a:spcBef>
              <a:spcAft>
                <a:spcPts val="0"/>
              </a:spcAft>
              <a:buSzPts val="1100"/>
              <a:buChar char="○"/>
              <a:defRPr/>
            </a:lvl8pPr>
            <a:lvl9pPr marL="4114800" lvl="8" indent="-298450" algn="ctr">
              <a:spcBef>
                <a:spcPts val="1600"/>
              </a:spcBef>
              <a:spcAft>
                <a:spcPts val="160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1600"/>
              </a:spcBef>
              <a:spcAft>
                <a:spcPts val="160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l"/>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hyperlink" Target="https://www.w3schools.com/js/tryit.asp?filename=tryjs_intro_style" TargetMode="External"/><Relationship Id="rId3" Type="http://schemas.openxmlformats.org/officeDocument/2006/relationships/hyperlink" Target="https://js1k.com/2019-x/demo/4301" TargetMode="External"/><Relationship Id="rId7" Type="http://schemas.openxmlformats.org/officeDocument/2006/relationships/hyperlink" Target="https://www.w3schools.com/js/tryit.asp?filename=tryjs_intro_lightbulb"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hyperlink" Target="https://js1k.com/2019-x/demo/4187" TargetMode="External"/><Relationship Id="rId5" Type="http://schemas.openxmlformats.org/officeDocument/2006/relationships/hyperlink" Target="https://js1k.com/2019-x/details/4076" TargetMode="External"/><Relationship Id="rId4" Type="http://schemas.openxmlformats.org/officeDocument/2006/relationships/hyperlink" Target="https://js1k.com/2019-x/demo/4076" TargetMode="External"/><Relationship Id="rId9" Type="http://schemas.openxmlformats.org/officeDocument/2006/relationships/hyperlink" Target="https://www.w3schools.com/js/tryit.asp?filename=tryjs_validation_number"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www.w3schools.com/tags/tag_input.asp" TargetMode="Externa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hyperlink" Target="https://www.w3schools.com/js/js_intro.asp" TargetMode="Externa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hyperlink" Target="https://www.w3schools.com/js/tryit.asp?filename=tryjs_event_onclick1" TargetMode="Externa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hyperlink" Target="https://www.w3schools.com/js/tryit.asp?filename=tryjs_onchange"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8" Type="http://schemas.openxmlformats.org/officeDocument/2006/relationships/hyperlink" Target="https://www.w3schools.com/js/tryit.asp?filename=tryjs_event_onmouse" TargetMode="External"/><Relationship Id="rId3" Type="http://schemas.openxmlformats.org/officeDocument/2006/relationships/hyperlink" Target="https://www.w3schools.com/js/tryit.asp?filename=tryjs_events_mousedown" TargetMode="External"/><Relationship Id="rId7" Type="http://schemas.openxmlformats.org/officeDocument/2006/relationships/hyperlink" Target="https://www.w3schools.com/js/tryit.asp?filename=tryjs_event_onfocus"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hyperlink" Target="https://www.w3schools.com/js/tryit.asp?filename=tryjs_event_onload" TargetMode="External"/><Relationship Id="rId5" Type="http://schemas.openxmlformats.org/officeDocument/2006/relationships/hyperlink" Target="https://www.w3schools.com/js/tryit.asp?filename=tryjs_event_onmousedown" TargetMode="External"/><Relationship Id="rId4" Type="http://schemas.openxmlformats.org/officeDocument/2006/relationships/hyperlink" Target="https://www.w3schools.com/js/tryit.asp?filename=tryjs_events_mouseover" TargetMode="External"/><Relationship Id="rId9" Type="http://schemas.openxmlformats.org/officeDocument/2006/relationships/hyperlink" Target="https://www.w3schools.com/js/tryit.asp?filename=tryjs_alert"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https://docs.google.com/document/d/1RmwPBBECLewrqz8C9shbwcSPoTKECrAeAJCNOkkI0VY/edit" TargetMode="External"/><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sz="1800"/>
          </a:p>
          <a:p>
            <a:pPr marL="0" lvl="0" indent="0" algn="ctr" rtl="0">
              <a:spcBef>
                <a:spcPts val="0"/>
              </a:spcBef>
              <a:spcAft>
                <a:spcPts val="0"/>
              </a:spcAft>
              <a:buNone/>
            </a:pPr>
            <a:endParaRPr sz="1800"/>
          </a:p>
          <a:p>
            <a:pPr marL="0" lvl="0" indent="0" algn="ctr" rtl="0">
              <a:spcBef>
                <a:spcPts val="0"/>
              </a:spcBef>
              <a:spcAft>
                <a:spcPts val="0"/>
              </a:spcAft>
              <a:buNone/>
            </a:pPr>
            <a:endParaRPr sz="1800"/>
          </a:p>
          <a:p>
            <a:pPr marL="0" lvl="0" indent="0" algn="ctr" rtl="0">
              <a:spcBef>
                <a:spcPts val="0"/>
              </a:spcBef>
              <a:spcAft>
                <a:spcPts val="0"/>
              </a:spcAft>
              <a:buNone/>
            </a:pPr>
            <a:endParaRPr sz="1800"/>
          </a:p>
          <a:p>
            <a:pPr marL="0" lvl="0" indent="0" algn="ctr" rtl="0">
              <a:spcBef>
                <a:spcPts val="0"/>
              </a:spcBef>
              <a:spcAft>
                <a:spcPts val="0"/>
              </a:spcAft>
              <a:buNone/>
            </a:pPr>
            <a:r>
              <a:rPr lang="el" sz="1800"/>
              <a:t>Εισαγωγή στον Προγραμματισμό Η/Υ με την</a:t>
            </a:r>
            <a:endParaRPr sz="1800"/>
          </a:p>
          <a:p>
            <a:pPr marL="0" lvl="0" indent="0" algn="ctr" rtl="0">
              <a:spcBef>
                <a:spcPts val="0"/>
              </a:spcBef>
              <a:spcAft>
                <a:spcPts val="0"/>
              </a:spcAft>
              <a:buNone/>
            </a:pPr>
            <a:r>
              <a:rPr lang="el" sz="1800"/>
              <a:t>JavaScript</a:t>
            </a:r>
            <a:endParaRPr sz="1800"/>
          </a:p>
          <a:p>
            <a:pPr marL="0" lvl="0" indent="0" algn="ctr" rtl="0">
              <a:spcBef>
                <a:spcPts val="0"/>
              </a:spcBef>
              <a:spcAft>
                <a:spcPts val="0"/>
              </a:spcAft>
              <a:buNone/>
            </a:pPr>
            <a:endParaRPr/>
          </a:p>
        </p:txBody>
      </p:sp>
      <p:sp>
        <p:nvSpPr>
          <p:cNvPr id="129" name="Google Shape;129;p13"/>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Τι είναι η Javascript</a:t>
            </a:r>
            <a:endParaRPr/>
          </a:p>
        </p:txBody>
      </p:sp>
      <p:sp>
        <p:nvSpPr>
          <p:cNvPr id="135" name="Google Shape;135;p14"/>
          <p:cNvSpPr txBox="1">
            <a:spLocks noGrp="1"/>
          </p:cNvSpPr>
          <p:nvPr>
            <p:ph type="body" idx="1"/>
          </p:nvPr>
        </p:nvSpPr>
        <p:spPr>
          <a:xfrm>
            <a:off x="623400" y="1372475"/>
            <a:ext cx="8520600" cy="6906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l"/>
              <a:t>Είναι η γλώσσα Προγραμματισμού της HTML και του Παγκοσμίου Ιστού</a:t>
            </a:r>
            <a:endParaRPr/>
          </a:p>
          <a:p>
            <a:pPr marL="457200" lvl="0" indent="0" algn="l" rtl="0">
              <a:spcBef>
                <a:spcPts val="1600"/>
              </a:spcBef>
              <a:spcAft>
                <a:spcPts val="1600"/>
              </a:spcAft>
              <a:buNone/>
            </a:pPr>
            <a:endParaRPr/>
          </a:p>
        </p:txBody>
      </p:sp>
      <p:sp>
        <p:nvSpPr>
          <p:cNvPr id="136" name="Google Shape;136;p14"/>
          <p:cNvSpPr txBox="1">
            <a:spLocks noGrp="1"/>
          </p:cNvSpPr>
          <p:nvPr>
            <p:ph type="title"/>
          </p:nvPr>
        </p:nvSpPr>
        <p:spPr>
          <a:xfrm>
            <a:off x="406200" y="18430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Γιατί να μάθουμε Javascript</a:t>
            </a:r>
            <a:endParaRPr/>
          </a:p>
        </p:txBody>
      </p:sp>
      <p:sp>
        <p:nvSpPr>
          <p:cNvPr id="137" name="Google Shape;137;p14"/>
          <p:cNvSpPr txBox="1">
            <a:spLocks noGrp="1"/>
          </p:cNvSpPr>
          <p:nvPr>
            <p:ph type="body" idx="1"/>
          </p:nvPr>
        </p:nvSpPr>
        <p:spPr>
          <a:xfrm>
            <a:off x="406200" y="2571750"/>
            <a:ext cx="5769000" cy="18891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l" sz="1150">
                <a:solidFill>
                  <a:schemeClr val="dk1"/>
                </a:solidFill>
                <a:highlight>
                  <a:srgbClr val="FFFFFF"/>
                </a:highlight>
                <a:latin typeface="Verdana"/>
                <a:ea typeface="Verdana"/>
                <a:cs typeface="Verdana"/>
                <a:sym typeface="Verdana"/>
              </a:rPr>
              <a:t>JavaScript είναι μία από τις 3 γλώσσες που πρέπει να ξέρει ένας web developers:</a:t>
            </a:r>
            <a:endParaRPr sz="1150">
              <a:solidFill>
                <a:schemeClr val="dk1"/>
              </a:solidFill>
              <a:highlight>
                <a:srgbClr val="FFFFFF"/>
              </a:highlight>
              <a:latin typeface="Verdana"/>
              <a:ea typeface="Verdana"/>
              <a:cs typeface="Verdana"/>
              <a:sym typeface="Verdana"/>
            </a:endParaRPr>
          </a:p>
          <a:p>
            <a:pPr marL="457200" lvl="0" indent="-301625" algn="l" rtl="0">
              <a:spcBef>
                <a:spcPts val="1400"/>
              </a:spcBef>
              <a:spcAft>
                <a:spcPts val="0"/>
              </a:spcAft>
              <a:buClr>
                <a:srgbClr val="666666"/>
              </a:buClr>
              <a:buSzPts val="1150"/>
              <a:buFont typeface="Verdana"/>
              <a:buAutoNum type="arabicPeriod"/>
            </a:pPr>
            <a:r>
              <a:rPr lang="el" sz="1150">
                <a:solidFill>
                  <a:srgbClr val="666666"/>
                </a:solidFill>
                <a:highlight>
                  <a:srgbClr val="FFFFFF"/>
                </a:highlight>
                <a:latin typeface="Verdana"/>
                <a:ea typeface="Verdana"/>
                <a:cs typeface="Verdana"/>
                <a:sym typeface="Verdana"/>
              </a:rPr>
              <a:t>HTML Για να ορίσει το περιεχόμενο της ιστοσελίδας</a:t>
            </a:r>
            <a:endParaRPr sz="1150">
              <a:solidFill>
                <a:srgbClr val="666666"/>
              </a:solidFill>
              <a:highlight>
                <a:srgbClr val="FFFFFF"/>
              </a:highlight>
              <a:latin typeface="Verdana"/>
              <a:ea typeface="Verdana"/>
              <a:cs typeface="Verdana"/>
              <a:sym typeface="Verdana"/>
            </a:endParaRPr>
          </a:p>
          <a:p>
            <a:pPr marL="457200" lvl="0" indent="-301625" algn="l" rtl="0">
              <a:spcBef>
                <a:spcPts val="0"/>
              </a:spcBef>
              <a:spcAft>
                <a:spcPts val="0"/>
              </a:spcAft>
              <a:buClr>
                <a:srgbClr val="666666"/>
              </a:buClr>
              <a:buSzPts val="1150"/>
              <a:buFont typeface="Verdana"/>
              <a:buAutoNum type="arabicPeriod"/>
            </a:pPr>
            <a:r>
              <a:rPr lang="el" sz="1150">
                <a:solidFill>
                  <a:srgbClr val="666666"/>
                </a:solidFill>
                <a:highlight>
                  <a:srgbClr val="FFFFFF"/>
                </a:highlight>
                <a:latin typeface="Verdana"/>
                <a:ea typeface="Verdana"/>
                <a:cs typeface="Verdana"/>
                <a:sym typeface="Verdana"/>
              </a:rPr>
              <a:t>CSS Για να καθορίσει την εμφάνιση της ιστοσελίδας</a:t>
            </a:r>
            <a:endParaRPr sz="1150">
              <a:solidFill>
                <a:srgbClr val="666666"/>
              </a:solidFill>
              <a:highlight>
                <a:srgbClr val="FFFFFF"/>
              </a:highlight>
              <a:latin typeface="Verdana"/>
              <a:ea typeface="Verdana"/>
              <a:cs typeface="Verdana"/>
              <a:sym typeface="Verdana"/>
            </a:endParaRPr>
          </a:p>
          <a:p>
            <a:pPr marL="457200" lvl="0" indent="-301625" algn="l" rtl="0">
              <a:spcBef>
                <a:spcPts val="0"/>
              </a:spcBef>
              <a:spcAft>
                <a:spcPts val="0"/>
              </a:spcAft>
              <a:buClr>
                <a:srgbClr val="666666"/>
              </a:buClr>
              <a:buSzPts val="1150"/>
              <a:buFont typeface="Verdana"/>
              <a:buAutoNum type="arabicPeriod"/>
            </a:pPr>
            <a:r>
              <a:rPr lang="el" sz="1150">
                <a:solidFill>
                  <a:srgbClr val="666666"/>
                </a:solidFill>
                <a:highlight>
                  <a:srgbClr val="FFFFFF"/>
                </a:highlight>
                <a:latin typeface="Verdana"/>
                <a:ea typeface="Verdana"/>
                <a:cs typeface="Verdana"/>
                <a:sym typeface="Verdana"/>
              </a:rPr>
              <a:t>JavaScript να προγραμματίσει την συμπεριφορά της ιστοσελίδας</a:t>
            </a:r>
            <a:endParaRPr sz="1150">
              <a:solidFill>
                <a:srgbClr val="666666"/>
              </a:solidFill>
              <a:highlight>
                <a:srgbClr val="FFFFFF"/>
              </a:highlight>
              <a:latin typeface="Verdana"/>
              <a:ea typeface="Verdana"/>
              <a:cs typeface="Verdana"/>
              <a:sym typeface="Verdana"/>
            </a:endParaRPr>
          </a:p>
          <a:p>
            <a:pPr marL="457200" lvl="0" indent="0" algn="l" rtl="0">
              <a:spcBef>
                <a:spcPts val="1400"/>
              </a:spcBef>
              <a:spcAft>
                <a:spcPts val="1600"/>
              </a:spcAft>
              <a:buNone/>
            </a:pPr>
            <a:endParaRPr>
              <a:solidFill>
                <a:srgbClr val="66666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Java  και Javascript</a:t>
            </a:r>
            <a:endParaRPr/>
          </a:p>
        </p:txBody>
      </p:sp>
      <p:sp>
        <p:nvSpPr>
          <p:cNvPr id="143" name="Google Shape;143;p15"/>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l"/>
              <a:t>Έχουν αρκετές ομοιότητες (η javascript είναι υποσύνολο της Java)</a:t>
            </a:r>
            <a:endParaRPr/>
          </a:p>
          <a:p>
            <a:pPr marL="457200" lvl="0" indent="-311150" algn="l" rtl="0">
              <a:spcBef>
                <a:spcPts val="0"/>
              </a:spcBef>
              <a:spcAft>
                <a:spcPts val="0"/>
              </a:spcAft>
              <a:buSzPts val="1300"/>
              <a:buChar char="●"/>
            </a:pPr>
            <a:r>
              <a:rPr lang="el"/>
              <a:t>Η Javascript δεν χρειάζεται ειδικό περιβάλλον προγραμματισμού. Εκτελείται από τον φυλλομετρητή</a:t>
            </a:r>
            <a:endParaRPr/>
          </a:p>
          <a:p>
            <a:pPr marL="457200" lvl="0" indent="-311150" algn="l" rtl="0">
              <a:spcBef>
                <a:spcPts val="0"/>
              </a:spcBef>
              <a:spcAft>
                <a:spcPts val="0"/>
              </a:spcAft>
              <a:buSzPts val="1300"/>
              <a:buChar char="●"/>
            </a:pPr>
            <a:r>
              <a:rPr lang="el"/>
              <a:t>Μοιάζουν πολύ με την γλώσσα C</a:t>
            </a:r>
            <a:endParaRPr/>
          </a:p>
          <a:p>
            <a:pPr marL="457200" lvl="0" indent="-311150" algn="l" rtl="0">
              <a:spcBef>
                <a:spcPts val="0"/>
              </a:spcBef>
              <a:spcAft>
                <a:spcPts val="0"/>
              </a:spcAft>
              <a:buSzPts val="1300"/>
              <a:buChar char="●"/>
            </a:pPr>
            <a:r>
              <a:rPr lang="el"/>
              <a:t>Είναι αντικειμενοστραφής και συναρτησιακή</a:t>
            </a:r>
            <a:endParaRPr/>
          </a:p>
          <a:p>
            <a:pPr marL="457200" lvl="0" indent="-311150" algn="l" rtl="0">
              <a:spcBef>
                <a:spcPts val="0"/>
              </a:spcBef>
              <a:spcAft>
                <a:spcPts val="0"/>
              </a:spcAft>
              <a:buSzPts val="1300"/>
              <a:buChar char="●"/>
            </a:pPr>
            <a:r>
              <a:rPr lang="el"/>
              <a:t>Η πιο συνηθισμένη χρήση της JavaScript είναι να προσθέσει συμπεριφορά στην HTML στην πλευρά του χρήστη, που είναι γνωστό και ως Δυναμική HTML. Τα script είναι ενσωματωμένα στις HTML σελίδες και αλληλεπιδρούν με το Μοντέλο Αντικειμένου Εγγράφου (DOM – Document Object Model)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Παραδείγματα Javascript</a:t>
            </a:r>
            <a:endParaRPr/>
          </a:p>
        </p:txBody>
      </p:sp>
      <p:sp>
        <p:nvSpPr>
          <p:cNvPr id="149" name="Google Shape;149;p16"/>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l" sz="1100" u="sng">
                <a:solidFill>
                  <a:schemeClr val="hlink"/>
                </a:solidFill>
                <a:hlinkClick r:id="rId3"/>
              </a:rPr>
              <a:t>https://js1k.com/2019-x/demo/4301</a:t>
            </a:r>
            <a:endParaRPr/>
          </a:p>
          <a:p>
            <a:pPr marL="457200" lvl="0" indent="-311150" algn="l" rtl="0">
              <a:spcBef>
                <a:spcPts val="0"/>
              </a:spcBef>
              <a:spcAft>
                <a:spcPts val="0"/>
              </a:spcAft>
              <a:buSzPts val="1300"/>
              <a:buChar char="●"/>
            </a:pPr>
            <a:r>
              <a:rPr lang="el" sz="1100" u="sng">
                <a:solidFill>
                  <a:schemeClr val="hlink"/>
                </a:solidFill>
                <a:hlinkClick r:id="rId4"/>
              </a:rPr>
              <a:t>https://js1k.com/2019-x/demo/4076</a:t>
            </a:r>
            <a:r>
              <a:rPr lang="el"/>
              <a:t>    (code: </a:t>
            </a:r>
            <a:r>
              <a:rPr lang="el" sz="1100" u="sng">
                <a:solidFill>
                  <a:schemeClr val="hlink"/>
                </a:solidFill>
                <a:hlinkClick r:id="rId5"/>
              </a:rPr>
              <a:t>https://js1k.com/2019-x/details/4076</a:t>
            </a:r>
            <a:r>
              <a:rPr lang="el"/>
              <a:t>)</a:t>
            </a:r>
            <a:endParaRPr/>
          </a:p>
          <a:p>
            <a:pPr marL="457200" lvl="0" indent="-311150" algn="l" rtl="0">
              <a:spcBef>
                <a:spcPts val="0"/>
              </a:spcBef>
              <a:spcAft>
                <a:spcPts val="0"/>
              </a:spcAft>
              <a:buSzPts val="1300"/>
              <a:buChar char="●"/>
            </a:pPr>
            <a:r>
              <a:rPr lang="el" sz="1100" u="sng">
                <a:solidFill>
                  <a:schemeClr val="hlink"/>
                </a:solidFill>
                <a:hlinkClick r:id="rId6"/>
              </a:rPr>
              <a:t>https://js1k.com/2019-x/demo/4187</a:t>
            </a:r>
            <a:endParaRPr/>
          </a:p>
          <a:p>
            <a:pPr marL="457200" lvl="0" indent="-311150" algn="l" rtl="0">
              <a:spcBef>
                <a:spcPts val="0"/>
              </a:spcBef>
              <a:spcAft>
                <a:spcPts val="0"/>
              </a:spcAft>
              <a:buSzPts val="1300"/>
              <a:buChar char="●"/>
            </a:pPr>
            <a:r>
              <a:rPr lang="el" sz="1100" u="sng">
                <a:solidFill>
                  <a:schemeClr val="hlink"/>
                </a:solidFill>
                <a:hlinkClick r:id="rId7"/>
              </a:rPr>
              <a:t>https://www.w3schools.com/js/tryit.asp?filename=tryjs_intro_lightbulb</a:t>
            </a:r>
            <a:endParaRPr/>
          </a:p>
          <a:p>
            <a:pPr marL="457200" lvl="0" indent="-311150" algn="l" rtl="0">
              <a:spcBef>
                <a:spcPts val="0"/>
              </a:spcBef>
              <a:spcAft>
                <a:spcPts val="0"/>
              </a:spcAft>
              <a:buSzPts val="1300"/>
              <a:buChar char="●"/>
            </a:pPr>
            <a:r>
              <a:rPr lang="el" sz="1100" u="sng">
                <a:solidFill>
                  <a:schemeClr val="hlink"/>
                </a:solidFill>
                <a:hlinkClick r:id="rId8"/>
              </a:rPr>
              <a:t>https://www.w3schools.com/js/tryit.asp?filename=tryjs_intro_style</a:t>
            </a:r>
            <a:endParaRPr/>
          </a:p>
          <a:p>
            <a:pPr marL="457200" lvl="0" indent="-311150" algn="l" rtl="0">
              <a:spcBef>
                <a:spcPts val="0"/>
              </a:spcBef>
              <a:spcAft>
                <a:spcPts val="0"/>
              </a:spcAft>
              <a:buSzPts val="1300"/>
              <a:buChar char="●"/>
            </a:pPr>
            <a:r>
              <a:rPr lang="el" sz="1100" u="sng">
                <a:solidFill>
                  <a:schemeClr val="hlink"/>
                </a:solidFill>
                <a:hlinkClick r:id="rId9"/>
              </a:rPr>
              <a:t>https://www.w3schools.com/js/tryit.asp?filename=tryjs_validation_number</a:t>
            </a:r>
            <a:r>
              <a:rPr lang="el"/>
              <a:t> (validation)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7"/>
          <p:cNvSpPr txBox="1">
            <a:spLocks noGrp="1"/>
          </p:cNvSpPr>
          <p:nvPr>
            <p:ph type="title"/>
          </p:nvPr>
        </p:nvSpPr>
        <p:spPr>
          <a:xfrm>
            <a:off x="917750" y="3525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H javascript είναι αντικειμενοστραφής</a:t>
            </a:r>
            <a:endParaRPr/>
          </a:p>
        </p:txBody>
      </p:sp>
      <p:pic>
        <p:nvPicPr>
          <p:cNvPr id="155" name="Google Shape;155;p17"/>
          <p:cNvPicPr preferRelativeResize="0"/>
          <p:nvPr/>
        </p:nvPicPr>
        <p:blipFill>
          <a:blip r:embed="rId3">
            <a:alphaModFix/>
          </a:blip>
          <a:stretch>
            <a:fillRect/>
          </a:stretch>
        </p:blipFill>
        <p:spPr>
          <a:xfrm>
            <a:off x="1430900" y="1000750"/>
            <a:ext cx="6282199" cy="3879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8"/>
          <p:cNvSpPr txBox="1">
            <a:spLocks noGrp="1"/>
          </p:cNvSpPr>
          <p:nvPr>
            <p:ph type="title"/>
          </p:nvPr>
        </p:nvSpPr>
        <p:spPr>
          <a:xfrm>
            <a:off x="955700" y="269025"/>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l"/>
              <a:t>H javascript είναι αντικειμενοστραφής</a:t>
            </a:r>
            <a:endParaRPr/>
          </a:p>
          <a:p>
            <a:pPr marL="0" lvl="0" indent="0" algn="l" rtl="0">
              <a:spcBef>
                <a:spcPts val="0"/>
              </a:spcBef>
              <a:spcAft>
                <a:spcPts val="0"/>
              </a:spcAft>
              <a:buNone/>
            </a:pPr>
            <a:endParaRPr/>
          </a:p>
        </p:txBody>
      </p:sp>
      <p:pic>
        <p:nvPicPr>
          <p:cNvPr id="161" name="Google Shape;161;p18"/>
          <p:cNvPicPr preferRelativeResize="0"/>
          <p:nvPr/>
        </p:nvPicPr>
        <p:blipFill>
          <a:blip r:embed="rId3">
            <a:alphaModFix/>
          </a:blip>
          <a:stretch>
            <a:fillRect/>
          </a:stretch>
        </p:blipFill>
        <p:spPr>
          <a:xfrm>
            <a:off x="455850" y="1170125"/>
            <a:ext cx="6020100" cy="3389225"/>
          </a:xfrm>
          <a:prstGeom prst="rect">
            <a:avLst/>
          </a:prstGeom>
          <a:noFill/>
          <a:ln>
            <a:noFill/>
          </a:ln>
        </p:spPr>
      </p:pic>
      <p:pic>
        <p:nvPicPr>
          <p:cNvPr id="162" name="Google Shape;162;p18"/>
          <p:cNvPicPr preferRelativeResize="0"/>
          <p:nvPr/>
        </p:nvPicPr>
        <p:blipFill>
          <a:blip r:embed="rId4">
            <a:alphaModFix/>
          </a:blip>
          <a:stretch>
            <a:fillRect/>
          </a:stretch>
        </p:blipFill>
        <p:spPr>
          <a:xfrm>
            <a:off x="5179400" y="1017713"/>
            <a:ext cx="3505200" cy="2085975"/>
          </a:xfrm>
          <a:prstGeom prst="rect">
            <a:avLst/>
          </a:prstGeom>
          <a:noFill/>
          <a:ln>
            <a:noFill/>
          </a:ln>
        </p:spPr>
      </p:pic>
      <p:sp>
        <p:nvSpPr>
          <p:cNvPr id="163" name="Google Shape;163;p18"/>
          <p:cNvSpPr txBox="1"/>
          <p:nvPr/>
        </p:nvSpPr>
        <p:spPr>
          <a:xfrm>
            <a:off x="3360700" y="3891775"/>
            <a:ext cx="3414000" cy="86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Το αντικείμενο type έχει τις ιδιότητες name, id, size, length….</a:t>
            </a:r>
            <a:r>
              <a:rPr lang="el" sz="1100" u="sng">
                <a:solidFill>
                  <a:schemeClr val="hlink"/>
                </a:solidFill>
                <a:hlinkClick r:id="rId5"/>
              </a:rPr>
              <a:t>https://www.w3schools.com/tags/tag_input.asp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9"/>
          <p:cNvSpPr txBox="1">
            <a:spLocks noGrp="1"/>
          </p:cNvSpPr>
          <p:nvPr>
            <p:ph type="title"/>
          </p:nvPr>
        </p:nvSpPr>
        <p:spPr>
          <a:xfrm>
            <a:off x="602700" y="397975"/>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Παράδειγμα 1</a:t>
            </a:r>
            <a:endParaRPr/>
          </a:p>
        </p:txBody>
      </p:sp>
      <p:sp>
        <p:nvSpPr>
          <p:cNvPr id="169" name="Google Shape;169;p19"/>
          <p:cNvSpPr txBox="1"/>
          <p:nvPr/>
        </p:nvSpPr>
        <p:spPr>
          <a:xfrm>
            <a:off x="348950" y="1236550"/>
            <a:ext cx="4271100" cy="3000000"/>
          </a:xfrm>
          <a:prstGeom prst="rect">
            <a:avLst/>
          </a:prstGeom>
          <a:solidFill>
            <a:srgbClr val="FFF2CC"/>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endParaRPr/>
          </a:p>
          <a:p>
            <a:pPr marL="0" lvl="0" indent="0" algn="l" rtl="0">
              <a:spcBef>
                <a:spcPts val="0"/>
              </a:spcBef>
              <a:spcAft>
                <a:spcPts val="0"/>
              </a:spcAft>
              <a:buNone/>
            </a:pPr>
            <a:r>
              <a:rPr lang="el"/>
              <a:t>&lt;h2&gt;What Can JavaScript Do?&lt;/h2&gt;</a:t>
            </a:r>
            <a:endParaRPr/>
          </a:p>
          <a:p>
            <a:pPr marL="0" lvl="0" indent="0" algn="l" rtl="0">
              <a:spcBef>
                <a:spcPts val="0"/>
              </a:spcBef>
              <a:spcAft>
                <a:spcPts val="0"/>
              </a:spcAft>
              <a:buNone/>
            </a:pPr>
            <a:endParaRPr/>
          </a:p>
          <a:p>
            <a:pPr marL="0" lvl="0" indent="0" algn="l" rtl="0">
              <a:spcBef>
                <a:spcPts val="0"/>
              </a:spcBef>
              <a:spcAft>
                <a:spcPts val="0"/>
              </a:spcAft>
              <a:buNone/>
            </a:pPr>
            <a:r>
              <a:rPr lang="el"/>
              <a:t>&lt;p id="demo"&gt;JavaScript can change HTML content.&lt;/p&gt;</a:t>
            </a:r>
            <a:endParaRPr/>
          </a:p>
          <a:p>
            <a:pPr marL="0" lvl="0" indent="0" algn="l" rtl="0">
              <a:spcBef>
                <a:spcPts val="0"/>
              </a:spcBef>
              <a:spcAft>
                <a:spcPts val="0"/>
              </a:spcAft>
              <a:buNone/>
            </a:pPr>
            <a:endParaRPr/>
          </a:p>
          <a:p>
            <a:pPr marL="0" lvl="0" indent="0" algn="l" rtl="0">
              <a:spcBef>
                <a:spcPts val="0"/>
              </a:spcBef>
              <a:spcAft>
                <a:spcPts val="0"/>
              </a:spcAft>
              <a:buNone/>
            </a:pPr>
            <a:r>
              <a:rPr lang="el"/>
              <a:t>&lt;button type="button" onclick='document.getElementById("demo").innerHTML = "Hello JavaScript!"'&gt;Click Me!&lt;/button&gt;</a:t>
            </a:r>
            <a:endParaRPr/>
          </a:p>
          <a:p>
            <a:pPr marL="0" lvl="0" indent="0" algn="l" rtl="0">
              <a:spcBef>
                <a:spcPts val="0"/>
              </a:spcBef>
              <a:spcAft>
                <a:spcPts val="0"/>
              </a:spcAft>
              <a:buNone/>
            </a:pP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p:txBody>
      </p:sp>
      <p:pic>
        <p:nvPicPr>
          <p:cNvPr id="170" name="Google Shape;170;p19"/>
          <p:cNvPicPr preferRelativeResize="0"/>
          <p:nvPr/>
        </p:nvPicPr>
        <p:blipFill>
          <a:blip r:embed="rId3">
            <a:alphaModFix/>
          </a:blip>
          <a:stretch>
            <a:fillRect/>
          </a:stretch>
        </p:blipFill>
        <p:spPr>
          <a:xfrm>
            <a:off x="5136600" y="1200475"/>
            <a:ext cx="2971800" cy="1419225"/>
          </a:xfrm>
          <a:prstGeom prst="rect">
            <a:avLst/>
          </a:prstGeom>
          <a:noFill/>
          <a:ln>
            <a:noFill/>
          </a:ln>
        </p:spPr>
      </p:pic>
      <p:pic>
        <p:nvPicPr>
          <p:cNvPr id="171" name="Google Shape;171;p19"/>
          <p:cNvPicPr preferRelativeResize="0"/>
          <p:nvPr/>
        </p:nvPicPr>
        <p:blipFill>
          <a:blip r:embed="rId4">
            <a:alphaModFix/>
          </a:blip>
          <a:stretch>
            <a:fillRect/>
          </a:stretch>
        </p:blipFill>
        <p:spPr>
          <a:xfrm>
            <a:off x="4962125" y="2802450"/>
            <a:ext cx="2924175" cy="1400175"/>
          </a:xfrm>
          <a:prstGeom prst="rect">
            <a:avLst/>
          </a:prstGeom>
          <a:noFill/>
          <a:ln>
            <a:noFill/>
          </a:ln>
        </p:spPr>
      </p:pic>
      <p:sp>
        <p:nvSpPr>
          <p:cNvPr id="172" name="Google Shape;172;p19"/>
          <p:cNvSpPr txBox="1"/>
          <p:nvPr/>
        </p:nvSpPr>
        <p:spPr>
          <a:xfrm>
            <a:off x="1577825" y="4236550"/>
            <a:ext cx="5401500" cy="76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Παραδείγματα τι κάνει η javascript (μπορεί να αλλάξει το περιεχόμενο μιας ιστοσελίδας ή τις τιμές μιας ιδιότητας)</a:t>
            </a:r>
            <a:endParaRPr/>
          </a:p>
          <a:p>
            <a:pPr marL="0" lvl="0" indent="0" algn="l" rtl="0">
              <a:spcBef>
                <a:spcPts val="0"/>
              </a:spcBef>
              <a:spcAft>
                <a:spcPts val="0"/>
              </a:spcAft>
              <a:buNone/>
            </a:pPr>
            <a:r>
              <a:rPr lang="el" sz="1100" u="sng">
                <a:solidFill>
                  <a:schemeClr val="hlink"/>
                </a:solidFill>
                <a:hlinkClick r:id="rId5"/>
              </a:rPr>
              <a:t>https://www.w3schools.com/js/js_intro.asp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0"/>
          <p:cNvSpPr txBox="1">
            <a:spLocks noGrp="1"/>
          </p:cNvSpPr>
          <p:nvPr>
            <p:ph type="title"/>
          </p:nvPr>
        </p:nvSpPr>
        <p:spPr>
          <a:xfrm>
            <a:off x="523300" y="299375"/>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Που μπαίνει ο κώδικας javascript</a:t>
            </a:r>
            <a:endParaRPr/>
          </a:p>
        </p:txBody>
      </p:sp>
      <p:sp>
        <p:nvSpPr>
          <p:cNvPr id="178" name="Google Shape;178;p20"/>
          <p:cNvSpPr txBox="1">
            <a:spLocks noGrp="1"/>
          </p:cNvSpPr>
          <p:nvPr>
            <p:ph type="body" idx="1"/>
          </p:nvPr>
        </p:nvSpPr>
        <p:spPr>
          <a:xfrm>
            <a:off x="364200" y="1000725"/>
            <a:ext cx="5552400" cy="592500"/>
          </a:xfrm>
          <a:prstGeom prst="rect">
            <a:avLst/>
          </a:prstGeom>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SzPts val="1300"/>
              <a:buChar char="●"/>
            </a:pPr>
            <a:r>
              <a:rPr lang="el"/>
              <a:t>Με την ετικέτα &lt;script&gt; &lt;/script&gt;</a:t>
            </a:r>
            <a:endParaRPr/>
          </a:p>
          <a:p>
            <a:pPr marL="457200" marR="0" lvl="0" indent="-311150" algn="l" rtl="0">
              <a:lnSpc>
                <a:spcPct val="115000"/>
              </a:lnSpc>
              <a:spcBef>
                <a:spcPts val="0"/>
              </a:spcBef>
              <a:spcAft>
                <a:spcPts val="0"/>
              </a:spcAft>
              <a:buSzPts val="1300"/>
              <a:buChar char="●"/>
            </a:pPr>
            <a:r>
              <a:rPr lang="el"/>
              <a:t>Είτε στο body ή στο head ή εξωτερικό</a:t>
            </a:r>
            <a:endParaRPr sz="1150">
              <a:solidFill>
                <a:srgbClr val="0000CD"/>
              </a:solidFill>
              <a:latin typeface="Courier New"/>
              <a:ea typeface="Courier New"/>
              <a:cs typeface="Courier New"/>
              <a:sym typeface="Courier New"/>
            </a:endParaRPr>
          </a:p>
        </p:txBody>
      </p:sp>
      <p:sp>
        <p:nvSpPr>
          <p:cNvPr id="179" name="Google Shape;179;p20"/>
          <p:cNvSpPr txBox="1"/>
          <p:nvPr/>
        </p:nvSpPr>
        <p:spPr>
          <a:xfrm>
            <a:off x="174500" y="1919325"/>
            <a:ext cx="2898000" cy="2484900"/>
          </a:xfrm>
          <a:prstGeom prst="rect">
            <a:avLst/>
          </a:prstGeom>
          <a:solidFill>
            <a:srgbClr val="FFF2CC"/>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&lt;h2&gt;JavaScript in Body&lt;/h2&gt;</a:t>
            </a:r>
            <a:endParaRPr/>
          </a:p>
          <a:p>
            <a:pPr marL="0" lvl="0" indent="0" algn="l" rtl="0">
              <a:spcBef>
                <a:spcPts val="0"/>
              </a:spcBef>
              <a:spcAft>
                <a:spcPts val="0"/>
              </a:spcAft>
              <a:buNone/>
            </a:pPr>
            <a:r>
              <a:rPr lang="el"/>
              <a:t>&lt;p id="demo"&gt;&lt;/p&gt;</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document.getElementById("demo").innerHTML = "My First JavaScript";</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 </a:t>
            </a:r>
            <a:endParaRPr/>
          </a:p>
        </p:txBody>
      </p:sp>
      <p:sp>
        <p:nvSpPr>
          <p:cNvPr id="180" name="Google Shape;180;p20"/>
          <p:cNvSpPr txBox="1"/>
          <p:nvPr/>
        </p:nvSpPr>
        <p:spPr>
          <a:xfrm>
            <a:off x="5832300" y="804175"/>
            <a:ext cx="3000000" cy="3000000"/>
          </a:xfrm>
          <a:prstGeom prst="rect">
            <a:avLst/>
          </a:prstGeom>
          <a:solidFill>
            <a:srgbClr val="F4CCCC"/>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sz="1200"/>
              <a:t>&lt;html&gt;</a:t>
            </a:r>
            <a:endParaRPr sz="1200"/>
          </a:p>
          <a:p>
            <a:pPr marL="0" lvl="0" indent="0" algn="l" rtl="0">
              <a:spcBef>
                <a:spcPts val="0"/>
              </a:spcBef>
              <a:spcAft>
                <a:spcPts val="0"/>
              </a:spcAft>
              <a:buNone/>
            </a:pPr>
            <a:r>
              <a:rPr lang="el" sz="1200"/>
              <a:t>&lt;head&gt;</a:t>
            </a:r>
            <a:endParaRPr sz="1200"/>
          </a:p>
          <a:p>
            <a:pPr marL="0" lvl="0" indent="0" algn="l" rtl="0">
              <a:spcBef>
                <a:spcPts val="0"/>
              </a:spcBef>
              <a:spcAft>
                <a:spcPts val="0"/>
              </a:spcAft>
              <a:buNone/>
            </a:pPr>
            <a:r>
              <a:rPr lang="el" sz="1200"/>
              <a:t>&lt;script&gt;</a:t>
            </a:r>
            <a:endParaRPr sz="1200"/>
          </a:p>
          <a:p>
            <a:pPr marL="0" lvl="0" indent="0" algn="l" rtl="0">
              <a:spcBef>
                <a:spcPts val="0"/>
              </a:spcBef>
              <a:spcAft>
                <a:spcPts val="0"/>
              </a:spcAft>
              <a:buNone/>
            </a:pPr>
            <a:r>
              <a:rPr lang="el" sz="1200"/>
              <a:t>function myFunction() {</a:t>
            </a:r>
            <a:endParaRPr sz="1200"/>
          </a:p>
          <a:p>
            <a:pPr marL="0" lvl="0" indent="0" algn="l" rtl="0">
              <a:spcBef>
                <a:spcPts val="0"/>
              </a:spcBef>
              <a:spcAft>
                <a:spcPts val="0"/>
              </a:spcAft>
              <a:buNone/>
            </a:pPr>
            <a:r>
              <a:rPr lang="el" sz="1200"/>
              <a:t>document.getElementById("demo").innerHTML = "Paragraph changed.";</a:t>
            </a:r>
            <a:endParaRPr sz="1200"/>
          </a:p>
          <a:p>
            <a:pPr marL="0" lvl="0" indent="0" algn="l" rtl="0">
              <a:spcBef>
                <a:spcPts val="0"/>
              </a:spcBef>
              <a:spcAft>
                <a:spcPts val="0"/>
              </a:spcAft>
              <a:buNone/>
            </a:pPr>
            <a:r>
              <a:rPr lang="el" sz="1200"/>
              <a:t>}</a:t>
            </a:r>
            <a:endParaRPr sz="1200"/>
          </a:p>
          <a:p>
            <a:pPr marL="0" lvl="0" indent="0" algn="l" rtl="0">
              <a:spcBef>
                <a:spcPts val="0"/>
              </a:spcBef>
              <a:spcAft>
                <a:spcPts val="0"/>
              </a:spcAft>
              <a:buNone/>
            </a:pPr>
            <a:r>
              <a:rPr lang="el" sz="1200"/>
              <a:t>&lt;/script&gt;</a:t>
            </a:r>
            <a:endParaRPr sz="1200"/>
          </a:p>
          <a:p>
            <a:pPr marL="0" lvl="0" indent="0" algn="l" rtl="0">
              <a:spcBef>
                <a:spcPts val="0"/>
              </a:spcBef>
              <a:spcAft>
                <a:spcPts val="0"/>
              </a:spcAft>
              <a:buNone/>
            </a:pPr>
            <a:r>
              <a:rPr lang="el" sz="1200"/>
              <a:t>&lt;/head&gt;</a:t>
            </a:r>
            <a:endParaRPr sz="1200"/>
          </a:p>
          <a:p>
            <a:pPr marL="0" lvl="0" indent="0" algn="l" rtl="0">
              <a:spcBef>
                <a:spcPts val="0"/>
              </a:spcBef>
              <a:spcAft>
                <a:spcPts val="0"/>
              </a:spcAft>
              <a:buNone/>
            </a:pPr>
            <a:r>
              <a:rPr lang="el" sz="1200"/>
              <a:t>&lt;body&gt;</a:t>
            </a:r>
            <a:endParaRPr sz="1200"/>
          </a:p>
          <a:p>
            <a:pPr marL="0" lvl="0" indent="0" algn="l" rtl="0">
              <a:spcBef>
                <a:spcPts val="0"/>
              </a:spcBef>
              <a:spcAft>
                <a:spcPts val="0"/>
              </a:spcAft>
              <a:buNone/>
            </a:pPr>
            <a:r>
              <a:rPr lang="el" sz="1200"/>
              <a:t>&lt;h2&gt;JavaScript in Head&lt;/h2&gt;</a:t>
            </a:r>
            <a:endParaRPr sz="1200"/>
          </a:p>
          <a:p>
            <a:pPr marL="0" lvl="0" indent="0" algn="l" rtl="0">
              <a:spcBef>
                <a:spcPts val="0"/>
              </a:spcBef>
              <a:spcAft>
                <a:spcPts val="0"/>
              </a:spcAft>
              <a:buNone/>
            </a:pPr>
            <a:r>
              <a:rPr lang="el" sz="1200"/>
              <a:t>&lt;p id="demo"&gt;A Paragraph.&lt;/p&gt;</a:t>
            </a:r>
            <a:endParaRPr sz="1200"/>
          </a:p>
          <a:p>
            <a:pPr marL="0" lvl="0" indent="0" algn="l" rtl="0">
              <a:spcBef>
                <a:spcPts val="0"/>
              </a:spcBef>
              <a:spcAft>
                <a:spcPts val="0"/>
              </a:spcAft>
              <a:buNone/>
            </a:pPr>
            <a:r>
              <a:rPr lang="el" sz="1200"/>
              <a:t>&lt;button type="button" onclick="myFunction()"&gt;Try it&lt;/button&gt;</a:t>
            </a:r>
            <a:endParaRPr sz="1200"/>
          </a:p>
          <a:p>
            <a:pPr marL="0" lvl="0" indent="0" algn="l" rtl="0">
              <a:spcBef>
                <a:spcPts val="0"/>
              </a:spcBef>
              <a:spcAft>
                <a:spcPts val="0"/>
              </a:spcAft>
              <a:buNone/>
            </a:pPr>
            <a:r>
              <a:rPr lang="el" sz="1200"/>
              <a:t>&lt;/body&gt;</a:t>
            </a:r>
            <a:endParaRPr sz="1200"/>
          </a:p>
          <a:p>
            <a:pPr marL="0" lvl="0" indent="0" algn="l" rtl="0">
              <a:spcBef>
                <a:spcPts val="0"/>
              </a:spcBef>
              <a:spcAft>
                <a:spcPts val="0"/>
              </a:spcAft>
              <a:buNone/>
            </a:pPr>
            <a:r>
              <a:rPr lang="el"/>
              <a:t>&lt;/html&gt;</a:t>
            </a:r>
            <a:endParaRPr/>
          </a:p>
        </p:txBody>
      </p:sp>
      <p:sp>
        <p:nvSpPr>
          <p:cNvPr id="181" name="Google Shape;181;p20"/>
          <p:cNvSpPr txBox="1"/>
          <p:nvPr/>
        </p:nvSpPr>
        <p:spPr>
          <a:xfrm>
            <a:off x="3109600" y="1919325"/>
            <a:ext cx="2685600" cy="2583600"/>
          </a:xfrm>
          <a:prstGeom prst="rect">
            <a:avLst/>
          </a:prstGeom>
          <a:solidFill>
            <a:srgbClr val="D9EAD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sz="1200"/>
              <a:t>&lt;html&gt;</a:t>
            </a:r>
            <a:endParaRPr sz="1200"/>
          </a:p>
          <a:p>
            <a:pPr marL="0" lvl="0" indent="0" algn="l" rtl="0">
              <a:spcBef>
                <a:spcPts val="0"/>
              </a:spcBef>
              <a:spcAft>
                <a:spcPts val="0"/>
              </a:spcAft>
              <a:buNone/>
            </a:pPr>
            <a:r>
              <a:rPr lang="el" sz="1200"/>
              <a:t>&lt;body&gt;</a:t>
            </a:r>
            <a:endParaRPr sz="1200"/>
          </a:p>
          <a:p>
            <a:pPr marL="0" lvl="0" indent="0" algn="l" rtl="0">
              <a:spcBef>
                <a:spcPts val="0"/>
              </a:spcBef>
              <a:spcAft>
                <a:spcPts val="0"/>
              </a:spcAft>
              <a:buNone/>
            </a:pPr>
            <a:r>
              <a:rPr lang="el" sz="1200"/>
              <a:t>&lt;h2&gt;External JavaScript&lt;/h2&gt;</a:t>
            </a:r>
            <a:endParaRPr sz="1200"/>
          </a:p>
          <a:p>
            <a:pPr marL="0" lvl="0" indent="0" algn="l" rtl="0">
              <a:spcBef>
                <a:spcPts val="0"/>
              </a:spcBef>
              <a:spcAft>
                <a:spcPts val="0"/>
              </a:spcAft>
              <a:buNone/>
            </a:pPr>
            <a:r>
              <a:rPr lang="el" sz="1200"/>
              <a:t>&lt;p id="demo"&gt;A Paragraph.&lt;/p&gt;</a:t>
            </a:r>
            <a:endParaRPr sz="1200"/>
          </a:p>
          <a:p>
            <a:pPr marL="0" lvl="0" indent="0" algn="l" rtl="0">
              <a:spcBef>
                <a:spcPts val="0"/>
              </a:spcBef>
              <a:spcAft>
                <a:spcPts val="0"/>
              </a:spcAft>
              <a:buNone/>
            </a:pPr>
            <a:r>
              <a:rPr lang="el" sz="1200"/>
              <a:t>&lt;button type="button" onclick="myFunction()"&gt;Try it&lt;/button&gt;</a:t>
            </a:r>
            <a:endParaRPr sz="1200"/>
          </a:p>
          <a:p>
            <a:pPr marL="0" lvl="0" indent="0" algn="l" rtl="0">
              <a:spcBef>
                <a:spcPts val="0"/>
              </a:spcBef>
              <a:spcAft>
                <a:spcPts val="0"/>
              </a:spcAft>
              <a:buNone/>
            </a:pPr>
            <a:r>
              <a:rPr lang="el" sz="1200"/>
              <a:t>&lt;p&gt;(myFunction is stored in an external file called "myScript.js")&lt;/p&gt;</a:t>
            </a:r>
            <a:endParaRPr sz="1200"/>
          </a:p>
          <a:p>
            <a:pPr marL="0" lvl="0" indent="0" algn="l" rtl="0">
              <a:spcBef>
                <a:spcPts val="0"/>
              </a:spcBef>
              <a:spcAft>
                <a:spcPts val="0"/>
              </a:spcAft>
              <a:buNone/>
            </a:pPr>
            <a:r>
              <a:rPr lang="el" sz="1200">
                <a:solidFill>
                  <a:srgbClr val="CC0000"/>
                </a:solidFill>
              </a:rPr>
              <a:t>&lt;script src="myScript.js"&gt;&lt;/script&gt;</a:t>
            </a:r>
            <a:endParaRPr sz="1200">
              <a:solidFill>
                <a:srgbClr val="CC0000"/>
              </a:solidFill>
            </a:endParaRPr>
          </a:p>
          <a:p>
            <a:pPr marL="0" lvl="0" indent="0" algn="l" rtl="0">
              <a:spcBef>
                <a:spcPts val="0"/>
              </a:spcBef>
              <a:spcAft>
                <a:spcPts val="0"/>
              </a:spcAft>
              <a:buNone/>
            </a:pPr>
            <a:r>
              <a:rPr lang="el" sz="1200"/>
              <a:t>&lt;/body&gt;</a:t>
            </a:r>
            <a:endParaRPr sz="1200"/>
          </a:p>
          <a:p>
            <a:pPr marL="0" lvl="0" indent="0" algn="l" rtl="0">
              <a:spcBef>
                <a:spcPts val="0"/>
              </a:spcBef>
              <a:spcAft>
                <a:spcPts val="0"/>
              </a:spcAft>
              <a:buNone/>
            </a:pPr>
            <a:r>
              <a:rPr lang="el" sz="1200"/>
              <a:t>&lt;/html&gt;</a:t>
            </a:r>
            <a:endParaRPr sz="1200"/>
          </a:p>
        </p:txBody>
      </p:sp>
      <p:sp>
        <p:nvSpPr>
          <p:cNvPr id="182" name="Google Shape;182;p20"/>
          <p:cNvSpPr txBox="1"/>
          <p:nvPr/>
        </p:nvSpPr>
        <p:spPr>
          <a:xfrm>
            <a:off x="743450" y="4404225"/>
            <a:ext cx="675300" cy="28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body</a:t>
            </a:r>
            <a:endParaRPr/>
          </a:p>
        </p:txBody>
      </p:sp>
      <p:sp>
        <p:nvSpPr>
          <p:cNvPr id="183" name="Google Shape;183;p20"/>
          <p:cNvSpPr txBox="1"/>
          <p:nvPr/>
        </p:nvSpPr>
        <p:spPr>
          <a:xfrm>
            <a:off x="3460025" y="4469175"/>
            <a:ext cx="1289100" cy="28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εξωτερικό</a:t>
            </a:r>
            <a:endParaRPr/>
          </a:p>
        </p:txBody>
      </p:sp>
      <p:sp>
        <p:nvSpPr>
          <p:cNvPr id="184" name="Google Shape;184;p20"/>
          <p:cNvSpPr txBox="1"/>
          <p:nvPr/>
        </p:nvSpPr>
        <p:spPr>
          <a:xfrm>
            <a:off x="6912425" y="3566900"/>
            <a:ext cx="675300" cy="28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head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1"/>
          <p:cNvSpPr txBox="1">
            <a:spLocks noGrp="1"/>
          </p:cNvSpPr>
          <p:nvPr>
            <p:ph type="title"/>
          </p:nvPr>
        </p:nvSpPr>
        <p:spPr>
          <a:xfrm>
            <a:off x="311700" y="3604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Αντικείμενα και ιδιότητες στην javascript</a:t>
            </a:r>
            <a:endParaRPr/>
          </a:p>
        </p:txBody>
      </p:sp>
      <p:sp>
        <p:nvSpPr>
          <p:cNvPr id="190" name="Google Shape;190;p21"/>
          <p:cNvSpPr txBox="1">
            <a:spLocks noGrp="1"/>
          </p:cNvSpPr>
          <p:nvPr>
            <p:ph type="body" idx="1"/>
          </p:nvPr>
        </p:nvSpPr>
        <p:spPr>
          <a:xfrm>
            <a:off x="311700" y="933125"/>
            <a:ext cx="8520600" cy="73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Ποιά είναι τα αντικείμενα και ποιές οι ιδιότητες στην παρακάτω ιστοσελίδα?</a:t>
            </a:r>
            <a:br>
              <a:rPr lang="el"/>
            </a:br>
            <a:r>
              <a:rPr lang="el"/>
              <a:t>Και πως αναφερόμαστε σε αυτά?</a:t>
            </a:r>
            <a:endParaRPr/>
          </a:p>
          <a:p>
            <a:pPr marL="0" lvl="0" indent="0" algn="l" rtl="0">
              <a:spcBef>
                <a:spcPts val="1600"/>
              </a:spcBef>
              <a:spcAft>
                <a:spcPts val="1600"/>
              </a:spcAft>
              <a:buNone/>
            </a:pPr>
            <a:endParaRPr/>
          </a:p>
        </p:txBody>
      </p:sp>
      <p:pic>
        <p:nvPicPr>
          <p:cNvPr id="191" name="Google Shape;191;p21"/>
          <p:cNvPicPr preferRelativeResize="0"/>
          <p:nvPr/>
        </p:nvPicPr>
        <p:blipFill>
          <a:blip r:embed="rId3">
            <a:alphaModFix/>
          </a:blip>
          <a:stretch>
            <a:fillRect/>
          </a:stretch>
        </p:blipFill>
        <p:spPr>
          <a:xfrm>
            <a:off x="584825" y="1722775"/>
            <a:ext cx="3761350" cy="3011075"/>
          </a:xfrm>
          <a:prstGeom prst="rect">
            <a:avLst/>
          </a:prstGeom>
          <a:noFill/>
          <a:ln>
            <a:noFill/>
          </a:ln>
        </p:spPr>
      </p:pic>
      <p:pic>
        <p:nvPicPr>
          <p:cNvPr id="192" name="Google Shape;192;p21"/>
          <p:cNvPicPr preferRelativeResize="0"/>
          <p:nvPr/>
        </p:nvPicPr>
        <p:blipFill>
          <a:blip r:embed="rId4">
            <a:alphaModFix/>
          </a:blip>
          <a:stretch>
            <a:fillRect/>
          </a:stretch>
        </p:blipFill>
        <p:spPr>
          <a:xfrm>
            <a:off x="4534082" y="1836575"/>
            <a:ext cx="3171825" cy="2133600"/>
          </a:xfrm>
          <a:prstGeom prst="rect">
            <a:avLst/>
          </a:prstGeom>
          <a:noFill/>
          <a:ln>
            <a:noFill/>
          </a:ln>
        </p:spPr>
      </p:pic>
      <p:sp>
        <p:nvSpPr>
          <p:cNvPr id="193" name="Google Shape;193;p21"/>
          <p:cNvSpPr txBox="1"/>
          <p:nvPr/>
        </p:nvSpPr>
        <p:spPr>
          <a:xfrm>
            <a:off x="5682125" y="910025"/>
            <a:ext cx="3049800" cy="869400"/>
          </a:xfrm>
          <a:prstGeom prst="rect">
            <a:avLst/>
          </a:prstGeom>
          <a:solidFill>
            <a:srgbClr val="EAD1DC"/>
          </a:solidFill>
          <a:ln>
            <a:noFill/>
          </a:ln>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l" sz="1200"/>
              <a:t>Πως αναφερόμαστε στο περιεχόμενα του fname</a:t>
            </a:r>
            <a:endParaRPr sz="1200"/>
          </a:p>
          <a:p>
            <a:pPr marL="457200" lvl="0" indent="-304800" algn="l" rtl="0">
              <a:spcBef>
                <a:spcPts val="0"/>
              </a:spcBef>
              <a:spcAft>
                <a:spcPts val="0"/>
              </a:spcAft>
              <a:buSzPts val="1200"/>
              <a:buChar char="●"/>
            </a:pPr>
            <a:r>
              <a:rPr lang="el" sz="1200"/>
              <a:t>Πως αναφερόμαστε στο size του πρώτο text</a:t>
            </a:r>
            <a:endParaRPr sz="1200"/>
          </a:p>
        </p:txBody>
      </p:sp>
      <p:sp>
        <p:nvSpPr>
          <p:cNvPr id="194" name="Google Shape;194;p21"/>
          <p:cNvSpPr txBox="1"/>
          <p:nvPr/>
        </p:nvSpPr>
        <p:spPr>
          <a:xfrm>
            <a:off x="4058650" y="3626225"/>
            <a:ext cx="4255800" cy="11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sz="1150">
                <a:highlight>
                  <a:srgbClr val="FFFFFF"/>
                </a:highlight>
                <a:latin typeface="Courier New"/>
                <a:ea typeface="Courier New"/>
                <a:cs typeface="Courier New"/>
                <a:sym typeface="Courier New"/>
              </a:rPr>
              <a:t>document.getElementById(</a:t>
            </a:r>
            <a:r>
              <a:rPr lang="el" sz="1150">
                <a:solidFill>
                  <a:srgbClr val="A52A2A"/>
                </a:solidFill>
                <a:highlight>
                  <a:srgbClr val="FFFFFF"/>
                </a:highlight>
                <a:latin typeface="Courier New"/>
                <a:ea typeface="Courier New"/>
                <a:cs typeface="Courier New"/>
                <a:sym typeface="Courier New"/>
              </a:rPr>
              <a:t>"demo"</a:t>
            </a:r>
            <a:r>
              <a:rPr lang="el" sz="1150">
                <a:highlight>
                  <a:srgbClr val="FFFFFF"/>
                </a:highlight>
                <a:latin typeface="Courier New"/>
                <a:ea typeface="Courier New"/>
                <a:cs typeface="Courier New"/>
                <a:sym typeface="Courier New"/>
              </a:rPr>
              <a:t>);</a:t>
            </a:r>
            <a:endParaRPr sz="1150">
              <a:highlight>
                <a:srgbClr val="FFFFFF"/>
              </a:highlight>
              <a:latin typeface="Courier New"/>
              <a:ea typeface="Courier New"/>
              <a:cs typeface="Courier New"/>
              <a:sym typeface="Courier New"/>
            </a:endParaRPr>
          </a:p>
          <a:p>
            <a:pPr marL="457200" lvl="0" indent="-301625" algn="l" rtl="0">
              <a:spcBef>
                <a:spcPts val="0"/>
              </a:spcBef>
              <a:spcAft>
                <a:spcPts val="0"/>
              </a:spcAft>
              <a:buSzPts val="1150"/>
              <a:buFont typeface="Courier New"/>
              <a:buChar char="●"/>
            </a:pPr>
            <a:r>
              <a:rPr lang="el" sz="1150">
                <a:highlight>
                  <a:srgbClr val="FFFFFF"/>
                </a:highlight>
                <a:latin typeface="Courier New"/>
                <a:ea typeface="Courier New"/>
                <a:cs typeface="Courier New"/>
                <a:sym typeface="Courier New"/>
              </a:rPr>
              <a:t>Επιστρέφει το αντικείμενο το οποίο έχει id ίση με αυτή που είναι στην παρένθεση.</a:t>
            </a:r>
            <a:endParaRPr sz="1150">
              <a:highlight>
                <a:srgbClr val="FFFFFF"/>
              </a:highlight>
              <a:latin typeface="Courier New"/>
              <a:ea typeface="Courier New"/>
              <a:cs typeface="Courier New"/>
              <a:sym typeface="Courier New"/>
            </a:endParaRPr>
          </a:p>
          <a:p>
            <a:pPr marL="457200" lvl="0" indent="-301625" algn="l" rtl="0">
              <a:spcBef>
                <a:spcPts val="0"/>
              </a:spcBef>
              <a:spcAft>
                <a:spcPts val="0"/>
              </a:spcAft>
              <a:buSzPts val="1150"/>
              <a:buFont typeface="Courier New"/>
              <a:buChar char="●"/>
            </a:pPr>
            <a:r>
              <a:rPr lang="el" sz="1150">
                <a:highlight>
                  <a:srgbClr val="FFFFFF"/>
                </a:highlight>
                <a:latin typeface="Courier New"/>
                <a:ea typeface="Courier New"/>
                <a:cs typeface="Courier New"/>
                <a:sym typeface="Courier New"/>
              </a:rPr>
              <a:t>Στη συνέχεια μπορούμε να αναφερθούμε σε οποιαδήποτε ιδιότητα του αντικειμένου θέλουμε</a:t>
            </a:r>
            <a:endParaRPr sz="1150">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1150">
              <a:highlight>
                <a:srgbClr val="FFFFFF"/>
              </a:highlight>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2"/>
          <p:cNvSpPr txBox="1">
            <a:spLocks noGrp="1"/>
          </p:cNvSpPr>
          <p:nvPr>
            <p:ph type="title"/>
          </p:nvPr>
        </p:nvSpPr>
        <p:spPr>
          <a:xfrm>
            <a:off x="311700" y="3604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Αντικείμενα και ιδιότητες στην javascript</a:t>
            </a:r>
            <a:endParaRPr/>
          </a:p>
        </p:txBody>
      </p:sp>
      <p:sp>
        <p:nvSpPr>
          <p:cNvPr id="200" name="Google Shape;200;p22"/>
          <p:cNvSpPr txBox="1">
            <a:spLocks noGrp="1"/>
          </p:cNvSpPr>
          <p:nvPr>
            <p:ph type="body" idx="1"/>
          </p:nvPr>
        </p:nvSpPr>
        <p:spPr>
          <a:xfrm>
            <a:off x="311700" y="933125"/>
            <a:ext cx="8520600" cy="73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Ποιά είναι τα αντικείμενα και ποιές οι ιδιότητες στην παρακάτω ιστοσελίδα?</a:t>
            </a:r>
            <a:br>
              <a:rPr lang="el"/>
            </a:br>
            <a:r>
              <a:rPr lang="el"/>
              <a:t>Και πως αναφερόμαστε σε αυτά?</a:t>
            </a:r>
            <a:endParaRPr/>
          </a:p>
          <a:p>
            <a:pPr marL="0" lvl="0" indent="0" algn="l" rtl="0">
              <a:spcBef>
                <a:spcPts val="1600"/>
              </a:spcBef>
              <a:spcAft>
                <a:spcPts val="1600"/>
              </a:spcAft>
              <a:buNone/>
            </a:pPr>
            <a:endParaRPr/>
          </a:p>
        </p:txBody>
      </p:sp>
      <p:pic>
        <p:nvPicPr>
          <p:cNvPr id="201" name="Google Shape;201;p22"/>
          <p:cNvPicPr preferRelativeResize="0"/>
          <p:nvPr/>
        </p:nvPicPr>
        <p:blipFill>
          <a:blip r:embed="rId3">
            <a:alphaModFix/>
          </a:blip>
          <a:stretch>
            <a:fillRect/>
          </a:stretch>
        </p:blipFill>
        <p:spPr>
          <a:xfrm>
            <a:off x="584825" y="1722775"/>
            <a:ext cx="3761350" cy="3011075"/>
          </a:xfrm>
          <a:prstGeom prst="rect">
            <a:avLst/>
          </a:prstGeom>
          <a:noFill/>
          <a:ln>
            <a:noFill/>
          </a:ln>
        </p:spPr>
      </p:pic>
      <p:pic>
        <p:nvPicPr>
          <p:cNvPr id="202" name="Google Shape;202;p22"/>
          <p:cNvPicPr preferRelativeResize="0"/>
          <p:nvPr/>
        </p:nvPicPr>
        <p:blipFill>
          <a:blip r:embed="rId4">
            <a:alphaModFix/>
          </a:blip>
          <a:stretch>
            <a:fillRect/>
          </a:stretch>
        </p:blipFill>
        <p:spPr>
          <a:xfrm>
            <a:off x="4534082" y="1836575"/>
            <a:ext cx="3171825" cy="2133600"/>
          </a:xfrm>
          <a:prstGeom prst="rect">
            <a:avLst/>
          </a:prstGeom>
          <a:noFill/>
          <a:ln>
            <a:noFill/>
          </a:ln>
        </p:spPr>
      </p:pic>
      <p:sp>
        <p:nvSpPr>
          <p:cNvPr id="203" name="Google Shape;203;p22"/>
          <p:cNvSpPr txBox="1"/>
          <p:nvPr/>
        </p:nvSpPr>
        <p:spPr>
          <a:xfrm>
            <a:off x="5682125" y="910025"/>
            <a:ext cx="3049800" cy="869400"/>
          </a:xfrm>
          <a:prstGeom prst="rect">
            <a:avLst/>
          </a:prstGeom>
          <a:solidFill>
            <a:srgbClr val="EAD1DC"/>
          </a:solidFill>
          <a:ln>
            <a:noFill/>
          </a:ln>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l" sz="1200"/>
              <a:t>Πως αναφερόμαστε στο περιεχόμενα του fname</a:t>
            </a:r>
            <a:endParaRPr sz="1200"/>
          </a:p>
          <a:p>
            <a:pPr marL="457200" lvl="0" indent="-304800" algn="l" rtl="0">
              <a:spcBef>
                <a:spcPts val="0"/>
              </a:spcBef>
              <a:spcAft>
                <a:spcPts val="0"/>
              </a:spcAft>
              <a:buSzPts val="1200"/>
              <a:buChar char="●"/>
            </a:pPr>
            <a:r>
              <a:rPr lang="el" sz="1200"/>
              <a:t>Πως αναφερόμαστε στο size του πρώτο text</a:t>
            </a:r>
            <a:endParaRPr sz="1200"/>
          </a:p>
        </p:txBody>
      </p:sp>
      <p:sp>
        <p:nvSpPr>
          <p:cNvPr id="204" name="Google Shape;204;p22"/>
          <p:cNvSpPr txBox="1"/>
          <p:nvPr/>
        </p:nvSpPr>
        <p:spPr>
          <a:xfrm>
            <a:off x="3436575" y="3626225"/>
            <a:ext cx="4878000" cy="1172700"/>
          </a:xfrm>
          <a:prstGeom prst="rect">
            <a:avLst/>
          </a:prstGeom>
          <a:noFill/>
          <a:ln>
            <a:noFill/>
          </a:ln>
        </p:spPr>
        <p:txBody>
          <a:bodyPr spcFirstLastPara="1" wrap="square" lIns="91425" tIns="91425" rIns="91425" bIns="91425" anchor="t" anchorCtr="0">
            <a:noAutofit/>
          </a:bodyPr>
          <a:lstStyle/>
          <a:p>
            <a:pPr marL="457200" lvl="0" indent="-301625" algn="l" rtl="0">
              <a:spcBef>
                <a:spcPts val="0"/>
              </a:spcBef>
              <a:spcAft>
                <a:spcPts val="0"/>
              </a:spcAft>
              <a:buSzPts val="1150"/>
              <a:buFont typeface="Courier New"/>
              <a:buChar char="●"/>
            </a:pPr>
            <a:r>
              <a:rPr lang="el" sz="1150">
                <a:highlight>
                  <a:srgbClr val="FFFFFF"/>
                </a:highlight>
                <a:latin typeface="Courier New"/>
                <a:ea typeface="Courier New"/>
                <a:cs typeface="Courier New"/>
                <a:sym typeface="Courier New"/>
              </a:rPr>
              <a:t>document.getElementById(</a:t>
            </a:r>
            <a:r>
              <a:rPr lang="el" sz="1150">
                <a:solidFill>
                  <a:srgbClr val="A52A2A"/>
                </a:solidFill>
                <a:highlight>
                  <a:srgbClr val="FFFFFF"/>
                </a:highlight>
                <a:latin typeface="Courier New"/>
                <a:ea typeface="Courier New"/>
                <a:cs typeface="Courier New"/>
                <a:sym typeface="Courier New"/>
              </a:rPr>
              <a:t>"fname"</a:t>
            </a:r>
            <a:r>
              <a:rPr lang="el" sz="1150">
                <a:highlight>
                  <a:srgbClr val="FFFFFF"/>
                </a:highlight>
                <a:latin typeface="Courier New"/>
                <a:ea typeface="Courier New"/>
                <a:cs typeface="Courier New"/>
                <a:sym typeface="Courier New"/>
              </a:rPr>
              <a:t>).value;</a:t>
            </a:r>
            <a:endParaRPr sz="1150">
              <a:highlight>
                <a:srgbClr val="FFFFFF"/>
              </a:highlight>
              <a:latin typeface="Courier New"/>
              <a:ea typeface="Courier New"/>
              <a:cs typeface="Courier New"/>
              <a:sym typeface="Courier New"/>
            </a:endParaRPr>
          </a:p>
          <a:p>
            <a:pPr marL="457200" lvl="0" indent="-301625" algn="l" rtl="0">
              <a:spcBef>
                <a:spcPts val="0"/>
              </a:spcBef>
              <a:spcAft>
                <a:spcPts val="0"/>
              </a:spcAft>
              <a:buSzPts val="1150"/>
              <a:buFont typeface="Courier New"/>
              <a:buChar char="●"/>
            </a:pPr>
            <a:r>
              <a:rPr lang="el" sz="1150">
                <a:highlight>
                  <a:srgbClr val="FFFFFF"/>
                </a:highlight>
                <a:latin typeface="Courier New"/>
                <a:ea typeface="Courier New"/>
                <a:cs typeface="Courier New"/>
                <a:sym typeface="Courier New"/>
              </a:rPr>
              <a:t>document.getElementById(</a:t>
            </a:r>
            <a:r>
              <a:rPr lang="el" sz="1150">
                <a:solidFill>
                  <a:srgbClr val="A52A2A"/>
                </a:solidFill>
                <a:highlight>
                  <a:srgbClr val="FFFFFF"/>
                </a:highlight>
                <a:latin typeface="Courier New"/>
                <a:ea typeface="Courier New"/>
                <a:cs typeface="Courier New"/>
                <a:sym typeface="Courier New"/>
              </a:rPr>
              <a:t>"fname"</a:t>
            </a:r>
            <a:r>
              <a:rPr lang="el" sz="1150">
                <a:highlight>
                  <a:srgbClr val="FFFFFF"/>
                </a:highlight>
                <a:latin typeface="Courier New"/>
                <a:ea typeface="Courier New"/>
                <a:cs typeface="Courier New"/>
                <a:sym typeface="Courier New"/>
              </a:rPr>
              <a:t>).size;</a:t>
            </a:r>
            <a:endParaRPr sz="1150">
              <a:highlight>
                <a:srgbClr val="FFFFFF"/>
              </a:highlight>
              <a:latin typeface="Courier New"/>
              <a:ea typeface="Courier New"/>
              <a:cs typeface="Courier New"/>
              <a:sym typeface="Courier New"/>
            </a:endParaRPr>
          </a:p>
          <a:p>
            <a:pPr marL="457200" lvl="0" indent="-301625" algn="l" rtl="0">
              <a:spcBef>
                <a:spcPts val="0"/>
              </a:spcBef>
              <a:spcAft>
                <a:spcPts val="0"/>
              </a:spcAft>
              <a:buSzPts val="1150"/>
              <a:buFont typeface="Courier New"/>
              <a:buChar char="●"/>
            </a:pPr>
            <a:r>
              <a:rPr lang="el" sz="1150">
                <a:highlight>
                  <a:srgbClr val="FFFFFF"/>
                </a:highlight>
                <a:latin typeface="Courier New"/>
                <a:ea typeface="Courier New"/>
                <a:cs typeface="Courier New"/>
                <a:sym typeface="Courier New"/>
              </a:rPr>
              <a:t>document.getElementById(</a:t>
            </a:r>
            <a:r>
              <a:rPr lang="el" sz="1150">
                <a:solidFill>
                  <a:srgbClr val="A52A2A"/>
                </a:solidFill>
                <a:highlight>
                  <a:srgbClr val="FFFFFF"/>
                </a:highlight>
                <a:latin typeface="Courier New"/>
                <a:ea typeface="Courier New"/>
                <a:cs typeface="Courier New"/>
                <a:sym typeface="Courier New"/>
              </a:rPr>
              <a:t>"submit"</a:t>
            </a:r>
            <a:r>
              <a:rPr lang="el" sz="1150">
                <a:highlight>
                  <a:srgbClr val="FFFFFF"/>
                </a:highlight>
                <a:latin typeface="Courier New"/>
                <a:ea typeface="Courier New"/>
                <a:cs typeface="Courier New"/>
                <a:sym typeface="Courier New"/>
              </a:rPr>
              <a:t>).value=”ok”;</a:t>
            </a:r>
            <a:endParaRPr sz="1150">
              <a:highlight>
                <a:srgbClr val="FFFFFF"/>
              </a:highlight>
              <a:latin typeface="Courier New"/>
              <a:ea typeface="Courier New"/>
              <a:cs typeface="Courier New"/>
              <a:sym typeface="Courier New"/>
            </a:endParaRPr>
          </a:p>
          <a:p>
            <a:pPr marL="457200" lvl="0" indent="-301625" algn="l" rtl="0">
              <a:spcBef>
                <a:spcPts val="0"/>
              </a:spcBef>
              <a:spcAft>
                <a:spcPts val="0"/>
              </a:spcAft>
              <a:buSzPts val="1150"/>
              <a:buFont typeface="Courier New"/>
              <a:buChar char="●"/>
            </a:pPr>
            <a:r>
              <a:rPr lang="el" sz="1150">
                <a:highlight>
                  <a:srgbClr val="FFFFFF"/>
                </a:highlight>
                <a:latin typeface="Courier New"/>
                <a:ea typeface="Courier New"/>
                <a:cs typeface="Courier New"/>
                <a:sym typeface="Courier New"/>
              </a:rPr>
              <a:t>document.getElementById(</a:t>
            </a:r>
            <a:r>
              <a:rPr lang="el" sz="1150">
                <a:solidFill>
                  <a:srgbClr val="A52A2A"/>
                </a:solidFill>
                <a:highlight>
                  <a:srgbClr val="FFFFFF"/>
                </a:highlight>
                <a:latin typeface="Courier New"/>
                <a:ea typeface="Courier New"/>
                <a:cs typeface="Courier New"/>
                <a:sym typeface="Courier New"/>
              </a:rPr>
              <a:t>"cars"</a:t>
            </a:r>
            <a:r>
              <a:rPr lang="el" sz="1150">
                <a:highlight>
                  <a:srgbClr val="FFFFFF"/>
                </a:highlight>
                <a:latin typeface="Courier New"/>
                <a:ea typeface="Courier New"/>
                <a:cs typeface="Courier New"/>
                <a:sym typeface="Courier New"/>
              </a:rPr>
              <a:t>).size=2;</a:t>
            </a:r>
            <a:endParaRPr sz="1150">
              <a:highlight>
                <a:srgbClr val="FFFFFF"/>
              </a:highlight>
              <a:latin typeface="Courier New"/>
              <a:ea typeface="Courier New"/>
              <a:cs typeface="Courier New"/>
              <a:sym typeface="Courier New"/>
            </a:endParaRPr>
          </a:p>
          <a:p>
            <a:pPr marL="457200" lvl="0" indent="0" algn="l" rtl="0">
              <a:spcBef>
                <a:spcPts val="0"/>
              </a:spcBef>
              <a:spcAft>
                <a:spcPts val="0"/>
              </a:spcAft>
              <a:buNone/>
            </a:pPr>
            <a:r>
              <a:rPr lang="el" sz="1150" b="1">
                <a:solidFill>
                  <a:srgbClr val="FF0000"/>
                </a:solidFill>
                <a:highlight>
                  <a:srgbClr val="FFFFFF"/>
                </a:highlight>
                <a:latin typeface="Courier New"/>
                <a:ea typeface="Courier New"/>
                <a:cs typeface="Courier New"/>
                <a:sym typeface="Courier New"/>
              </a:rPr>
              <a:t>ΠΡΟΣΟΧΗ είναι case sensitive</a:t>
            </a:r>
            <a:endParaRPr sz="1150" b="1">
              <a:solidFill>
                <a:srgbClr val="FF0000"/>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1150">
              <a:highlight>
                <a:srgbClr val="FFFFFF"/>
              </a:highlight>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3"/>
          <p:cNvSpPr txBox="1">
            <a:spLocks noGrp="1"/>
          </p:cNvSpPr>
          <p:nvPr>
            <p:ph type="title"/>
          </p:nvPr>
        </p:nvSpPr>
        <p:spPr>
          <a:xfrm>
            <a:off x="485350" y="223525"/>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 1</a:t>
            </a:r>
            <a:endParaRPr/>
          </a:p>
        </p:txBody>
      </p:sp>
      <p:sp>
        <p:nvSpPr>
          <p:cNvPr id="210" name="Google Shape;210;p23"/>
          <p:cNvSpPr txBox="1"/>
          <p:nvPr/>
        </p:nvSpPr>
        <p:spPr>
          <a:xfrm>
            <a:off x="331125" y="1071750"/>
            <a:ext cx="3545400" cy="3586200"/>
          </a:xfrm>
          <a:prstGeom prst="rect">
            <a:avLst/>
          </a:prstGeom>
          <a:solidFill>
            <a:srgbClr val="D9EAD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endParaRPr/>
          </a:p>
          <a:p>
            <a:pPr marL="0" lvl="0" indent="0" algn="l" rtl="0">
              <a:spcBef>
                <a:spcPts val="0"/>
              </a:spcBef>
              <a:spcAft>
                <a:spcPts val="0"/>
              </a:spcAft>
              <a:buNone/>
            </a:pPr>
            <a:r>
              <a:rPr lang="el"/>
              <a:t>&lt;h1 id="h1"&gt;The input element&lt;/h1&gt;</a:t>
            </a:r>
            <a:endParaRPr/>
          </a:p>
          <a:p>
            <a:pPr marL="0" lvl="0" indent="0" algn="l" rtl="0">
              <a:spcBef>
                <a:spcPts val="0"/>
              </a:spcBef>
              <a:spcAft>
                <a:spcPts val="0"/>
              </a:spcAft>
              <a:buNone/>
            </a:pPr>
            <a:endParaRPr/>
          </a:p>
          <a:p>
            <a:pPr marL="0" lvl="0" indent="0" algn="l" rtl="0">
              <a:spcBef>
                <a:spcPts val="0"/>
              </a:spcBef>
              <a:spcAft>
                <a:spcPts val="0"/>
              </a:spcAft>
              <a:buNone/>
            </a:pPr>
            <a:r>
              <a:rPr lang="el"/>
              <a:t>&lt;form id="f1"&gt;</a:t>
            </a:r>
            <a:endParaRPr/>
          </a:p>
          <a:p>
            <a:pPr marL="0" lvl="0" indent="0" algn="l" rtl="0">
              <a:spcBef>
                <a:spcPts val="0"/>
              </a:spcBef>
              <a:spcAft>
                <a:spcPts val="0"/>
              </a:spcAft>
              <a:buNone/>
            </a:pPr>
            <a:r>
              <a:rPr lang="el"/>
              <a:t>  &lt;label id="fname1"&gt;Last name:&lt;/label&gt;</a:t>
            </a:r>
            <a:endParaRPr/>
          </a:p>
          <a:p>
            <a:pPr marL="0" lvl="0" indent="0" algn="l" rtl="0">
              <a:spcBef>
                <a:spcPts val="0"/>
              </a:spcBef>
              <a:spcAft>
                <a:spcPts val="0"/>
              </a:spcAft>
              <a:buNone/>
            </a:pPr>
            <a:r>
              <a:rPr lang="el"/>
              <a:t>  &lt;input type="text" id="fname" name="fname"&gt;&lt;br&gt;&lt;br&gt;</a:t>
            </a:r>
            <a:endParaRPr/>
          </a:p>
          <a:p>
            <a:pPr marL="0" lvl="0" indent="0" algn="l" rtl="0">
              <a:spcBef>
                <a:spcPts val="0"/>
              </a:spcBef>
              <a:spcAft>
                <a:spcPts val="0"/>
              </a:spcAft>
              <a:buNone/>
            </a:pPr>
            <a:r>
              <a:rPr lang="el"/>
              <a:t>  &lt;label id="lname1"&gt;Last name:&lt;/label&gt;</a:t>
            </a:r>
            <a:endParaRPr/>
          </a:p>
          <a:p>
            <a:pPr marL="0" lvl="0" indent="0" algn="l" rtl="0">
              <a:spcBef>
                <a:spcPts val="0"/>
              </a:spcBef>
              <a:spcAft>
                <a:spcPts val="0"/>
              </a:spcAft>
              <a:buNone/>
            </a:pPr>
            <a:r>
              <a:rPr lang="el"/>
              <a:t>  &lt;input type="text" id="lname" name="lname"&gt;&lt;br&gt;&lt;br&gt;</a:t>
            </a:r>
            <a:endParaRPr/>
          </a:p>
          <a:p>
            <a:pPr marL="0" lvl="0" indent="0" algn="l" rtl="0">
              <a:spcBef>
                <a:spcPts val="0"/>
              </a:spcBef>
              <a:spcAft>
                <a:spcPts val="0"/>
              </a:spcAft>
              <a:buNone/>
            </a:pPr>
            <a:r>
              <a:rPr lang="el"/>
              <a:t>  &lt;input type="submit" value="Submit"&gt;</a:t>
            </a:r>
            <a:endParaRPr/>
          </a:p>
          <a:p>
            <a:pPr marL="0" lvl="0" indent="0" algn="l" rtl="0">
              <a:spcBef>
                <a:spcPts val="0"/>
              </a:spcBef>
              <a:spcAft>
                <a:spcPts val="0"/>
              </a:spcAft>
              <a:buNone/>
            </a:pPr>
            <a:r>
              <a:rPr lang="el"/>
              <a:t>&lt;/form&gt;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p:txBody>
      </p:sp>
      <p:sp>
        <p:nvSpPr>
          <p:cNvPr id="211" name="Google Shape;211;p23"/>
          <p:cNvSpPr txBox="1"/>
          <p:nvPr/>
        </p:nvSpPr>
        <p:spPr>
          <a:xfrm>
            <a:off x="4089025" y="1071750"/>
            <a:ext cx="4900800" cy="3586200"/>
          </a:xfrm>
          <a:prstGeom prst="rect">
            <a:avLst/>
          </a:prstGeom>
          <a:solidFill>
            <a:srgbClr val="FFF2CC"/>
          </a:solid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AutoNum type="arabicPeriod"/>
            </a:pPr>
            <a:r>
              <a:rPr lang="el"/>
              <a:t>Πως θα γράψουμε μέσα στην H1 “hello javascript”</a:t>
            </a:r>
            <a:endParaRPr/>
          </a:p>
          <a:p>
            <a:pPr marL="457200" lvl="0" indent="-317500" algn="l" rtl="0">
              <a:spcBef>
                <a:spcPts val="0"/>
              </a:spcBef>
              <a:spcAft>
                <a:spcPts val="0"/>
              </a:spcAft>
              <a:buSzPts val="1400"/>
              <a:buAutoNum type="arabicPeriod"/>
            </a:pPr>
            <a:r>
              <a:rPr lang="el"/>
              <a:t>Πως μπορούμε να προσθέσουμε μέσα στο fname το κείμενο hello javascript</a:t>
            </a:r>
            <a:endParaRPr/>
          </a:p>
          <a:p>
            <a:pPr marL="457200" lvl="0" indent="-317500" algn="l" rtl="0">
              <a:spcBef>
                <a:spcPts val="0"/>
              </a:spcBef>
              <a:spcAft>
                <a:spcPts val="0"/>
              </a:spcAft>
              <a:buSzPts val="1400"/>
              <a:buAutoNum type="arabicPeriod"/>
            </a:pPr>
            <a:r>
              <a:rPr lang="el"/>
              <a:t>Πως μπορούμε να προσθέσουμε μέσα στο lname το κείμενο hello kitty</a:t>
            </a:r>
            <a:endParaRPr/>
          </a:p>
          <a:p>
            <a:pPr marL="457200" lvl="0" indent="-317500" algn="l" rtl="0">
              <a:spcBef>
                <a:spcPts val="0"/>
              </a:spcBef>
              <a:spcAft>
                <a:spcPts val="0"/>
              </a:spcAft>
              <a:buSzPts val="1400"/>
              <a:buAutoNum type="arabicPeriod"/>
            </a:pPr>
            <a:r>
              <a:rPr lang="el"/>
              <a:t>πως μπορεί να αλλάξει το μέγεθος του fname</a:t>
            </a:r>
            <a:endParaRPr/>
          </a:p>
          <a:p>
            <a:pPr marL="457200" lvl="0" indent="-317500" algn="l" rtl="0">
              <a:spcBef>
                <a:spcPts val="0"/>
              </a:spcBef>
              <a:spcAft>
                <a:spcPts val="0"/>
              </a:spcAft>
              <a:buSzPts val="1400"/>
              <a:buAutoNum type="arabicPeriod"/>
            </a:pPr>
            <a:r>
              <a:rPr lang="el"/>
              <a:t>πως μπορούμε να αλλάξουμε το χρώμα του Η1 σε μπλε</a:t>
            </a:r>
            <a:endParaRPr/>
          </a:p>
          <a:p>
            <a:pPr marL="457200" lvl="0" indent="-317500" algn="l" rtl="0">
              <a:spcBef>
                <a:spcPts val="0"/>
              </a:spcBef>
              <a:spcAft>
                <a:spcPts val="0"/>
              </a:spcAft>
              <a:buSzPts val="1400"/>
              <a:buAutoNum type="arabicPeriod"/>
            </a:pPr>
            <a:r>
              <a:rPr lang="el"/>
              <a:t>Να αλλάξουμε το μέγεθος των γραμμάτων σε xx-small</a:t>
            </a:r>
            <a:endParaRPr/>
          </a:p>
          <a:p>
            <a:pPr marL="457200" lvl="0" indent="-317500" algn="l" rtl="0">
              <a:spcBef>
                <a:spcPts val="0"/>
              </a:spcBef>
              <a:spcAft>
                <a:spcPts val="0"/>
              </a:spcAft>
              <a:buSzPts val="1400"/>
              <a:buAutoNum type="arabicPeriod"/>
            </a:pPr>
            <a:r>
              <a:rPr lang="el"/>
              <a:t>Το χρώμα του φοντου σε κίτρινο</a:t>
            </a:r>
            <a:endParaRPr/>
          </a:p>
          <a:p>
            <a:pPr marL="457200" lvl="0" indent="-317500" algn="l" rtl="0">
              <a:spcBef>
                <a:spcPts val="0"/>
              </a:spcBef>
              <a:spcAft>
                <a:spcPts val="0"/>
              </a:spcAft>
              <a:buSzPts val="1400"/>
              <a:buAutoNum type="arabicPeriod"/>
            </a:pPr>
            <a:r>
              <a:rPr lang="el"/>
              <a:t>Το χρώμα των γραμματων σε πράσινο</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4"/>
          <p:cNvSpPr txBox="1">
            <a:spLocks noGrp="1"/>
          </p:cNvSpPr>
          <p:nvPr>
            <p:ph type="title"/>
          </p:nvPr>
        </p:nvSpPr>
        <p:spPr>
          <a:xfrm>
            <a:off x="356400" y="26905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Λύση Άσκησης 1</a:t>
            </a:r>
            <a:endParaRPr/>
          </a:p>
        </p:txBody>
      </p:sp>
      <p:sp>
        <p:nvSpPr>
          <p:cNvPr id="217" name="Google Shape;217;p24"/>
          <p:cNvSpPr txBox="1"/>
          <p:nvPr/>
        </p:nvSpPr>
        <p:spPr>
          <a:xfrm>
            <a:off x="179400" y="1071750"/>
            <a:ext cx="3780600" cy="3586200"/>
          </a:xfrm>
          <a:prstGeom prst="rect">
            <a:avLst/>
          </a:prstGeom>
          <a:solidFill>
            <a:srgbClr val="D9EAD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endParaRPr/>
          </a:p>
          <a:p>
            <a:pPr marL="0" lvl="0" indent="0" algn="l" rtl="0">
              <a:spcBef>
                <a:spcPts val="0"/>
              </a:spcBef>
              <a:spcAft>
                <a:spcPts val="0"/>
              </a:spcAft>
              <a:buNone/>
            </a:pPr>
            <a:r>
              <a:rPr lang="el"/>
              <a:t>&lt;h1 id="h1"&gt;The input element&lt;/h1&gt;</a:t>
            </a:r>
            <a:endParaRPr/>
          </a:p>
          <a:p>
            <a:pPr marL="0" lvl="0" indent="0" algn="l" rtl="0">
              <a:spcBef>
                <a:spcPts val="0"/>
              </a:spcBef>
              <a:spcAft>
                <a:spcPts val="0"/>
              </a:spcAft>
              <a:buNone/>
            </a:pPr>
            <a:endParaRPr/>
          </a:p>
          <a:p>
            <a:pPr marL="0" lvl="0" indent="0" algn="l" rtl="0">
              <a:spcBef>
                <a:spcPts val="0"/>
              </a:spcBef>
              <a:spcAft>
                <a:spcPts val="0"/>
              </a:spcAft>
              <a:buNone/>
            </a:pPr>
            <a:r>
              <a:rPr lang="el"/>
              <a:t>&lt;form id="f1"&gt;</a:t>
            </a:r>
            <a:endParaRPr/>
          </a:p>
          <a:p>
            <a:pPr marL="0" lvl="0" indent="0" algn="l" rtl="0">
              <a:spcBef>
                <a:spcPts val="0"/>
              </a:spcBef>
              <a:spcAft>
                <a:spcPts val="0"/>
              </a:spcAft>
              <a:buNone/>
            </a:pPr>
            <a:r>
              <a:rPr lang="el"/>
              <a:t>  &lt;label id="fname1"&gt;First  name:&lt;/label&gt;</a:t>
            </a:r>
            <a:endParaRPr/>
          </a:p>
          <a:p>
            <a:pPr marL="0" lvl="0" indent="0" algn="l" rtl="0">
              <a:spcBef>
                <a:spcPts val="0"/>
              </a:spcBef>
              <a:spcAft>
                <a:spcPts val="0"/>
              </a:spcAft>
              <a:buNone/>
            </a:pPr>
            <a:r>
              <a:rPr lang="el"/>
              <a:t>  &lt;input type="text" id="fname" name="fname"&gt;&lt;br&gt;&lt;br&gt;</a:t>
            </a:r>
            <a:endParaRPr/>
          </a:p>
          <a:p>
            <a:pPr marL="0" lvl="0" indent="0" algn="l" rtl="0">
              <a:spcBef>
                <a:spcPts val="0"/>
              </a:spcBef>
              <a:spcAft>
                <a:spcPts val="0"/>
              </a:spcAft>
              <a:buNone/>
            </a:pPr>
            <a:r>
              <a:rPr lang="el"/>
              <a:t>  &lt;label id="lname1"&gt;Last name:&lt;/label&gt;</a:t>
            </a:r>
            <a:endParaRPr/>
          </a:p>
          <a:p>
            <a:pPr marL="0" lvl="0" indent="0" algn="l" rtl="0">
              <a:spcBef>
                <a:spcPts val="0"/>
              </a:spcBef>
              <a:spcAft>
                <a:spcPts val="0"/>
              </a:spcAft>
              <a:buNone/>
            </a:pPr>
            <a:r>
              <a:rPr lang="el"/>
              <a:t>  &lt;input type="text" id="lname" name="lname"&gt;&lt;br&gt;&lt;br&gt;</a:t>
            </a:r>
            <a:endParaRPr/>
          </a:p>
          <a:p>
            <a:pPr marL="0" lvl="0" indent="0" algn="l" rtl="0">
              <a:spcBef>
                <a:spcPts val="0"/>
              </a:spcBef>
              <a:spcAft>
                <a:spcPts val="0"/>
              </a:spcAft>
              <a:buNone/>
            </a:pPr>
            <a:r>
              <a:rPr lang="el"/>
              <a:t>  &lt;input type="submit" value="Submit"&gt;</a:t>
            </a:r>
            <a:endParaRPr/>
          </a:p>
          <a:p>
            <a:pPr marL="0" lvl="0" indent="0" algn="l" rtl="0">
              <a:spcBef>
                <a:spcPts val="0"/>
              </a:spcBef>
              <a:spcAft>
                <a:spcPts val="0"/>
              </a:spcAft>
              <a:buNone/>
            </a:pPr>
            <a:r>
              <a:rPr lang="el"/>
              <a:t>&lt;/form&gt;</a:t>
            </a:r>
            <a:endParaRPr/>
          </a:p>
          <a:p>
            <a:pPr marL="0" lvl="0" indent="0" algn="l" rtl="0">
              <a:spcBef>
                <a:spcPts val="0"/>
              </a:spcBef>
              <a:spcAft>
                <a:spcPts val="0"/>
              </a:spcAft>
              <a:buNone/>
            </a:pPr>
            <a:endParaRPr/>
          </a:p>
        </p:txBody>
      </p:sp>
      <p:sp>
        <p:nvSpPr>
          <p:cNvPr id="218" name="Google Shape;218;p24"/>
          <p:cNvSpPr txBox="1"/>
          <p:nvPr/>
        </p:nvSpPr>
        <p:spPr>
          <a:xfrm>
            <a:off x="4051075" y="1071750"/>
            <a:ext cx="4923600" cy="3586200"/>
          </a:xfrm>
          <a:prstGeom prst="rect">
            <a:avLst/>
          </a:prstGeom>
          <a:solidFill>
            <a:srgbClr val="FFF2CC"/>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document.getElementById("h1").innerHTML = "Hello JavaScript!"</a:t>
            </a:r>
            <a:endParaRPr/>
          </a:p>
          <a:p>
            <a:pPr marL="0" lvl="0" indent="0" algn="l" rtl="0">
              <a:spcBef>
                <a:spcPts val="0"/>
              </a:spcBef>
              <a:spcAft>
                <a:spcPts val="0"/>
              </a:spcAft>
              <a:buNone/>
            </a:pPr>
            <a:r>
              <a:rPr lang="el"/>
              <a:t>document.getElementById("fname").value = "Hello JavaScript!"</a:t>
            </a:r>
            <a:endParaRPr/>
          </a:p>
          <a:p>
            <a:pPr marL="0" lvl="0" indent="0" algn="l" rtl="0">
              <a:spcBef>
                <a:spcPts val="0"/>
              </a:spcBef>
              <a:spcAft>
                <a:spcPts val="0"/>
              </a:spcAft>
              <a:buNone/>
            </a:pPr>
            <a:r>
              <a:rPr lang="el"/>
              <a:t>document.getElementById("lname").value = "Hello Kitty"</a:t>
            </a:r>
            <a:endParaRPr/>
          </a:p>
          <a:p>
            <a:pPr marL="0" lvl="0" indent="0" algn="l" rtl="0">
              <a:spcBef>
                <a:spcPts val="0"/>
              </a:spcBef>
              <a:spcAft>
                <a:spcPts val="0"/>
              </a:spcAft>
              <a:buNone/>
            </a:pPr>
            <a:r>
              <a:rPr lang="el"/>
              <a:t>document.getElementById("fname").size =80</a:t>
            </a:r>
            <a:endParaRPr/>
          </a:p>
          <a:p>
            <a:pPr marL="0" lvl="0" indent="0" algn="l" rtl="0">
              <a:spcBef>
                <a:spcPts val="0"/>
              </a:spcBef>
              <a:spcAft>
                <a:spcPts val="0"/>
              </a:spcAft>
              <a:buNone/>
            </a:pPr>
            <a:r>
              <a:rPr lang="el"/>
              <a:t>document.getElementById("h1").style.color = "blue";</a:t>
            </a:r>
            <a:endParaRPr/>
          </a:p>
          <a:p>
            <a:pPr marL="0" lvl="0" indent="0" algn="l" rtl="0">
              <a:spcBef>
                <a:spcPts val="0"/>
              </a:spcBef>
              <a:spcAft>
                <a:spcPts val="0"/>
              </a:spcAft>
              <a:buNone/>
            </a:pPr>
            <a:r>
              <a:rPr lang="el"/>
              <a:t>document.getElementById("h1").style.fontSize = "xx-small";</a:t>
            </a:r>
            <a:endParaRPr/>
          </a:p>
          <a:p>
            <a:pPr marL="0" lvl="0" indent="0" algn="l" rtl="0">
              <a:spcBef>
                <a:spcPts val="0"/>
              </a:spcBef>
              <a:spcAft>
                <a:spcPts val="0"/>
              </a:spcAft>
              <a:buNone/>
            </a:pPr>
            <a:r>
              <a:rPr lang="el"/>
              <a:t>document.body.style.backgroundColor = "yellow";</a:t>
            </a:r>
            <a:endParaRPr/>
          </a:p>
          <a:p>
            <a:pPr marL="0" lvl="0" indent="0" algn="l" rtl="0">
              <a:spcBef>
                <a:spcPts val="0"/>
              </a:spcBef>
              <a:spcAft>
                <a:spcPts val="0"/>
              </a:spcAft>
              <a:buNone/>
            </a:pPr>
            <a:r>
              <a:rPr lang="el"/>
              <a:t>document.body.style.color = "green";</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solidFill>
                  <a:schemeClr val="dk1"/>
                </a:solidFill>
              </a:rPr>
              <a:t>&lt;/body&gt;</a:t>
            </a:r>
            <a:endParaRPr>
              <a:solidFill>
                <a:schemeClr val="dk1"/>
              </a:solidFill>
            </a:endParaRPr>
          </a:p>
          <a:p>
            <a:pPr marL="0" lvl="0" indent="0" algn="l" rtl="0">
              <a:spcBef>
                <a:spcPts val="0"/>
              </a:spcBef>
              <a:spcAft>
                <a:spcPts val="0"/>
              </a:spcAft>
              <a:buNone/>
            </a:pPr>
            <a:r>
              <a:rPr lang="el">
                <a:solidFill>
                  <a:schemeClr val="dk1"/>
                </a:solidFill>
              </a:rPr>
              <a:t>&lt;/html&gt;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5"/>
          <p:cNvSpPr txBox="1">
            <a:spLocks noGrp="1"/>
          </p:cNvSpPr>
          <p:nvPr>
            <p:ph type="title"/>
          </p:nvPr>
        </p:nvSpPr>
        <p:spPr>
          <a:xfrm>
            <a:off x="614325" y="284225"/>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 2: με κώδικα javascript:</a:t>
            </a:r>
            <a:endParaRPr/>
          </a:p>
        </p:txBody>
      </p:sp>
      <p:sp>
        <p:nvSpPr>
          <p:cNvPr id="224" name="Google Shape;224;p25"/>
          <p:cNvSpPr txBox="1"/>
          <p:nvPr/>
        </p:nvSpPr>
        <p:spPr>
          <a:xfrm>
            <a:off x="45600" y="1018825"/>
            <a:ext cx="4650300" cy="3773400"/>
          </a:xfrm>
          <a:prstGeom prst="rect">
            <a:avLst/>
          </a:prstGeom>
          <a:solidFill>
            <a:srgbClr val="B6D7A8"/>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endParaRPr/>
          </a:p>
          <a:p>
            <a:pPr marL="0" lvl="0" indent="0" algn="l" rtl="0">
              <a:spcBef>
                <a:spcPts val="0"/>
              </a:spcBef>
              <a:spcAft>
                <a:spcPts val="0"/>
              </a:spcAft>
              <a:buNone/>
            </a:pPr>
            <a:r>
              <a:rPr lang="el"/>
              <a:t>&lt;h1 id="h1"&gt;The input element&lt;/h1&gt;</a:t>
            </a:r>
            <a:endParaRPr/>
          </a:p>
          <a:p>
            <a:pPr marL="0" lvl="0" indent="0" algn="l" rtl="0">
              <a:spcBef>
                <a:spcPts val="0"/>
              </a:spcBef>
              <a:spcAft>
                <a:spcPts val="0"/>
              </a:spcAft>
              <a:buNone/>
            </a:pPr>
            <a:endParaRPr/>
          </a:p>
          <a:p>
            <a:pPr marL="0" lvl="0" indent="0" algn="l" rtl="0">
              <a:spcBef>
                <a:spcPts val="0"/>
              </a:spcBef>
              <a:spcAft>
                <a:spcPts val="0"/>
              </a:spcAft>
              <a:buNone/>
            </a:pPr>
            <a:r>
              <a:rPr lang="el"/>
              <a:t>&lt;form id="f1"&gt;</a:t>
            </a:r>
            <a:endParaRPr/>
          </a:p>
          <a:p>
            <a:pPr marL="0" lvl="0" indent="0" algn="l" rtl="0">
              <a:spcBef>
                <a:spcPts val="0"/>
              </a:spcBef>
              <a:spcAft>
                <a:spcPts val="0"/>
              </a:spcAft>
              <a:buNone/>
            </a:pPr>
            <a:r>
              <a:rPr lang="el"/>
              <a:t>  &lt;label id="fname1"&gt;First name:&lt;/label&gt;</a:t>
            </a:r>
            <a:endParaRPr/>
          </a:p>
          <a:p>
            <a:pPr marL="0" lvl="0" indent="0" algn="l" rtl="0">
              <a:spcBef>
                <a:spcPts val="0"/>
              </a:spcBef>
              <a:spcAft>
                <a:spcPts val="0"/>
              </a:spcAft>
              <a:buNone/>
            </a:pPr>
            <a:r>
              <a:rPr lang="el"/>
              <a:t>  &lt;input type="text" id="fname" name="fname"&gt;&lt;br&gt;&lt;br&gt;</a:t>
            </a:r>
            <a:endParaRPr/>
          </a:p>
          <a:p>
            <a:pPr marL="0" lvl="0" indent="0" algn="l" rtl="0">
              <a:spcBef>
                <a:spcPts val="0"/>
              </a:spcBef>
              <a:spcAft>
                <a:spcPts val="0"/>
              </a:spcAft>
              <a:buNone/>
            </a:pPr>
            <a:r>
              <a:rPr lang="el"/>
              <a:t>  &lt;label id="lname1"&gt;Last name:&lt;/label&gt;</a:t>
            </a:r>
            <a:endParaRPr/>
          </a:p>
          <a:p>
            <a:pPr marL="0" lvl="0" indent="0" algn="l" rtl="0">
              <a:spcBef>
                <a:spcPts val="0"/>
              </a:spcBef>
              <a:spcAft>
                <a:spcPts val="0"/>
              </a:spcAft>
              <a:buNone/>
            </a:pPr>
            <a:r>
              <a:rPr lang="el"/>
              <a:t>  &lt;input type="text" id="lname" name="lname"&gt;&lt;br&gt;&lt;br&gt;</a:t>
            </a:r>
            <a:endParaRPr/>
          </a:p>
          <a:p>
            <a:pPr marL="0" lvl="0" indent="0" algn="l" rtl="0">
              <a:spcBef>
                <a:spcPts val="0"/>
              </a:spcBef>
              <a:spcAft>
                <a:spcPts val="0"/>
              </a:spcAft>
              <a:buNone/>
            </a:pPr>
            <a:r>
              <a:rPr lang="el"/>
              <a:t>  &lt;input type="text" id="lname" name="lname"&gt;&lt;br&gt;&lt;br&gt;</a:t>
            </a:r>
            <a:endParaRPr/>
          </a:p>
          <a:p>
            <a:pPr marL="0" lvl="0" indent="0" algn="l" rtl="0">
              <a:spcBef>
                <a:spcPts val="0"/>
              </a:spcBef>
              <a:spcAft>
                <a:spcPts val="0"/>
              </a:spcAft>
              <a:buNone/>
            </a:pPr>
            <a:r>
              <a:rPr lang="el"/>
              <a:t>  </a:t>
            </a:r>
            <a:endParaRPr/>
          </a:p>
          <a:p>
            <a:pPr marL="0" lvl="0" indent="0" algn="l" rtl="0">
              <a:spcBef>
                <a:spcPts val="0"/>
              </a:spcBef>
              <a:spcAft>
                <a:spcPts val="0"/>
              </a:spcAft>
              <a:buNone/>
            </a:pPr>
            <a:r>
              <a:rPr lang="el"/>
              <a:t>  &lt;input type="submit" value="Submit"&gt;</a:t>
            </a:r>
            <a:endParaRPr/>
          </a:p>
          <a:p>
            <a:pPr marL="0" lvl="0" indent="0" algn="l" rtl="0">
              <a:spcBef>
                <a:spcPts val="0"/>
              </a:spcBef>
              <a:spcAft>
                <a:spcPts val="0"/>
              </a:spcAft>
              <a:buNone/>
            </a:pPr>
            <a:r>
              <a:rPr lang="el"/>
              <a:t>&lt;/form&gt;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p:txBody>
      </p:sp>
      <p:sp>
        <p:nvSpPr>
          <p:cNvPr id="225" name="Google Shape;225;p25"/>
          <p:cNvSpPr txBox="1"/>
          <p:nvPr/>
        </p:nvSpPr>
        <p:spPr>
          <a:xfrm>
            <a:off x="4695900" y="1018825"/>
            <a:ext cx="4230600" cy="3773400"/>
          </a:xfrm>
          <a:prstGeom prst="rect">
            <a:avLst/>
          </a:prstGeom>
          <a:solidFill>
            <a:srgbClr val="FFF2CC"/>
          </a:solid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AutoNum type="arabicPeriod"/>
            </a:pPr>
            <a:r>
              <a:rPr lang="el"/>
              <a:t>Πως θα γράψουμε μέσα στην H1 “ΕΠΑΛ ΑΙΓΙΟΥ”</a:t>
            </a:r>
            <a:endParaRPr/>
          </a:p>
          <a:p>
            <a:pPr marL="457200" lvl="0" indent="-317500" algn="l" rtl="0">
              <a:spcBef>
                <a:spcPts val="0"/>
              </a:spcBef>
              <a:spcAft>
                <a:spcPts val="0"/>
              </a:spcAft>
              <a:buSzPts val="1400"/>
              <a:buAutoNum type="arabicPeriod"/>
            </a:pPr>
            <a:r>
              <a:rPr lang="el"/>
              <a:t>Πως μπορούμε να προσθέσουμε μέσα στο lname το κείμενο hello javascript</a:t>
            </a:r>
            <a:endParaRPr/>
          </a:p>
          <a:p>
            <a:pPr marL="457200" lvl="0" indent="-317500" algn="l" rtl="0">
              <a:spcBef>
                <a:spcPts val="0"/>
              </a:spcBef>
              <a:spcAft>
                <a:spcPts val="0"/>
              </a:spcAft>
              <a:buSzPts val="1400"/>
              <a:buAutoNum type="arabicPeriod"/>
            </a:pPr>
            <a:r>
              <a:rPr lang="el"/>
              <a:t>Πως θα διαγράψουμε το περιεχόμενο του  H1 </a:t>
            </a:r>
            <a:endParaRPr/>
          </a:p>
          <a:p>
            <a:pPr marL="457200" lvl="0" indent="-317500" algn="l" rtl="0">
              <a:spcBef>
                <a:spcPts val="0"/>
              </a:spcBef>
              <a:spcAft>
                <a:spcPts val="0"/>
              </a:spcAft>
              <a:buSzPts val="1400"/>
              <a:buAutoNum type="arabicPeriod"/>
            </a:pPr>
            <a:r>
              <a:rPr lang="el"/>
              <a:t>Πως μπορούμε να προσθέσουμε μέσα στο fname το κείμενο “COROVA VIRUS”</a:t>
            </a:r>
            <a:endParaRPr/>
          </a:p>
          <a:p>
            <a:pPr marL="457200" lvl="0" indent="-317500" algn="l" rtl="0">
              <a:spcBef>
                <a:spcPts val="0"/>
              </a:spcBef>
              <a:spcAft>
                <a:spcPts val="0"/>
              </a:spcAft>
              <a:buSzPts val="1400"/>
              <a:buAutoNum type="arabicPeriod"/>
            </a:pPr>
            <a:r>
              <a:rPr lang="el"/>
              <a:t>Αλλάξτε το χρώμα του φόντου του h1 σε πράσινο</a:t>
            </a:r>
            <a:endParaRPr/>
          </a:p>
          <a:p>
            <a:pPr marL="457200" lvl="0" indent="-317500" algn="l" rtl="0">
              <a:spcBef>
                <a:spcPts val="0"/>
              </a:spcBef>
              <a:spcAft>
                <a:spcPts val="0"/>
              </a:spcAft>
              <a:buSzPts val="1400"/>
              <a:buAutoNum type="arabicPeriod"/>
            </a:pPr>
            <a:r>
              <a:rPr lang="el"/>
              <a:t>πως μπορούμε να αλλάξουμε το χρώμα γραμμάτων του Η1 σε κόκκινο</a:t>
            </a:r>
            <a:endParaRPr/>
          </a:p>
          <a:p>
            <a:pPr marL="457200" lvl="0" indent="-317500" algn="l" rtl="0">
              <a:spcBef>
                <a:spcPts val="0"/>
              </a:spcBef>
              <a:spcAft>
                <a:spcPts val="0"/>
              </a:spcAft>
              <a:buSzPts val="1400"/>
              <a:buAutoNum type="arabicPeriod"/>
            </a:pPr>
            <a:r>
              <a:rPr lang="el"/>
              <a:t>Να αλλάξουμε το μέγεθος των γραμμάτων σε </a:t>
            </a:r>
            <a:r>
              <a:rPr lang="el" sz="1150">
                <a:highlight>
                  <a:srgbClr val="F1F1F1"/>
                </a:highlight>
                <a:latin typeface="Verdana"/>
                <a:ea typeface="Verdana"/>
                <a:cs typeface="Verdana"/>
                <a:sym typeface="Verdana"/>
              </a:rPr>
              <a:t>xx-large</a:t>
            </a:r>
            <a:endParaRPr/>
          </a:p>
          <a:p>
            <a:pPr marL="457200" lvl="0" indent="-317500" algn="l" rtl="0">
              <a:spcBef>
                <a:spcPts val="0"/>
              </a:spcBef>
              <a:spcAft>
                <a:spcPts val="0"/>
              </a:spcAft>
              <a:buSzPts val="1400"/>
              <a:buAutoNum type="arabicPeriod"/>
            </a:pPr>
            <a:r>
              <a:rPr lang="el"/>
              <a:t>Το χρώμα του φοντου σε cyan</a:t>
            </a:r>
            <a:endParaRPr/>
          </a:p>
          <a:p>
            <a:pPr marL="457200" lvl="0" indent="-317500" algn="l" rtl="0">
              <a:spcBef>
                <a:spcPts val="0"/>
              </a:spcBef>
              <a:spcAft>
                <a:spcPts val="0"/>
              </a:spcAft>
              <a:buSzPts val="1400"/>
              <a:buAutoNum type="arabicPeriod"/>
            </a:pPr>
            <a:r>
              <a:rPr lang="el"/>
              <a:t>Το χρώμα των γραμματων σε red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6"/>
          <p:cNvSpPr txBox="1">
            <a:spLocks noGrp="1"/>
          </p:cNvSpPr>
          <p:nvPr>
            <p:ph type="title"/>
          </p:nvPr>
        </p:nvSpPr>
        <p:spPr>
          <a:xfrm>
            <a:off x="386875" y="285725"/>
            <a:ext cx="3959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Λύση της άσκησης 2</a:t>
            </a:r>
            <a:endParaRPr/>
          </a:p>
        </p:txBody>
      </p:sp>
      <p:sp>
        <p:nvSpPr>
          <p:cNvPr id="231" name="Google Shape;231;p26"/>
          <p:cNvSpPr txBox="1"/>
          <p:nvPr/>
        </p:nvSpPr>
        <p:spPr>
          <a:xfrm>
            <a:off x="657900" y="858425"/>
            <a:ext cx="5067600" cy="3924900"/>
          </a:xfrm>
          <a:prstGeom prst="rect">
            <a:avLst/>
          </a:prstGeom>
          <a:solidFill>
            <a:srgbClr val="FFF2CC"/>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sz="1200"/>
              <a:t>&lt;html&gt;</a:t>
            </a:r>
            <a:endParaRPr sz="1200"/>
          </a:p>
          <a:p>
            <a:pPr marL="0" lvl="0" indent="0" algn="l" rtl="0">
              <a:spcBef>
                <a:spcPts val="0"/>
              </a:spcBef>
              <a:spcAft>
                <a:spcPts val="0"/>
              </a:spcAft>
              <a:buNone/>
            </a:pPr>
            <a:r>
              <a:rPr lang="el" sz="1200"/>
              <a:t>&lt;body&gt;</a:t>
            </a:r>
            <a:endParaRPr sz="1200"/>
          </a:p>
          <a:p>
            <a:pPr marL="0" lvl="0" indent="0" algn="l" rtl="0">
              <a:spcBef>
                <a:spcPts val="0"/>
              </a:spcBef>
              <a:spcAft>
                <a:spcPts val="0"/>
              </a:spcAft>
              <a:buNone/>
            </a:pPr>
            <a:r>
              <a:rPr lang="el" sz="1200"/>
              <a:t>&lt;h1 id="h1"&gt;The input element&lt;/h1&gt;</a:t>
            </a:r>
            <a:endParaRPr sz="1200"/>
          </a:p>
          <a:p>
            <a:pPr marL="0" lvl="0" indent="0" algn="l" rtl="0">
              <a:spcBef>
                <a:spcPts val="0"/>
              </a:spcBef>
              <a:spcAft>
                <a:spcPts val="0"/>
              </a:spcAft>
              <a:buNone/>
            </a:pPr>
            <a:r>
              <a:rPr lang="el" sz="1200"/>
              <a:t>&lt;form id="f1"&gt;</a:t>
            </a:r>
            <a:endParaRPr sz="1200"/>
          </a:p>
          <a:p>
            <a:pPr marL="0" lvl="0" indent="0" algn="l" rtl="0">
              <a:spcBef>
                <a:spcPts val="0"/>
              </a:spcBef>
              <a:spcAft>
                <a:spcPts val="0"/>
              </a:spcAft>
              <a:buNone/>
            </a:pPr>
            <a:r>
              <a:rPr lang="el" sz="1200"/>
              <a:t>  &lt;label id="fname1"&gt;First name:&lt;/label&gt;</a:t>
            </a:r>
            <a:endParaRPr sz="1200"/>
          </a:p>
          <a:p>
            <a:pPr marL="0" lvl="0" indent="0" algn="l" rtl="0">
              <a:spcBef>
                <a:spcPts val="0"/>
              </a:spcBef>
              <a:spcAft>
                <a:spcPts val="0"/>
              </a:spcAft>
              <a:buNone/>
            </a:pPr>
            <a:r>
              <a:rPr lang="el" sz="1200"/>
              <a:t>  &lt;input type="text" id="fname" name="fname"&gt;&lt;br&gt;&lt;br&gt;</a:t>
            </a:r>
            <a:endParaRPr sz="1200"/>
          </a:p>
          <a:p>
            <a:pPr marL="0" lvl="0" indent="0" algn="l" rtl="0">
              <a:spcBef>
                <a:spcPts val="0"/>
              </a:spcBef>
              <a:spcAft>
                <a:spcPts val="0"/>
              </a:spcAft>
              <a:buNone/>
            </a:pPr>
            <a:r>
              <a:rPr lang="el" sz="1200"/>
              <a:t>  &lt;label id="lname1"&gt;Last name:&lt;/label&gt;</a:t>
            </a:r>
            <a:endParaRPr sz="1200"/>
          </a:p>
          <a:p>
            <a:pPr marL="0" lvl="0" indent="0" algn="l" rtl="0">
              <a:spcBef>
                <a:spcPts val="0"/>
              </a:spcBef>
              <a:spcAft>
                <a:spcPts val="0"/>
              </a:spcAft>
              <a:buNone/>
            </a:pPr>
            <a:r>
              <a:rPr lang="el" sz="1200"/>
              <a:t>  &lt;input type="text" id="lname" name="lname"&gt;&lt;br&gt;&lt;br&gt;</a:t>
            </a:r>
            <a:endParaRPr sz="1200"/>
          </a:p>
          <a:p>
            <a:pPr marL="0" lvl="0" indent="0" algn="l" rtl="0">
              <a:spcBef>
                <a:spcPts val="0"/>
              </a:spcBef>
              <a:spcAft>
                <a:spcPts val="0"/>
              </a:spcAft>
              <a:buNone/>
            </a:pPr>
            <a:r>
              <a:rPr lang="el" sz="1200"/>
              <a:t>  &lt;input type="text" id="lname" name="lname"&gt;&lt;br&gt;&lt;br&gt;</a:t>
            </a:r>
            <a:endParaRPr sz="1200"/>
          </a:p>
          <a:p>
            <a:pPr marL="0" lvl="0" indent="0" algn="l" rtl="0">
              <a:spcBef>
                <a:spcPts val="0"/>
              </a:spcBef>
              <a:spcAft>
                <a:spcPts val="0"/>
              </a:spcAft>
              <a:buNone/>
            </a:pPr>
            <a:r>
              <a:rPr lang="el" sz="1200"/>
              <a:t>  &lt;input type="submit" value="Submit"&gt;</a:t>
            </a:r>
            <a:endParaRPr sz="1200"/>
          </a:p>
          <a:p>
            <a:pPr marL="0" lvl="0" indent="0" algn="l" rtl="0">
              <a:spcBef>
                <a:spcPts val="0"/>
              </a:spcBef>
              <a:spcAft>
                <a:spcPts val="0"/>
              </a:spcAft>
              <a:buNone/>
            </a:pPr>
            <a:r>
              <a:rPr lang="el" sz="1200"/>
              <a:t>&lt;/form&gt;</a:t>
            </a:r>
            <a:endParaRPr sz="1200"/>
          </a:p>
          <a:p>
            <a:pPr marL="0" lvl="0" indent="0" algn="l" rtl="0">
              <a:spcBef>
                <a:spcPts val="0"/>
              </a:spcBef>
              <a:spcAft>
                <a:spcPts val="0"/>
              </a:spcAft>
              <a:buNone/>
            </a:pPr>
            <a:r>
              <a:rPr lang="el" sz="1200"/>
              <a:t>&lt;script&gt;</a:t>
            </a:r>
            <a:endParaRPr sz="1200"/>
          </a:p>
          <a:p>
            <a:pPr marL="0" lvl="0" indent="0" algn="l" rtl="0">
              <a:spcBef>
                <a:spcPts val="0"/>
              </a:spcBef>
              <a:spcAft>
                <a:spcPts val="0"/>
              </a:spcAft>
              <a:buNone/>
            </a:pPr>
            <a:r>
              <a:rPr lang="el" sz="1200"/>
              <a:t>document.getElementById("h1").innerHTML=("ΕΠΑΛ ΑΙΓΙΟΥ")</a:t>
            </a:r>
            <a:endParaRPr sz="1200"/>
          </a:p>
          <a:p>
            <a:pPr marL="0" lvl="0" indent="0" algn="l" rtl="0">
              <a:spcBef>
                <a:spcPts val="0"/>
              </a:spcBef>
              <a:spcAft>
                <a:spcPts val="0"/>
              </a:spcAft>
              <a:buNone/>
            </a:pPr>
            <a:r>
              <a:rPr lang="el" sz="1200"/>
              <a:t>document.getElementById("lname").value=("Hello Javascript")</a:t>
            </a:r>
            <a:endParaRPr sz="1200"/>
          </a:p>
          <a:p>
            <a:pPr marL="0" lvl="0" indent="0" algn="l" rtl="0">
              <a:spcBef>
                <a:spcPts val="0"/>
              </a:spcBef>
              <a:spcAft>
                <a:spcPts val="0"/>
              </a:spcAft>
              <a:buNone/>
            </a:pPr>
            <a:r>
              <a:rPr lang="el" sz="1200"/>
              <a:t>document.getElementById("fname").value=("CORONA VIRUS")</a:t>
            </a:r>
            <a:endParaRPr sz="1200"/>
          </a:p>
          <a:p>
            <a:pPr marL="0" lvl="0" indent="0" algn="l" rtl="0">
              <a:spcBef>
                <a:spcPts val="0"/>
              </a:spcBef>
              <a:spcAft>
                <a:spcPts val="0"/>
              </a:spcAft>
              <a:buNone/>
            </a:pPr>
            <a:r>
              <a:rPr lang="el" sz="1200"/>
              <a:t>document.getElementById("h1").style.color="red"</a:t>
            </a:r>
            <a:endParaRPr sz="1200"/>
          </a:p>
          <a:p>
            <a:pPr marL="0" lvl="0" indent="0" algn="l" rtl="0">
              <a:spcBef>
                <a:spcPts val="0"/>
              </a:spcBef>
              <a:spcAft>
                <a:spcPts val="0"/>
              </a:spcAft>
              <a:buNone/>
            </a:pPr>
            <a:r>
              <a:rPr lang="el" sz="1200"/>
              <a:t>document.getElementById("h1").style.backgroundColor="green";</a:t>
            </a:r>
            <a:endParaRPr sz="1200"/>
          </a:p>
          <a:p>
            <a:pPr marL="0" lvl="0" indent="0" algn="l" rtl="0">
              <a:spcBef>
                <a:spcPts val="0"/>
              </a:spcBef>
              <a:spcAft>
                <a:spcPts val="0"/>
              </a:spcAft>
              <a:buNone/>
            </a:pPr>
            <a:r>
              <a:rPr lang="el" sz="1200"/>
              <a:t>document.getElementById("h1").style.fontSize="xx-large";</a:t>
            </a:r>
            <a:endParaRPr sz="1200"/>
          </a:p>
          <a:p>
            <a:pPr marL="0" lvl="0" indent="0" algn="l" rtl="0">
              <a:spcBef>
                <a:spcPts val="0"/>
              </a:spcBef>
              <a:spcAft>
                <a:spcPts val="0"/>
              </a:spcAft>
              <a:buNone/>
            </a:pPr>
            <a:r>
              <a:rPr lang="el" sz="1200"/>
              <a:t>document.body.style.backgroundColor="cyan"</a:t>
            </a:r>
            <a:endParaRPr sz="1200"/>
          </a:p>
          <a:p>
            <a:pPr marL="0" lvl="0" indent="0" algn="l" rtl="0">
              <a:spcBef>
                <a:spcPts val="0"/>
              </a:spcBef>
              <a:spcAft>
                <a:spcPts val="0"/>
              </a:spcAft>
              <a:buNone/>
            </a:pPr>
            <a:r>
              <a:rPr lang="el" sz="1200"/>
              <a:t>document.body.style.color="red"</a:t>
            </a:r>
            <a:endParaRPr sz="1200"/>
          </a:p>
          <a:p>
            <a:pPr marL="0" lvl="0" indent="0" algn="l" rtl="0">
              <a:spcBef>
                <a:spcPts val="0"/>
              </a:spcBef>
              <a:spcAft>
                <a:spcPts val="0"/>
              </a:spcAft>
              <a:buNone/>
            </a:pPr>
            <a:r>
              <a:rPr lang="el" sz="1200"/>
              <a:t>document.getElementById("h1").innerHTML=("")</a:t>
            </a:r>
            <a:endParaRPr sz="1200"/>
          </a:p>
          <a:p>
            <a:pPr marL="0" lvl="0" indent="0" algn="l" rtl="0">
              <a:spcBef>
                <a:spcPts val="0"/>
              </a:spcBef>
              <a:spcAft>
                <a:spcPts val="0"/>
              </a:spcAft>
              <a:buNone/>
            </a:pPr>
            <a:r>
              <a:rPr lang="el" sz="1200"/>
              <a:t>&lt;/script&gt;&lt;/body&gt;&lt;/html&gt;</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7"/>
          <p:cNvSpPr txBox="1">
            <a:spLocks noGrp="1"/>
          </p:cNvSpPr>
          <p:nvPr>
            <p:ph type="title"/>
          </p:nvPr>
        </p:nvSpPr>
        <p:spPr>
          <a:xfrm>
            <a:off x="311700" y="111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 3</a:t>
            </a:r>
            <a:endParaRPr/>
          </a:p>
        </p:txBody>
      </p:sp>
      <p:sp>
        <p:nvSpPr>
          <p:cNvPr id="237" name="Google Shape;237;p27"/>
          <p:cNvSpPr txBox="1"/>
          <p:nvPr/>
        </p:nvSpPr>
        <p:spPr>
          <a:xfrm>
            <a:off x="311700" y="615650"/>
            <a:ext cx="4642200" cy="4376100"/>
          </a:xfrm>
          <a:prstGeom prst="rect">
            <a:avLst/>
          </a:prstGeom>
          <a:solidFill>
            <a:srgbClr val="B6D7A8"/>
          </a:solidFill>
          <a:ln w="9525" cap="flat" cmpd="sng">
            <a:solidFill>
              <a:srgbClr val="000000"/>
            </a:solidFill>
            <a:prstDash val="dashDot"/>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&lt;h1 id="h1"&gt;The input element&lt;/h1&gt;</a:t>
            </a:r>
            <a:endParaRPr/>
          </a:p>
          <a:p>
            <a:pPr marL="0" lvl="0" indent="0" algn="l" rtl="0">
              <a:spcBef>
                <a:spcPts val="0"/>
              </a:spcBef>
              <a:spcAft>
                <a:spcPts val="0"/>
              </a:spcAft>
              <a:buNone/>
            </a:pPr>
            <a:r>
              <a:rPr lang="el"/>
              <a:t>&lt;form id="f1"&gt;</a:t>
            </a:r>
            <a:endParaRPr/>
          </a:p>
          <a:p>
            <a:pPr marL="0" lvl="0" indent="0" algn="l" rtl="0">
              <a:spcBef>
                <a:spcPts val="0"/>
              </a:spcBef>
              <a:spcAft>
                <a:spcPts val="0"/>
              </a:spcAft>
              <a:buNone/>
            </a:pPr>
            <a:r>
              <a:rPr lang="el"/>
              <a:t>&lt;img src="pic_trulli.jpg" id="m"&gt;&lt;br&gt;</a:t>
            </a:r>
            <a:endParaRPr/>
          </a:p>
          <a:p>
            <a:pPr marL="0" lvl="0" indent="0" algn="l" rtl="0">
              <a:spcBef>
                <a:spcPts val="0"/>
              </a:spcBef>
              <a:spcAft>
                <a:spcPts val="0"/>
              </a:spcAft>
              <a:buNone/>
            </a:pPr>
            <a:r>
              <a:rPr lang="el"/>
              <a:t>&lt;label id="fname1"&gt;First name:&lt;/label&gt;</a:t>
            </a:r>
            <a:endParaRPr/>
          </a:p>
          <a:p>
            <a:pPr marL="0" lvl="0" indent="0" algn="l" rtl="0">
              <a:spcBef>
                <a:spcPts val="0"/>
              </a:spcBef>
              <a:spcAft>
                <a:spcPts val="0"/>
              </a:spcAft>
              <a:buNone/>
            </a:pPr>
            <a:r>
              <a:rPr lang="el"/>
              <a:t>&lt;input type="text" id="fname" name="fname"&gt;&lt;br&gt;&lt;br&gt;</a:t>
            </a:r>
            <a:endParaRPr/>
          </a:p>
          <a:p>
            <a:pPr marL="0" lvl="0" indent="0" algn="l" rtl="0">
              <a:spcBef>
                <a:spcPts val="0"/>
              </a:spcBef>
              <a:spcAft>
                <a:spcPts val="0"/>
              </a:spcAft>
              <a:buNone/>
            </a:pPr>
            <a:r>
              <a:rPr lang="el"/>
              <a:t>&lt;label id="lname1"&gt;Last name:&lt;/label&gt;</a:t>
            </a:r>
            <a:endParaRPr/>
          </a:p>
          <a:p>
            <a:pPr marL="0" lvl="0" indent="0" algn="l" rtl="0">
              <a:spcBef>
                <a:spcPts val="0"/>
              </a:spcBef>
              <a:spcAft>
                <a:spcPts val="0"/>
              </a:spcAft>
              <a:buNone/>
            </a:pPr>
            <a:r>
              <a:rPr lang="el"/>
              <a:t>&lt;input type="text" id="lname" name="lname"&gt;&lt;br&gt;&lt;br&gt;</a:t>
            </a:r>
            <a:endParaRPr/>
          </a:p>
          <a:p>
            <a:pPr marL="0" lvl="0" indent="0" algn="l" rtl="0">
              <a:spcBef>
                <a:spcPts val="0"/>
              </a:spcBef>
              <a:spcAft>
                <a:spcPts val="0"/>
              </a:spcAft>
              <a:buNone/>
            </a:pPr>
            <a:r>
              <a:rPr lang="el"/>
              <a:t>&lt;label id="lf1"&gt;Full name:&lt;/label&gt;</a:t>
            </a:r>
            <a:endParaRPr/>
          </a:p>
          <a:p>
            <a:pPr marL="0" lvl="0" indent="0" algn="l" rtl="0">
              <a:spcBef>
                <a:spcPts val="0"/>
              </a:spcBef>
              <a:spcAft>
                <a:spcPts val="0"/>
              </a:spcAft>
              <a:buNone/>
            </a:pPr>
            <a:r>
              <a:rPr lang="el"/>
              <a:t>&lt;input type="text" id="lf" name="lname"&gt;&lt;br&gt;&lt;br&gt;</a:t>
            </a:r>
            <a:endParaRPr/>
          </a:p>
          <a:p>
            <a:pPr marL="0" lvl="0" indent="0" algn="l" rtl="0">
              <a:spcBef>
                <a:spcPts val="0"/>
              </a:spcBef>
              <a:spcAft>
                <a:spcPts val="0"/>
              </a:spcAft>
              <a:buNone/>
            </a:pPr>
            <a:r>
              <a:rPr lang="el"/>
              <a:t>&lt;label id="fname1"&gt;Hobbies:&lt;/label&gt;&lt;br&gt;</a:t>
            </a:r>
            <a:endParaRPr/>
          </a:p>
          <a:p>
            <a:pPr marL="0" lvl="0" indent="0" algn="l" rtl="0">
              <a:spcBef>
                <a:spcPts val="0"/>
              </a:spcBef>
              <a:spcAft>
                <a:spcPts val="0"/>
              </a:spcAft>
              <a:buNone/>
            </a:pPr>
            <a:r>
              <a:rPr lang="el"/>
              <a:t>&lt;input type=checkbox id=c1&gt;Dance&lt;br&gt;</a:t>
            </a:r>
            <a:endParaRPr/>
          </a:p>
          <a:p>
            <a:pPr marL="0" lvl="0" indent="0" algn="l" rtl="0">
              <a:spcBef>
                <a:spcPts val="0"/>
              </a:spcBef>
              <a:spcAft>
                <a:spcPts val="0"/>
              </a:spcAft>
              <a:buNone/>
            </a:pPr>
            <a:r>
              <a:rPr lang="el"/>
              <a:t>&lt;input type=checkbox id=c2&gt;Music&lt;br&gt;</a:t>
            </a:r>
            <a:endParaRPr/>
          </a:p>
          <a:p>
            <a:pPr marL="0" lvl="0" indent="0" algn="l" rtl="0">
              <a:spcBef>
                <a:spcPts val="0"/>
              </a:spcBef>
              <a:spcAft>
                <a:spcPts val="0"/>
              </a:spcAft>
              <a:buNone/>
            </a:pPr>
            <a:r>
              <a:rPr lang="el"/>
              <a:t>&lt;input type=checkbox id=c3&gt;travel&lt;br&gt;</a:t>
            </a:r>
            <a:endParaRPr/>
          </a:p>
          <a:p>
            <a:pPr marL="0" lvl="0" indent="0" algn="l" rtl="0">
              <a:spcBef>
                <a:spcPts val="0"/>
              </a:spcBef>
              <a:spcAft>
                <a:spcPts val="0"/>
              </a:spcAft>
              <a:buNone/>
            </a:pPr>
            <a:r>
              <a:rPr lang="el"/>
              <a:t>&lt;label id="list1"&gt;countries:&lt;/label&gt;&lt;br&gt;</a:t>
            </a:r>
            <a:endParaRPr/>
          </a:p>
          <a:p>
            <a:pPr marL="0" lvl="0" indent="0" algn="l" rtl="0">
              <a:spcBef>
                <a:spcPts val="0"/>
              </a:spcBef>
              <a:spcAft>
                <a:spcPts val="0"/>
              </a:spcAft>
              <a:buNone/>
            </a:pPr>
            <a:r>
              <a:rPr lang="el"/>
              <a:t>&lt;select id="s1"&gt;</a:t>
            </a:r>
            <a:endParaRPr/>
          </a:p>
          <a:p>
            <a:pPr marL="0" lvl="0" indent="0" algn="l" rtl="0">
              <a:spcBef>
                <a:spcPts val="0"/>
              </a:spcBef>
              <a:spcAft>
                <a:spcPts val="0"/>
              </a:spcAft>
              <a:buNone/>
            </a:pPr>
            <a:r>
              <a:rPr lang="el"/>
              <a:t>&lt;option&gt;Greece&lt;/option&gt;&lt;option&gt;Spain&lt;/option&gt;</a:t>
            </a:r>
            <a:endParaRPr/>
          </a:p>
          <a:p>
            <a:pPr marL="0" lvl="0" indent="0" algn="l" rtl="0">
              <a:spcBef>
                <a:spcPts val="0"/>
              </a:spcBef>
              <a:spcAft>
                <a:spcPts val="0"/>
              </a:spcAft>
              <a:buNone/>
            </a:pPr>
            <a:r>
              <a:rPr lang="el"/>
              <a:t>&lt;option&gt;Italy&lt;/option&gt;</a:t>
            </a:r>
            <a:endParaRPr/>
          </a:p>
          <a:p>
            <a:pPr marL="0" lvl="0" indent="0" algn="l" rtl="0">
              <a:spcBef>
                <a:spcPts val="0"/>
              </a:spcBef>
              <a:spcAft>
                <a:spcPts val="0"/>
              </a:spcAft>
              <a:buNone/>
            </a:pPr>
            <a:r>
              <a:rPr lang="el"/>
              <a:t>&lt;select&gt;</a:t>
            </a:r>
            <a:endParaRPr/>
          </a:p>
          <a:p>
            <a:pPr marL="0" lvl="0" indent="0" algn="l" rtl="0">
              <a:spcBef>
                <a:spcPts val="0"/>
              </a:spcBef>
              <a:spcAft>
                <a:spcPts val="0"/>
              </a:spcAft>
              <a:buNone/>
            </a:pPr>
            <a:r>
              <a:rPr lang="el"/>
              <a:t>&lt;/form&gt;</a:t>
            </a:r>
            <a:endParaRPr/>
          </a:p>
        </p:txBody>
      </p:sp>
      <p:sp>
        <p:nvSpPr>
          <p:cNvPr id="238" name="Google Shape;238;p27"/>
          <p:cNvSpPr txBox="1"/>
          <p:nvPr/>
        </p:nvSpPr>
        <p:spPr>
          <a:xfrm>
            <a:off x="5082825" y="307725"/>
            <a:ext cx="3876600" cy="4137900"/>
          </a:xfrm>
          <a:prstGeom prst="rect">
            <a:avLst/>
          </a:prstGeom>
          <a:solidFill>
            <a:srgbClr val="FFF2CC"/>
          </a:solidFill>
          <a:ln w="9525" cap="flat" cmpd="sng">
            <a:solidFill>
              <a:srgbClr val="000000"/>
            </a:solidFill>
            <a:prstDash val="dashDot"/>
            <a:round/>
            <a:headEnd type="none" w="sm" len="sm"/>
            <a:tailEnd type="none" w="sm" len="sm"/>
          </a:ln>
        </p:spPr>
        <p:txBody>
          <a:bodyPr spcFirstLastPara="1" wrap="square" lIns="91425" tIns="91425" rIns="91425" bIns="91425" anchor="t" anchorCtr="0">
            <a:noAutofit/>
          </a:bodyPr>
          <a:lstStyle/>
          <a:p>
            <a:pPr marL="457200" lvl="0" indent="-317500" algn="l" rtl="0">
              <a:spcBef>
                <a:spcPts val="0"/>
              </a:spcBef>
              <a:spcAft>
                <a:spcPts val="0"/>
              </a:spcAft>
              <a:buSzPts val="1400"/>
              <a:buAutoNum type="arabicPeriod"/>
            </a:pPr>
            <a:r>
              <a:rPr lang="el"/>
              <a:t>άλλαξε το περιεχόμενο της Η1 σε “JAVASCRIPT”</a:t>
            </a:r>
            <a:endParaRPr/>
          </a:p>
          <a:p>
            <a:pPr marL="457200" lvl="0" indent="-317500" algn="l" rtl="0">
              <a:spcBef>
                <a:spcPts val="0"/>
              </a:spcBef>
              <a:spcAft>
                <a:spcPts val="0"/>
              </a:spcAft>
              <a:buSzPts val="1400"/>
              <a:buAutoNum type="arabicPeriod"/>
            </a:pPr>
            <a:r>
              <a:rPr lang="el"/>
              <a:t>Πρόσθεσε στο lname το “Hello”</a:t>
            </a:r>
            <a:endParaRPr/>
          </a:p>
          <a:p>
            <a:pPr marL="457200" lvl="0" indent="-317500" algn="l" rtl="0">
              <a:spcBef>
                <a:spcPts val="0"/>
              </a:spcBef>
              <a:spcAft>
                <a:spcPts val="0"/>
              </a:spcAft>
              <a:buSzPts val="1400"/>
              <a:buAutoNum type="arabicPeriod"/>
            </a:pPr>
            <a:r>
              <a:rPr lang="el"/>
              <a:t>Πρόσθεσε στο fname το “Kitty”</a:t>
            </a:r>
            <a:endParaRPr/>
          </a:p>
          <a:p>
            <a:pPr marL="457200" lvl="0" indent="-317500" algn="l" rtl="0">
              <a:spcBef>
                <a:spcPts val="0"/>
              </a:spcBef>
              <a:spcAft>
                <a:spcPts val="0"/>
              </a:spcAft>
              <a:buSzPts val="1400"/>
              <a:buAutoNum type="arabicPeriod"/>
            </a:pPr>
            <a:r>
              <a:rPr lang="el"/>
              <a:t>Πρόσθεσε στο lf το περιεχόμενο του lname και fname</a:t>
            </a:r>
            <a:endParaRPr/>
          </a:p>
          <a:p>
            <a:pPr marL="457200" lvl="0" indent="-317500" algn="l" rtl="0">
              <a:spcBef>
                <a:spcPts val="0"/>
              </a:spcBef>
              <a:spcAft>
                <a:spcPts val="0"/>
              </a:spcAft>
              <a:buSzPts val="1400"/>
              <a:buAutoNum type="arabicPeriod"/>
            </a:pPr>
            <a:r>
              <a:rPr lang="el"/>
              <a:t>¨Αλλαξε το χρώμα του Η1 σε κόκκινο</a:t>
            </a:r>
            <a:endParaRPr/>
          </a:p>
          <a:p>
            <a:pPr marL="457200" lvl="0" indent="-317500" algn="l" rtl="0">
              <a:spcBef>
                <a:spcPts val="0"/>
              </a:spcBef>
              <a:spcAft>
                <a:spcPts val="0"/>
              </a:spcAft>
              <a:buSzPts val="1400"/>
              <a:buAutoNum type="arabicPeriod"/>
            </a:pPr>
            <a:r>
              <a:rPr lang="el"/>
              <a:t>Άλλαξε το μέγεθος του lname σε 20</a:t>
            </a:r>
            <a:endParaRPr/>
          </a:p>
          <a:p>
            <a:pPr marL="457200" lvl="0" indent="-317500" algn="l" rtl="0">
              <a:spcBef>
                <a:spcPts val="0"/>
              </a:spcBef>
              <a:spcAft>
                <a:spcPts val="0"/>
              </a:spcAft>
              <a:buSzPts val="1400"/>
              <a:buAutoNum type="arabicPeriod"/>
            </a:pPr>
            <a:r>
              <a:rPr lang="el"/>
              <a:t>Άλλαξε το φόντο του Η1 σε πράσινο</a:t>
            </a:r>
            <a:endParaRPr/>
          </a:p>
          <a:p>
            <a:pPr marL="457200" lvl="0" indent="-317500" algn="l" rtl="0">
              <a:spcBef>
                <a:spcPts val="0"/>
              </a:spcBef>
              <a:spcAft>
                <a:spcPts val="0"/>
              </a:spcAft>
              <a:buSzPts val="1400"/>
              <a:buAutoNum type="arabicPeriod"/>
            </a:pPr>
            <a:r>
              <a:rPr lang="el"/>
              <a:t>Άλλαξε το φόντο της ιστοσελίδας σε cyan</a:t>
            </a:r>
            <a:endParaRPr/>
          </a:p>
          <a:p>
            <a:pPr marL="457200" lvl="0" indent="-317500" algn="l" rtl="0">
              <a:spcBef>
                <a:spcPts val="0"/>
              </a:spcBef>
              <a:spcAft>
                <a:spcPts val="0"/>
              </a:spcAft>
              <a:buSzPts val="1400"/>
              <a:buAutoNum type="arabicPeriod"/>
            </a:pPr>
            <a:r>
              <a:rPr lang="el"/>
              <a:t>Άλλαξε το φόντο της ιστοσελίδας σε κόκκινο</a:t>
            </a:r>
            <a:endParaRPr/>
          </a:p>
          <a:p>
            <a:pPr marL="457200" lvl="0" indent="-317500" algn="l" rtl="0">
              <a:spcBef>
                <a:spcPts val="0"/>
              </a:spcBef>
              <a:spcAft>
                <a:spcPts val="0"/>
              </a:spcAft>
              <a:buSzPts val="1400"/>
              <a:buAutoNum type="arabicPeriod"/>
            </a:pPr>
            <a:r>
              <a:rPr lang="el"/>
              <a:t>Άλλαξε το μέγεθος του s1 σε 2</a:t>
            </a:r>
            <a:endParaRPr/>
          </a:p>
          <a:p>
            <a:pPr marL="457200" lvl="0" indent="-317500" algn="l" rtl="0">
              <a:spcBef>
                <a:spcPts val="0"/>
              </a:spcBef>
              <a:spcAft>
                <a:spcPts val="0"/>
              </a:spcAft>
              <a:buSzPts val="1400"/>
              <a:buAutoNum type="arabicPeriod"/>
            </a:pPr>
            <a:r>
              <a:rPr lang="el"/>
              <a:t>Επίλεξε την πρώτη επιλογή των επιλογών</a:t>
            </a:r>
            <a:endParaRPr/>
          </a:p>
          <a:p>
            <a:pPr marL="457200" lvl="0" indent="-317500" algn="l" rtl="0">
              <a:spcBef>
                <a:spcPts val="0"/>
              </a:spcBef>
              <a:spcAft>
                <a:spcPts val="0"/>
              </a:spcAft>
              <a:buSzPts val="1400"/>
              <a:buAutoNum type="arabicPeriod"/>
            </a:pPr>
            <a:r>
              <a:rPr lang="el"/>
              <a:t>Άλλαξε το πλάτος και το ύψος τηςτης εικόνας σε 200</a:t>
            </a:r>
            <a:endParaRPr/>
          </a:p>
          <a:p>
            <a:pPr marL="457200" lvl="0" indent="-317500" algn="l" rtl="0">
              <a:spcBef>
                <a:spcPts val="0"/>
              </a:spcBef>
              <a:spcAft>
                <a:spcPts val="0"/>
              </a:spcAft>
              <a:buSzPts val="1400"/>
              <a:buAutoNum type="arabicPeriod"/>
            </a:pPr>
            <a:r>
              <a:rPr lang="el"/>
              <a:t>Άλλαξε την διαφάνεια της εικόνας σε 0.5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8"/>
          <p:cNvSpPr txBox="1">
            <a:spLocks noGrp="1"/>
          </p:cNvSpPr>
          <p:nvPr>
            <p:ph type="title"/>
          </p:nvPr>
        </p:nvSpPr>
        <p:spPr>
          <a:xfrm>
            <a:off x="371575" y="251600"/>
            <a:ext cx="7505700" cy="57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Λύση Άσκησης 3</a:t>
            </a:r>
            <a:endParaRPr/>
          </a:p>
        </p:txBody>
      </p:sp>
      <p:sp>
        <p:nvSpPr>
          <p:cNvPr id="244" name="Google Shape;244;p28"/>
          <p:cNvSpPr txBox="1"/>
          <p:nvPr/>
        </p:nvSpPr>
        <p:spPr>
          <a:xfrm>
            <a:off x="270625" y="827000"/>
            <a:ext cx="7707600" cy="4005600"/>
          </a:xfrm>
          <a:prstGeom prst="rect">
            <a:avLst/>
          </a:prstGeom>
          <a:solidFill>
            <a:srgbClr val="FFF2CC"/>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document.getElementById("h1").innerHTML=("JAVASCRIPT")</a:t>
            </a:r>
            <a:endParaRPr/>
          </a:p>
          <a:p>
            <a:pPr marL="0" lvl="0" indent="0" algn="l" rtl="0">
              <a:spcBef>
                <a:spcPts val="0"/>
              </a:spcBef>
              <a:spcAft>
                <a:spcPts val="0"/>
              </a:spcAft>
              <a:buNone/>
            </a:pPr>
            <a:r>
              <a:rPr lang="el"/>
              <a:t>document.getElementById("lname").value=("Hello")</a:t>
            </a:r>
            <a:endParaRPr/>
          </a:p>
          <a:p>
            <a:pPr marL="0" lvl="0" indent="0" algn="l" rtl="0">
              <a:spcBef>
                <a:spcPts val="0"/>
              </a:spcBef>
              <a:spcAft>
                <a:spcPts val="0"/>
              </a:spcAft>
              <a:buNone/>
            </a:pPr>
            <a:r>
              <a:rPr lang="el"/>
              <a:t>document.getElementById("fname").value=("Kitty")</a:t>
            </a:r>
            <a:endParaRPr/>
          </a:p>
          <a:p>
            <a:pPr marL="0" lvl="0" indent="0" algn="l" rtl="0">
              <a:spcBef>
                <a:spcPts val="0"/>
              </a:spcBef>
              <a:spcAft>
                <a:spcPts val="0"/>
              </a:spcAft>
              <a:buNone/>
            </a:pPr>
            <a:r>
              <a:rPr lang="el"/>
              <a:t>document.getElementById("lf").value=</a:t>
            </a:r>
            <a:br>
              <a:rPr lang="el"/>
            </a:br>
            <a:r>
              <a:rPr lang="el"/>
              <a:t>document.getElementById("lname").value+</a:t>
            </a:r>
            <a:br>
              <a:rPr lang="el"/>
            </a:br>
            <a:r>
              <a:rPr lang="el"/>
              <a:t>document.getElementById("fname").value</a:t>
            </a:r>
            <a:endParaRPr/>
          </a:p>
          <a:p>
            <a:pPr marL="0" lvl="0" indent="0" algn="l" rtl="0">
              <a:spcBef>
                <a:spcPts val="0"/>
              </a:spcBef>
              <a:spcAft>
                <a:spcPts val="0"/>
              </a:spcAft>
              <a:buNone/>
            </a:pPr>
            <a:r>
              <a:rPr lang="el"/>
              <a:t>document.getElementById("h1").style.color="red"</a:t>
            </a:r>
            <a:endParaRPr/>
          </a:p>
          <a:p>
            <a:pPr marL="0" lvl="0" indent="0" algn="l" rtl="0">
              <a:spcBef>
                <a:spcPts val="0"/>
              </a:spcBef>
              <a:spcAft>
                <a:spcPts val="0"/>
              </a:spcAft>
              <a:buNone/>
            </a:pPr>
            <a:r>
              <a:rPr lang="el"/>
              <a:t>document.getElementById("lname").size=20</a:t>
            </a:r>
            <a:endParaRPr/>
          </a:p>
          <a:p>
            <a:pPr marL="0" lvl="0" indent="0" algn="l" rtl="0">
              <a:spcBef>
                <a:spcPts val="0"/>
              </a:spcBef>
              <a:spcAft>
                <a:spcPts val="0"/>
              </a:spcAft>
              <a:buNone/>
            </a:pPr>
            <a:r>
              <a:rPr lang="el"/>
              <a:t>document.getElementById("h1").style.backgroundColor="green";</a:t>
            </a:r>
            <a:endParaRPr/>
          </a:p>
          <a:p>
            <a:pPr marL="0" lvl="0" indent="0" algn="l" rtl="0">
              <a:spcBef>
                <a:spcPts val="0"/>
              </a:spcBef>
              <a:spcAft>
                <a:spcPts val="0"/>
              </a:spcAft>
              <a:buNone/>
            </a:pPr>
            <a:r>
              <a:rPr lang="el"/>
              <a:t>document.body.style.backgroundColor="cyan"</a:t>
            </a:r>
            <a:endParaRPr/>
          </a:p>
          <a:p>
            <a:pPr marL="0" lvl="0" indent="0" algn="l" rtl="0">
              <a:spcBef>
                <a:spcPts val="0"/>
              </a:spcBef>
              <a:spcAft>
                <a:spcPts val="0"/>
              </a:spcAft>
              <a:buNone/>
            </a:pPr>
            <a:r>
              <a:rPr lang="el"/>
              <a:t>document.body.style.color="red"</a:t>
            </a:r>
            <a:endParaRPr/>
          </a:p>
          <a:p>
            <a:pPr marL="0" lvl="0" indent="0" algn="l" rtl="0">
              <a:spcBef>
                <a:spcPts val="0"/>
              </a:spcBef>
              <a:spcAft>
                <a:spcPts val="0"/>
              </a:spcAft>
              <a:buNone/>
            </a:pPr>
            <a:r>
              <a:rPr lang="el"/>
              <a:t>document.getElementById("s1").size=2</a:t>
            </a:r>
            <a:endParaRPr/>
          </a:p>
          <a:p>
            <a:pPr marL="0" lvl="0" indent="0" algn="l" rtl="0">
              <a:spcBef>
                <a:spcPts val="0"/>
              </a:spcBef>
              <a:spcAft>
                <a:spcPts val="0"/>
              </a:spcAft>
              <a:buNone/>
            </a:pPr>
            <a:r>
              <a:rPr lang="el"/>
              <a:t>document.getElementById("c1").checked=true</a:t>
            </a:r>
            <a:endParaRPr/>
          </a:p>
          <a:p>
            <a:pPr marL="0" lvl="0" indent="0" algn="l" rtl="0">
              <a:spcBef>
                <a:spcPts val="0"/>
              </a:spcBef>
              <a:spcAft>
                <a:spcPts val="0"/>
              </a:spcAft>
              <a:buNone/>
            </a:pPr>
            <a:r>
              <a:rPr lang="el"/>
              <a:t>document.getElementById("m").width=200</a:t>
            </a:r>
            <a:endParaRPr/>
          </a:p>
          <a:p>
            <a:pPr marL="0" lvl="0" indent="0" algn="l" rtl="0">
              <a:spcBef>
                <a:spcPts val="0"/>
              </a:spcBef>
              <a:spcAft>
                <a:spcPts val="0"/>
              </a:spcAft>
              <a:buNone/>
            </a:pPr>
            <a:r>
              <a:rPr lang="el"/>
              <a:t>document.getElementById("m").height=200</a:t>
            </a:r>
            <a:endParaRPr/>
          </a:p>
          <a:p>
            <a:pPr marL="0" lvl="0" indent="0" algn="l" rtl="0">
              <a:spcBef>
                <a:spcPts val="0"/>
              </a:spcBef>
              <a:spcAft>
                <a:spcPts val="0"/>
              </a:spcAft>
              <a:buNone/>
            </a:pPr>
            <a:r>
              <a:rPr lang="el"/>
              <a:t>document.getElementById("m").style.opacity=0.5</a:t>
            </a:r>
            <a:endParaRPr/>
          </a:p>
          <a:p>
            <a:pPr marL="0" lvl="0" indent="0" algn="l" rtl="0">
              <a:spcBef>
                <a:spcPts val="0"/>
              </a:spcBef>
              <a:spcAft>
                <a:spcPts val="0"/>
              </a:spcAft>
              <a:buNone/>
            </a:pPr>
            <a:r>
              <a:rPr lang="el"/>
              <a:t>&lt;/script&gt;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9"/>
          <p:cNvSpPr txBox="1">
            <a:spLocks noGrp="1"/>
          </p:cNvSpPr>
          <p:nvPr>
            <p:ph type="title"/>
          </p:nvPr>
        </p:nvSpPr>
        <p:spPr>
          <a:xfrm>
            <a:off x="819150" y="496625"/>
            <a:ext cx="7505700" cy="62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Χρησιμοποιώντας events</a:t>
            </a:r>
            <a:endParaRPr/>
          </a:p>
        </p:txBody>
      </p:sp>
      <p:sp>
        <p:nvSpPr>
          <p:cNvPr id="250" name="Google Shape;250;p29"/>
          <p:cNvSpPr txBox="1">
            <a:spLocks noGrp="1"/>
          </p:cNvSpPr>
          <p:nvPr>
            <p:ph type="body" idx="1"/>
          </p:nvPr>
        </p:nvSpPr>
        <p:spPr>
          <a:xfrm>
            <a:off x="819150" y="1156225"/>
            <a:ext cx="7505700" cy="244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H HTML επιτρέπει στη JavaScript να εκτελέσει </a:t>
            </a:r>
            <a:r>
              <a:rPr lang="el" u="sng"/>
              <a:t>μια ενέργεια όταν συμβεί ένα γεγονός (event).</a:t>
            </a:r>
            <a:endParaRPr u="sng"/>
          </a:p>
          <a:p>
            <a:pPr marL="0" lvl="0" indent="0" algn="l" rtl="0">
              <a:spcBef>
                <a:spcPts val="1600"/>
              </a:spcBef>
              <a:spcAft>
                <a:spcPts val="0"/>
              </a:spcAft>
              <a:buNone/>
            </a:pPr>
            <a:r>
              <a:rPr lang="el" u="sng"/>
              <a:t>Ένα γεγονός παράγεται από τον browser όταν διάφορα πράγματα συμβαίνουν σε HTML στοιχεία.</a:t>
            </a:r>
            <a:endParaRPr u="sng"/>
          </a:p>
          <a:p>
            <a:pPr marL="457200" lvl="0" indent="-311150" algn="l" rtl="0">
              <a:spcBef>
                <a:spcPts val="1600"/>
              </a:spcBef>
              <a:spcAft>
                <a:spcPts val="0"/>
              </a:spcAft>
              <a:buSzPts val="1300"/>
              <a:buAutoNum type="arabicPeriod"/>
            </a:pPr>
            <a:r>
              <a:rPr lang="el"/>
              <a:t>Ο χρήστης κάνει κλικ σε ένα στοιχείο.</a:t>
            </a:r>
            <a:endParaRPr/>
          </a:p>
          <a:p>
            <a:pPr marL="457200" lvl="0" indent="-311150" algn="l" rtl="0">
              <a:spcBef>
                <a:spcPts val="0"/>
              </a:spcBef>
              <a:spcAft>
                <a:spcPts val="0"/>
              </a:spcAft>
              <a:buSzPts val="1300"/>
              <a:buAutoNum type="arabicPeriod"/>
            </a:pPr>
            <a:r>
              <a:rPr lang="el"/>
              <a:t>Ο χρήστης δείχνει με το ποντίκι πάνω σε ένα στοιχείο.</a:t>
            </a:r>
            <a:endParaRPr/>
          </a:p>
          <a:p>
            <a:pPr marL="457200" lvl="0" indent="-311150" algn="l" rtl="0">
              <a:spcBef>
                <a:spcPts val="0"/>
              </a:spcBef>
              <a:spcAft>
                <a:spcPts val="0"/>
              </a:spcAft>
              <a:buSzPts val="1300"/>
              <a:buAutoNum type="arabicPeriod"/>
            </a:pPr>
            <a:r>
              <a:rPr lang="el"/>
              <a:t>Ολοκληρώνεται η φόρτωση μιας σελίδας.</a:t>
            </a:r>
            <a:endParaRPr/>
          </a:p>
          <a:p>
            <a:pPr marL="457200" lvl="0" indent="-311150" algn="l" rtl="0">
              <a:spcBef>
                <a:spcPts val="0"/>
              </a:spcBef>
              <a:spcAft>
                <a:spcPts val="0"/>
              </a:spcAft>
              <a:buSzPts val="1300"/>
              <a:buAutoNum type="arabicPeriod"/>
            </a:pPr>
            <a:r>
              <a:rPr lang="el"/>
              <a:t>Τα πεδία μιας φόρμας εισόδου τροποποιούνται.</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0"/>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Events- Γεγονότα</a:t>
            </a:r>
            <a:endParaRPr/>
          </a:p>
        </p:txBody>
      </p:sp>
      <p:sp>
        <p:nvSpPr>
          <p:cNvPr id="256" name="Google Shape;256;p30"/>
          <p:cNvSpPr txBox="1">
            <a:spLocks noGrp="1"/>
          </p:cNvSpPr>
          <p:nvPr>
            <p:ph type="body" idx="1"/>
          </p:nvPr>
        </p:nvSpPr>
        <p:spPr>
          <a:xfrm>
            <a:off x="819150" y="1990725"/>
            <a:ext cx="7505700" cy="31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Η ανάθεση ενός γεγονότος σε ένα HTML στοιχείο γίνεται μέσω κάποιων event attributes.</a:t>
            </a:r>
            <a:endParaRPr/>
          </a:p>
          <a:p>
            <a:pPr marL="457200" lvl="0" indent="-311150" algn="l" rtl="0">
              <a:spcBef>
                <a:spcPts val="1600"/>
              </a:spcBef>
              <a:spcAft>
                <a:spcPts val="0"/>
              </a:spcAft>
              <a:buSzPts val="1300"/>
              <a:buChar char="●"/>
            </a:pPr>
            <a:r>
              <a:rPr lang="el" b="1"/>
              <a:t>onclick: </a:t>
            </a:r>
            <a:r>
              <a:rPr lang="el"/>
              <a:t>Όταν ο χρήστης κάνει κλικ σε ένα στοιχείο.</a:t>
            </a:r>
            <a:endParaRPr/>
          </a:p>
          <a:p>
            <a:pPr marL="457200" lvl="0" indent="-311150" algn="l" rtl="0">
              <a:spcBef>
                <a:spcPts val="0"/>
              </a:spcBef>
              <a:spcAft>
                <a:spcPts val="0"/>
              </a:spcAft>
              <a:buSzPts val="1300"/>
              <a:buChar char="●"/>
            </a:pPr>
            <a:r>
              <a:rPr lang="el" b="1"/>
              <a:t>onload: </a:t>
            </a:r>
            <a:r>
              <a:rPr lang="el"/>
              <a:t>Όταν ο χρήστης επισκέπτεται τη σελίδα.</a:t>
            </a:r>
            <a:endParaRPr/>
          </a:p>
          <a:p>
            <a:pPr marL="457200" lvl="0" indent="-311150" algn="l" rtl="0">
              <a:spcBef>
                <a:spcPts val="0"/>
              </a:spcBef>
              <a:spcAft>
                <a:spcPts val="0"/>
              </a:spcAft>
              <a:buSzPts val="1300"/>
              <a:buChar char="●"/>
            </a:pPr>
            <a:r>
              <a:rPr lang="el" b="1"/>
              <a:t>onunload: </a:t>
            </a:r>
            <a:r>
              <a:rPr lang="el"/>
              <a:t>Όταν ο χρήστης βγαίνει από τη σελίδα.</a:t>
            </a:r>
            <a:endParaRPr/>
          </a:p>
          <a:p>
            <a:pPr marL="457200" lvl="0" indent="-311150" algn="l" rtl="0">
              <a:spcBef>
                <a:spcPts val="0"/>
              </a:spcBef>
              <a:spcAft>
                <a:spcPts val="0"/>
              </a:spcAft>
              <a:buSzPts val="1300"/>
              <a:buChar char="●"/>
            </a:pPr>
            <a:r>
              <a:rPr lang="el" b="1"/>
              <a:t>onchange: </a:t>
            </a:r>
            <a:r>
              <a:rPr lang="el"/>
              <a:t>Όταν το περιεχόμενο ενός στοιχείου αλλάζει.</a:t>
            </a:r>
            <a:endParaRPr/>
          </a:p>
          <a:p>
            <a:pPr marL="457200" lvl="0" indent="-311150" algn="l" rtl="0">
              <a:spcBef>
                <a:spcPts val="0"/>
              </a:spcBef>
              <a:spcAft>
                <a:spcPts val="0"/>
              </a:spcAft>
              <a:buSzPts val="1300"/>
              <a:buChar char="●"/>
            </a:pPr>
            <a:r>
              <a:rPr lang="el" b="1"/>
              <a:t>onmouseover: </a:t>
            </a:r>
            <a:r>
              <a:rPr lang="el"/>
              <a:t>Όταν ο χρήστης δείχνει με το ποντίκι σε ένα στοιχείο.</a:t>
            </a:r>
            <a:endParaRPr/>
          </a:p>
          <a:p>
            <a:pPr marL="457200" lvl="0" indent="-311150" algn="l" rtl="0">
              <a:spcBef>
                <a:spcPts val="0"/>
              </a:spcBef>
              <a:spcAft>
                <a:spcPts val="0"/>
              </a:spcAft>
              <a:buSzPts val="1300"/>
              <a:buChar char="●"/>
            </a:pPr>
            <a:r>
              <a:rPr lang="el" b="1"/>
              <a:t>onmouseout: </a:t>
            </a:r>
            <a:r>
              <a:rPr lang="el"/>
              <a:t>Όταν ο χρήστης απομακρύνει το ποντίκι από ένα στοιχείο.</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1"/>
          <p:cNvSpPr txBox="1">
            <a:spLocks noGrp="1"/>
          </p:cNvSpPr>
          <p:nvPr>
            <p:ph type="title"/>
          </p:nvPr>
        </p:nvSpPr>
        <p:spPr>
          <a:xfrm>
            <a:off x="197075" y="1932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Παράδειγμα1 με Event</a:t>
            </a:r>
            <a:endParaRPr/>
          </a:p>
        </p:txBody>
      </p:sp>
      <p:sp>
        <p:nvSpPr>
          <p:cNvPr id="262" name="Google Shape;262;p31"/>
          <p:cNvSpPr txBox="1"/>
          <p:nvPr/>
        </p:nvSpPr>
        <p:spPr>
          <a:xfrm>
            <a:off x="288300" y="844175"/>
            <a:ext cx="7593900" cy="2478600"/>
          </a:xfrm>
          <a:prstGeom prst="rect">
            <a:avLst/>
          </a:prstGeom>
          <a:solidFill>
            <a:srgbClr val="D9EAD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&lt;!DOCTYPE html&gt;</a:t>
            </a:r>
            <a:endParaRPr/>
          </a:p>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endParaRPr/>
          </a:p>
          <a:p>
            <a:pPr marL="0" lvl="0" indent="0" algn="l" rtl="0">
              <a:spcBef>
                <a:spcPts val="0"/>
              </a:spcBef>
              <a:spcAft>
                <a:spcPts val="0"/>
              </a:spcAft>
              <a:buNone/>
            </a:pPr>
            <a:r>
              <a:rPr lang="el"/>
              <a:t>&lt;button onclick="document.getElementById('demo').innerHTML=Date()"&gt;The time is?&lt;/button&gt;</a:t>
            </a:r>
            <a:endParaRPr/>
          </a:p>
          <a:p>
            <a:pPr marL="0" lvl="0" indent="0" algn="l" rtl="0">
              <a:spcBef>
                <a:spcPts val="0"/>
              </a:spcBef>
              <a:spcAft>
                <a:spcPts val="0"/>
              </a:spcAft>
              <a:buNone/>
            </a:pPr>
            <a:endParaRPr/>
          </a:p>
          <a:p>
            <a:pPr marL="0" lvl="0" indent="0" algn="l" rtl="0">
              <a:spcBef>
                <a:spcPts val="0"/>
              </a:spcBef>
              <a:spcAft>
                <a:spcPts val="0"/>
              </a:spcAft>
              <a:buNone/>
            </a:pPr>
            <a:r>
              <a:rPr lang="el"/>
              <a:t>&lt;p id="demo"&gt;&lt;/p&gt;</a:t>
            </a:r>
            <a:endParaRPr/>
          </a:p>
          <a:p>
            <a:pPr marL="0" lvl="0" indent="0" algn="l" rtl="0">
              <a:spcBef>
                <a:spcPts val="0"/>
              </a:spcBef>
              <a:spcAft>
                <a:spcPts val="0"/>
              </a:spcAft>
              <a:buNone/>
            </a:pP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p:txBody>
      </p:sp>
      <p:pic>
        <p:nvPicPr>
          <p:cNvPr id="263" name="Google Shape;263;p31"/>
          <p:cNvPicPr preferRelativeResize="0"/>
          <p:nvPr/>
        </p:nvPicPr>
        <p:blipFill>
          <a:blip r:embed="rId3">
            <a:alphaModFix/>
          </a:blip>
          <a:stretch>
            <a:fillRect/>
          </a:stretch>
        </p:blipFill>
        <p:spPr>
          <a:xfrm>
            <a:off x="812425" y="3801375"/>
            <a:ext cx="981075" cy="514350"/>
          </a:xfrm>
          <a:prstGeom prst="rect">
            <a:avLst/>
          </a:prstGeom>
          <a:noFill/>
          <a:ln>
            <a:noFill/>
          </a:ln>
        </p:spPr>
      </p:pic>
      <p:pic>
        <p:nvPicPr>
          <p:cNvPr id="264" name="Google Shape;264;p31"/>
          <p:cNvPicPr preferRelativeResize="0"/>
          <p:nvPr/>
        </p:nvPicPr>
        <p:blipFill>
          <a:blip r:embed="rId4">
            <a:alphaModFix/>
          </a:blip>
          <a:stretch>
            <a:fillRect/>
          </a:stretch>
        </p:blipFill>
        <p:spPr>
          <a:xfrm>
            <a:off x="2902175" y="3615638"/>
            <a:ext cx="4800600" cy="885825"/>
          </a:xfrm>
          <a:prstGeom prst="rect">
            <a:avLst/>
          </a:prstGeom>
          <a:noFill/>
          <a:ln>
            <a:noFill/>
          </a:ln>
        </p:spPr>
      </p:pic>
      <p:sp>
        <p:nvSpPr>
          <p:cNvPr id="265" name="Google Shape;265;p31"/>
          <p:cNvSpPr txBox="1"/>
          <p:nvPr/>
        </p:nvSpPr>
        <p:spPr>
          <a:xfrm>
            <a:off x="3436575" y="4419025"/>
            <a:ext cx="4893000" cy="30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sz="1100" u="sng">
                <a:solidFill>
                  <a:schemeClr val="hlink"/>
                </a:solidFill>
                <a:hlinkClick r:id="rId5"/>
              </a:rPr>
              <a:t>https://www.w3schools.com/js/tryit.asp?filename=tryjs_event_onclick1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2"/>
          <p:cNvSpPr txBox="1">
            <a:spLocks noGrp="1"/>
          </p:cNvSpPr>
          <p:nvPr>
            <p:ph type="title"/>
          </p:nvPr>
        </p:nvSpPr>
        <p:spPr>
          <a:xfrm>
            <a:off x="257750" y="223525"/>
            <a:ext cx="7505700" cy="58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Παράδειγμα2 με Event</a:t>
            </a:r>
            <a:endParaRPr/>
          </a:p>
          <a:p>
            <a:pPr marL="0" lvl="0" indent="0" algn="l" rtl="0">
              <a:spcBef>
                <a:spcPts val="0"/>
              </a:spcBef>
              <a:spcAft>
                <a:spcPts val="0"/>
              </a:spcAft>
              <a:buNone/>
            </a:pPr>
            <a:endParaRPr/>
          </a:p>
        </p:txBody>
      </p:sp>
      <p:sp>
        <p:nvSpPr>
          <p:cNvPr id="271" name="Google Shape;271;p32"/>
          <p:cNvSpPr txBox="1"/>
          <p:nvPr/>
        </p:nvSpPr>
        <p:spPr>
          <a:xfrm>
            <a:off x="295875" y="864825"/>
            <a:ext cx="6789600" cy="3000000"/>
          </a:xfrm>
          <a:prstGeom prst="rect">
            <a:avLst/>
          </a:prstGeom>
          <a:solidFill>
            <a:srgbClr val="D9EAD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&lt;!DOCTYPE html&gt;</a:t>
            </a:r>
            <a:endParaRPr/>
          </a:p>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&lt;head&gt;</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function myFunction() {</a:t>
            </a:r>
            <a:endParaRPr/>
          </a:p>
          <a:p>
            <a:pPr marL="0" lvl="0" indent="0" algn="l" rtl="0">
              <a:spcBef>
                <a:spcPts val="0"/>
              </a:spcBef>
              <a:spcAft>
                <a:spcPts val="0"/>
              </a:spcAft>
              <a:buNone/>
            </a:pPr>
            <a:r>
              <a:rPr lang="el"/>
              <a:t>  var x = document.getElementById("fname");</a:t>
            </a:r>
            <a:endParaRPr/>
          </a:p>
          <a:p>
            <a:pPr marL="0" lvl="0" indent="0" algn="l" rtl="0">
              <a:spcBef>
                <a:spcPts val="0"/>
              </a:spcBef>
              <a:spcAft>
                <a:spcPts val="0"/>
              </a:spcAft>
              <a:buNone/>
            </a:pPr>
            <a:r>
              <a:rPr lang="el"/>
              <a:t>  x.value = x.value.toUpperCase();}</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&lt;/head&gt;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Enter your name: &lt;input type="text" id="fname" onchange="myFunction()"&gt;</a:t>
            </a:r>
            <a:endParaRPr/>
          </a:p>
          <a:p>
            <a:pPr marL="0" lvl="0" indent="0" algn="l" rtl="0">
              <a:spcBef>
                <a:spcPts val="0"/>
              </a:spcBef>
              <a:spcAft>
                <a:spcPts val="0"/>
              </a:spcAft>
              <a:buNone/>
            </a:pPr>
            <a:r>
              <a:rPr lang="el"/>
              <a:t>&lt;p&gt;When you leave the input field, a function is triggered which transforms the input text to upper case.&lt;/p&gt;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p:txBody>
      </p:sp>
      <p:sp>
        <p:nvSpPr>
          <p:cNvPr id="272" name="Google Shape;272;p32"/>
          <p:cNvSpPr txBox="1"/>
          <p:nvPr/>
        </p:nvSpPr>
        <p:spPr>
          <a:xfrm>
            <a:off x="1433825" y="4309000"/>
            <a:ext cx="7298100" cy="32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sz="1100" u="sng">
                <a:solidFill>
                  <a:schemeClr val="hlink"/>
                </a:solidFill>
                <a:hlinkClick r:id="rId3"/>
              </a:rPr>
              <a:t>https://www.w3schools.com/js/tryit.asp?filename=tryjs_onchange</a:t>
            </a:r>
            <a:endParaRPr/>
          </a:p>
        </p:txBody>
      </p:sp>
      <p:pic>
        <p:nvPicPr>
          <p:cNvPr id="273" name="Google Shape;273;p32"/>
          <p:cNvPicPr preferRelativeResize="0"/>
          <p:nvPr/>
        </p:nvPicPr>
        <p:blipFill>
          <a:blip r:embed="rId4">
            <a:alphaModFix/>
          </a:blip>
          <a:stretch>
            <a:fillRect/>
          </a:stretch>
        </p:blipFill>
        <p:spPr>
          <a:xfrm>
            <a:off x="2567375" y="983250"/>
            <a:ext cx="6286500" cy="781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3"/>
          <p:cNvSpPr txBox="1">
            <a:spLocks noGrp="1"/>
          </p:cNvSpPr>
          <p:nvPr>
            <p:ph type="title"/>
          </p:nvPr>
        </p:nvSpPr>
        <p:spPr>
          <a:xfrm>
            <a:off x="227425" y="276625"/>
            <a:ext cx="7505700" cy="55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Παράδειγμα3 με Event</a:t>
            </a:r>
            <a:endParaRPr/>
          </a:p>
        </p:txBody>
      </p:sp>
      <p:sp>
        <p:nvSpPr>
          <p:cNvPr id="279" name="Google Shape;279;p33"/>
          <p:cNvSpPr txBox="1">
            <a:spLocks noGrp="1"/>
          </p:cNvSpPr>
          <p:nvPr>
            <p:ph type="body" idx="1"/>
          </p:nvPr>
        </p:nvSpPr>
        <p:spPr>
          <a:xfrm>
            <a:off x="394325" y="1125875"/>
            <a:ext cx="7505700" cy="24480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l" sz="1100" u="sng">
                <a:solidFill>
                  <a:schemeClr val="hlink"/>
                </a:solidFill>
                <a:latin typeface="Arial"/>
                <a:ea typeface="Arial"/>
                <a:cs typeface="Arial"/>
                <a:sym typeface="Arial"/>
                <a:hlinkClick r:id="rId3"/>
              </a:rPr>
              <a:t>https://www.w3schools.com/js/tryit.asp?filename=tryjs_events_mousedown</a:t>
            </a:r>
            <a:r>
              <a:rPr lang="el"/>
              <a:t> (onmouseup, onmousedown)</a:t>
            </a:r>
            <a:endParaRPr/>
          </a:p>
          <a:p>
            <a:pPr marL="457200" lvl="0" indent="-311150" algn="l" rtl="0">
              <a:spcBef>
                <a:spcPts val="0"/>
              </a:spcBef>
              <a:spcAft>
                <a:spcPts val="0"/>
              </a:spcAft>
              <a:buSzPts val="1300"/>
              <a:buChar char="●"/>
            </a:pPr>
            <a:r>
              <a:rPr lang="el" sz="1100" u="sng">
                <a:solidFill>
                  <a:schemeClr val="hlink"/>
                </a:solidFill>
                <a:latin typeface="Arial"/>
                <a:ea typeface="Arial"/>
                <a:cs typeface="Arial"/>
                <a:sym typeface="Arial"/>
                <a:hlinkClick r:id="rId4"/>
              </a:rPr>
              <a:t>https://www.w3schools.com/js/tryit.asp?filename=tryjs_events_mouseover</a:t>
            </a:r>
            <a:r>
              <a:rPr lang="el"/>
              <a:t> (onmouseover, onmouseout)</a:t>
            </a:r>
            <a:endParaRPr/>
          </a:p>
          <a:p>
            <a:pPr marL="457200" lvl="0" indent="-311150" algn="l" rtl="0">
              <a:spcBef>
                <a:spcPts val="0"/>
              </a:spcBef>
              <a:spcAft>
                <a:spcPts val="0"/>
              </a:spcAft>
              <a:buSzPts val="1300"/>
              <a:buChar char="●"/>
            </a:pPr>
            <a:r>
              <a:rPr lang="el" sz="1100" u="sng">
                <a:solidFill>
                  <a:schemeClr val="hlink"/>
                </a:solidFill>
                <a:latin typeface="Arial"/>
                <a:ea typeface="Arial"/>
                <a:cs typeface="Arial"/>
                <a:sym typeface="Arial"/>
                <a:hlinkClick r:id="rId5"/>
              </a:rPr>
              <a:t>https://www.w3schools.com/js/tryit.asp?filename=tryjs_event_onmousedown</a:t>
            </a:r>
            <a:endParaRPr/>
          </a:p>
          <a:p>
            <a:pPr marL="457200" lvl="0" indent="-311150" algn="l" rtl="0">
              <a:spcBef>
                <a:spcPts val="0"/>
              </a:spcBef>
              <a:spcAft>
                <a:spcPts val="0"/>
              </a:spcAft>
              <a:buSzPts val="1300"/>
              <a:buChar char="●"/>
            </a:pPr>
            <a:r>
              <a:rPr lang="el" sz="1100" u="sng">
                <a:solidFill>
                  <a:schemeClr val="hlink"/>
                </a:solidFill>
                <a:latin typeface="Arial"/>
                <a:ea typeface="Arial"/>
                <a:cs typeface="Arial"/>
                <a:sym typeface="Arial"/>
                <a:hlinkClick r:id="rId6"/>
              </a:rPr>
              <a:t>https://www.w3schools.com/js/tryit.asp?filename=tryjs_event_onload</a:t>
            </a:r>
            <a:endParaRPr/>
          </a:p>
          <a:p>
            <a:pPr marL="457200" lvl="0" indent="-311150" algn="l" rtl="0">
              <a:spcBef>
                <a:spcPts val="0"/>
              </a:spcBef>
              <a:spcAft>
                <a:spcPts val="0"/>
              </a:spcAft>
              <a:buSzPts val="1300"/>
              <a:buChar char="●"/>
            </a:pPr>
            <a:r>
              <a:rPr lang="el" sz="1100" u="sng">
                <a:solidFill>
                  <a:schemeClr val="hlink"/>
                </a:solidFill>
                <a:latin typeface="Arial"/>
                <a:ea typeface="Arial"/>
                <a:cs typeface="Arial"/>
                <a:sym typeface="Arial"/>
                <a:hlinkClick r:id="rId7"/>
              </a:rPr>
              <a:t>https://www.w3schools.com/js/tryit.asp?filename=tryjs_event_onfocus</a:t>
            </a:r>
            <a:endParaRPr/>
          </a:p>
          <a:p>
            <a:pPr marL="457200" lvl="0" indent="-311150" algn="l" rtl="0">
              <a:spcBef>
                <a:spcPts val="0"/>
              </a:spcBef>
              <a:spcAft>
                <a:spcPts val="0"/>
              </a:spcAft>
              <a:buSzPts val="1300"/>
              <a:buChar char="●"/>
            </a:pPr>
            <a:r>
              <a:rPr lang="el" sz="1100" u="sng">
                <a:solidFill>
                  <a:schemeClr val="hlink"/>
                </a:solidFill>
                <a:latin typeface="Arial"/>
                <a:ea typeface="Arial"/>
                <a:cs typeface="Arial"/>
                <a:sym typeface="Arial"/>
                <a:hlinkClick r:id="rId8"/>
              </a:rPr>
              <a:t>https://www.w3schools.com/js/tryit.asp?filename=tryjs_event_onmouse</a:t>
            </a:r>
            <a:endParaRPr/>
          </a:p>
          <a:p>
            <a:pPr marL="457200" lvl="0" indent="-311150" algn="l" rtl="0">
              <a:spcBef>
                <a:spcPts val="0"/>
              </a:spcBef>
              <a:spcAft>
                <a:spcPts val="0"/>
              </a:spcAft>
              <a:buSzPts val="1300"/>
              <a:buChar char="●"/>
            </a:pPr>
            <a:r>
              <a:rPr lang="el" sz="1100" u="sng">
                <a:solidFill>
                  <a:schemeClr val="hlink"/>
                </a:solidFill>
                <a:latin typeface="Arial"/>
                <a:ea typeface="Arial"/>
                <a:cs typeface="Arial"/>
                <a:sym typeface="Arial"/>
                <a:hlinkClick r:id="rId9"/>
              </a:rPr>
              <a:t>https://www.w3schools.com/js/tryit.asp?filename=tryjs_alert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4"/>
          <p:cNvSpPr txBox="1"/>
          <p:nvPr/>
        </p:nvSpPr>
        <p:spPr>
          <a:xfrm>
            <a:off x="348975" y="955900"/>
            <a:ext cx="82995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endParaRPr/>
          </a:p>
          <a:p>
            <a:pPr marL="0" lvl="0" indent="0" algn="l" rtl="0">
              <a:spcBef>
                <a:spcPts val="0"/>
              </a:spcBef>
              <a:spcAft>
                <a:spcPts val="0"/>
              </a:spcAft>
              <a:buNone/>
            </a:pPr>
            <a:r>
              <a:rPr lang="el"/>
              <a:t>&lt;h1&gt;Show a Push Button&lt;/h1&gt;</a:t>
            </a:r>
            <a:endParaRPr/>
          </a:p>
          <a:p>
            <a:pPr marL="0" lvl="0" indent="0" algn="l" rtl="0">
              <a:spcBef>
                <a:spcPts val="0"/>
              </a:spcBef>
              <a:spcAft>
                <a:spcPts val="0"/>
              </a:spcAft>
              <a:buNone/>
            </a:pPr>
            <a:endParaRPr/>
          </a:p>
          <a:p>
            <a:pPr marL="0" lvl="0" indent="0" algn="l" rtl="0">
              <a:spcBef>
                <a:spcPts val="0"/>
              </a:spcBef>
              <a:spcAft>
                <a:spcPts val="0"/>
              </a:spcAft>
              <a:buNone/>
            </a:pPr>
            <a:r>
              <a:rPr lang="el"/>
              <a:t>&lt;p&gt;The button below activates a JavaScript when it is clicked.&lt;/p&gt;</a:t>
            </a:r>
            <a:endParaRPr/>
          </a:p>
          <a:p>
            <a:pPr marL="0" lvl="0" indent="0" algn="l" rtl="0">
              <a:spcBef>
                <a:spcPts val="0"/>
              </a:spcBef>
              <a:spcAft>
                <a:spcPts val="0"/>
              </a:spcAft>
              <a:buNone/>
            </a:pPr>
            <a:r>
              <a:rPr lang="el"/>
              <a:t>&lt;form&gt;</a:t>
            </a:r>
            <a:endParaRPr/>
          </a:p>
          <a:p>
            <a:pPr marL="0" lvl="0" indent="0" algn="l" rtl="0">
              <a:spcBef>
                <a:spcPts val="0"/>
              </a:spcBef>
              <a:spcAft>
                <a:spcPts val="0"/>
              </a:spcAft>
              <a:buNone/>
            </a:pPr>
            <a:r>
              <a:rPr lang="el"/>
              <a:t>  &lt;input type="button" value="Click me" onclick="document.getElementById('t1').value = 'JavaScript'"&gt;</a:t>
            </a:r>
            <a:endParaRPr/>
          </a:p>
          <a:p>
            <a:pPr marL="0" lvl="0" indent="0" algn="l" rtl="0">
              <a:spcBef>
                <a:spcPts val="0"/>
              </a:spcBef>
              <a:spcAft>
                <a:spcPts val="0"/>
              </a:spcAft>
              <a:buNone/>
            </a:pPr>
            <a:r>
              <a:rPr lang="el"/>
              <a:t>  &lt;input type="text" id="t1"&gt;</a:t>
            </a:r>
            <a:endParaRPr/>
          </a:p>
          <a:p>
            <a:pPr marL="0" lvl="0" indent="0" algn="l" rtl="0">
              <a:spcBef>
                <a:spcPts val="0"/>
              </a:spcBef>
              <a:spcAft>
                <a:spcPts val="0"/>
              </a:spcAft>
              <a:buNone/>
            </a:pPr>
            <a:r>
              <a:rPr lang="el"/>
              <a:t>&lt;/form&gt;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p:txBody>
      </p:sp>
      <p:sp>
        <p:nvSpPr>
          <p:cNvPr id="285" name="Google Shape;285;p34"/>
          <p:cNvSpPr txBox="1">
            <a:spLocks noGrp="1"/>
          </p:cNvSpPr>
          <p:nvPr>
            <p:ph type="title"/>
          </p:nvPr>
        </p:nvSpPr>
        <p:spPr>
          <a:xfrm>
            <a:off x="227425" y="276625"/>
            <a:ext cx="7505700" cy="55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Παράδειγμα4 με Event </a:t>
            </a:r>
            <a:endParaRPr/>
          </a:p>
        </p:txBody>
      </p:sp>
      <p:sp>
        <p:nvSpPr>
          <p:cNvPr id="286" name="Google Shape;286;p34"/>
          <p:cNvSpPr txBox="1"/>
          <p:nvPr/>
        </p:nvSpPr>
        <p:spPr>
          <a:xfrm>
            <a:off x="4688325" y="1069650"/>
            <a:ext cx="3816000" cy="60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sz="3000">
                <a:solidFill>
                  <a:schemeClr val="lt1"/>
                </a:solidFill>
                <a:latin typeface="Nunito"/>
                <a:ea typeface="Nunito"/>
                <a:cs typeface="Nunito"/>
                <a:sym typeface="Nunito"/>
              </a:rPr>
              <a:t>Τι Πιστεύετε ότι κάνει;</a:t>
            </a:r>
            <a:endParaRPr sz="3000">
              <a:solidFill>
                <a:schemeClr val="lt1"/>
              </a:solidFill>
              <a:latin typeface="Nunito"/>
              <a:ea typeface="Nunito"/>
              <a:cs typeface="Nunito"/>
              <a:sym typeface="Nuni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5"/>
          <p:cNvSpPr txBox="1">
            <a:spLocks noGrp="1"/>
          </p:cNvSpPr>
          <p:nvPr>
            <p:ph type="title"/>
          </p:nvPr>
        </p:nvSpPr>
        <p:spPr>
          <a:xfrm>
            <a:off x="485350" y="223525"/>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Άσκηση1 με Events </a:t>
            </a:r>
            <a:endParaRPr/>
          </a:p>
        </p:txBody>
      </p:sp>
      <p:sp>
        <p:nvSpPr>
          <p:cNvPr id="292" name="Google Shape;292;p35"/>
          <p:cNvSpPr txBox="1"/>
          <p:nvPr/>
        </p:nvSpPr>
        <p:spPr>
          <a:xfrm>
            <a:off x="306500" y="831525"/>
            <a:ext cx="6494100" cy="4090800"/>
          </a:xfrm>
          <a:prstGeom prst="rect">
            <a:avLst/>
          </a:prstGeom>
          <a:solidFill>
            <a:srgbClr val="D9EAD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&lt;html&gt;&lt;boby&gt;&lt;form&gt;</a:t>
            </a:r>
            <a:endParaRPr/>
          </a:p>
          <a:p>
            <a:pPr marL="0" lvl="0" indent="0" algn="l" rtl="0">
              <a:spcBef>
                <a:spcPts val="0"/>
              </a:spcBef>
              <a:spcAft>
                <a:spcPts val="0"/>
              </a:spcAft>
              <a:buNone/>
            </a:pPr>
            <a:r>
              <a:rPr lang="el"/>
              <a:t>  &lt;label id="fname"&gt;First name:&lt;/label&gt;&lt;br&gt;</a:t>
            </a:r>
            <a:endParaRPr/>
          </a:p>
          <a:p>
            <a:pPr marL="0" lvl="0" indent="0" algn="l" rtl="0">
              <a:spcBef>
                <a:spcPts val="0"/>
              </a:spcBef>
              <a:spcAft>
                <a:spcPts val="0"/>
              </a:spcAft>
              <a:buNone/>
            </a:pPr>
            <a:r>
              <a:rPr lang="el"/>
              <a:t>  &lt;input type="text" id="fn" name="fname"&gt;&lt;br&gt;</a:t>
            </a:r>
            <a:endParaRPr/>
          </a:p>
          <a:p>
            <a:pPr marL="0" lvl="0" indent="0" algn="l" rtl="0">
              <a:spcBef>
                <a:spcPts val="0"/>
              </a:spcBef>
              <a:spcAft>
                <a:spcPts val="0"/>
              </a:spcAft>
              <a:buNone/>
            </a:pPr>
            <a:r>
              <a:rPr lang="el"/>
              <a:t>  &lt;label id="lname"&gt;Last name:&lt;/label&gt;&lt;br&gt;</a:t>
            </a:r>
            <a:endParaRPr/>
          </a:p>
          <a:p>
            <a:pPr marL="0" lvl="0" indent="0" algn="l" rtl="0">
              <a:spcBef>
                <a:spcPts val="0"/>
              </a:spcBef>
              <a:spcAft>
                <a:spcPts val="0"/>
              </a:spcAft>
              <a:buNone/>
            </a:pPr>
            <a:r>
              <a:rPr lang="el"/>
              <a:t>  &lt;input type="text" id="ln" name="lname"&gt;&lt;br&gt;&lt;br&gt;&lt;br&gt;</a:t>
            </a:r>
            <a:endParaRPr/>
          </a:p>
          <a:p>
            <a:pPr marL="0" lvl="0" indent="0" algn="l" rtl="0">
              <a:spcBef>
                <a:spcPts val="0"/>
              </a:spcBef>
              <a:spcAft>
                <a:spcPts val="0"/>
              </a:spcAft>
              <a:buNone/>
            </a:pPr>
            <a:r>
              <a:rPr lang="el"/>
              <a:t>&lt;input type="button" id="b1" value="Button1"&gt;  &lt;input type="text" id="tx1" name="lname"&gt;&lt;br&gt;</a:t>
            </a:r>
            <a:endParaRPr/>
          </a:p>
          <a:p>
            <a:pPr marL="0" lvl="0" indent="0" algn="l" rtl="0">
              <a:spcBef>
                <a:spcPts val="0"/>
              </a:spcBef>
              <a:spcAft>
                <a:spcPts val="0"/>
              </a:spcAft>
              <a:buNone/>
            </a:pPr>
            <a:r>
              <a:rPr lang="el"/>
              <a:t>&lt;input type="button" id="b2" value="Button2"&gt;  &lt;input type="text" id="tx2" name="lname"&gt;&lt;br&gt;</a:t>
            </a:r>
            <a:endParaRPr/>
          </a:p>
          <a:p>
            <a:pPr marL="0" lvl="0" indent="0" algn="l" rtl="0">
              <a:spcBef>
                <a:spcPts val="0"/>
              </a:spcBef>
              <a:spcAft>
                <a:spcPts val="0"/>
              </a:spcAft>
              <a:buNone/>
            </a:pPr>
            <a:r>
              <a:rPr lang="el"/>
              <a:t>&lt;input type="button" id="b3" value="Button3"&gt;  &lt;input type="text" id="tx3" name="lname"&gt;&lt;br&gt;&lt;br&gt;</a:t>
            </a:r>
            <a:endParaRPr/>
          </a:p>
          <a:p>
            <a:pPr marL="0" lvl="0" indent="0" algn="l" rtl="0">
              <a:spcBef>
                <a:spcPts val="0"/>
              </a:spcBef>
              <a:spcAft>
                <a:spcPts val="0"/>
              </a:spcAft>
              <a:buNone/>
            </a:pPr>
            <a:r>
              <a:rPr lang="el"/>
              <a:t>&lt;input type="radio" id="male" name="gender" value="male"&gt;</a:t>
            </a:r>
            <a:endParaRPr/>
          </a:p>
          <a:p>
            <a:pPr marL="0" lvl="0" indent="0" algn="l" rtl="0">
              <a:spcBef>
                <a:spcPts val="0"/>
              </a:spcBef>
              <a:spcAft>
                <a:spcPts val="0"/>
              </a:spcAft>
              <a:buNone/>
            </a:pPr>
            <a:r>
              <a:rPr lang="el"/>
              <a:t>  &lt;label for="male"&gt;Male&lt;/label&gt;&lt;br&gt;</a:t>
            </a:r>
            <a:endParaRPr/>
          </a:p>
          <a:p>
            <a:pPr marL="0" lvl="0" indent="0" algn="l" rtl="0">
              <a:spcBef>
                <a:spcPts val="0"/>
              </a:spcBef>
              <a:spcAft>
                <a:spcPts val="0"/>
              </a:spcAft>
              <a:buNone/>
            </a:pPr>
            <a:r>
              <a:rPr lang="el"/>
              <a:t>  &lt;input type="radio" id="female" name="gender" value="female"&gt;</a:t>
            </a:r>
            <a:endParaRPr/>
          </a:p>
          <a:p>
            <a:pPr marL="0" lvl="0" indent="0" algn="l" rtl="0">
              <a:spcBef>
                <a:spcPts val="0"/>
              </a:spcBef>
              <a:spcAft>
                <a:spcPts val="0"/>
              </a:spcAft>
              <a:buNone/>
            </a:pPr>
            <a:r>
              <a:rPr lang="el"/>
              <a:t>  &lt;label for="female"&gt;Female&lt;/label&gt;&lt;br&gt;</a:t>
            </a:r>
            <a:endParaRPr/>
          </a:p>
          <a:p>
            <a:pPr marL="0" lvl="0" indent="0" algn="l" rtl="0">
              <a:spcBef>
                <a:spcPts val="0"/>
              </a:spcBef>
              <a:spcAft>
                <a:spcPts val="0"/>
              </a:spcAft>
              <a:buNone/>
            </a:pPr>
            <a:r>
              <a:rPr lang="el"/>
              <a:t>  &lt;input type="radio" id="other" name="gender" value="other"&gt;</a:t>
            </a:r>
            <a:endParaRPr/>
          </a:p>
          <a:p>
            <a:pPr marL="0" lvl="0" indent="0" algn="l" rtl="0">
              <a:spcBef>
                <a:spcPts val="0"/>
              </a:spcBef>
              <a:spcAft>
                <a:spcPts val="0"/>
              </a:spcAft>
              <a:buNone/>
            </a:pPr>
            <a:r>
              <a:rPr lang="el"/>
              <a:t>  &lt;label for="other"&gt;Other&lt;/label&gt;&lt;br&gt;</a:t>
            </a:r>
            <a:endParaRPr/>
          </a:p>
          <a:p>
            <a:pPr marL="0" lvl="0" indent="0" algn="l" rtl="0">
              <a:spcBef>
                <a:spcPts val="0"/>
              </a:spcBef>
              <a:spcAft>
                <a:spcPts val="0"/>
              </a:spcAft>
              <a:buNone/>
            </a:pPr>
            <a:r>
              <a:rPr lang="el"/>
              <a:t>&lt;input type="button" id="b3" value="Button4"&gt;</a:t>
            </a:r>
            <a:endParaRPr/>
          </a:p>
          <a:p>
            <a:pPr marL="0" lvl="0" indent="0" algn="l" rtl="0">
              <a:spcBef>
                <a:spcPts val="0"/>
              </a:spcBef>
              <a:spcAft>
                <a:spcPts val="0"/>
              </a:spcAft>
              <a:buNone/>
            </a:pPr>
            <a:r>
              <a:rPr lang="el"/>
              <a:t>&lt;/form&gt;&lt;/body&gt;</a:t>
            </a:r>
            <a:endParaRPr/>
          </a:p>
          <a:p>
            <a:pPr marL="0" lvl="0" indent="0" algn="l" rtl="0">
              <a:spcBef>
                <a:spcPts val="0"/>
              </a:spcBef>
              <a:spcAft>
                <a:spcPts val="0"/>
              </a:spcAft>
              <a:buNone/>
            </a:pPr>
            <a:endParaRPr/>
          </a:p>
        </p:txBody>
      </p:sp>
      <p:pic>
        <p:nvPicPr>
          <p:cNvPr id="293" name="Google Shape;293;p35"/>
          <p:cNvPicPr preferRelativeResize="0"/>
          <p:nvPr/>
        </p:nvPicPr>
        <p:blipFill>
          <a:blip r:embed="rId3">
            <a:alphaModFix/>
          </a:blip>
          <a:stretch>
            <a:fillRect/>
          </a:stretch>
        </p:blipFill>
        <p:spPr>
          <a:xfrm>
            <a:off x="6651175" y="517425"/>
            <a:ext cx="2038600" cy="230036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6"/>
          <p:cNvSpPr txBox="1">
            <a:spLocks noGrp="1"/>
          </p:cNvSpPr>
          <p:nvPr>
            <p:ph type="title"/>
          </p:nvPr>
        </p:nvSpPr>
        <p:spPr>
          <a:xfrm>
            <a:off x="485350" y="223525"/>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Άσκηση1 με Events </a:t>
            </a:r>
            <a:endParaRPr/>
          </a:p>
        </p:txBody>
      </p:sp>
      <p:sp>
        <p:nvSpPr>
          <p:cNvPr id="299" name="Google Shape;299;p36"/>
          <p:cNvSpPr txBox="1"/>
          <p:nvPr/>
        </p:nvSpPr>
        <p:spPr>
          <a:xfrm>
            <a:off x="306500" y="831525"/>
            <a:ext cx="6494100" cy="3586200"/>
          </a:xfrm>
          <a:prstGeom prst="rect">
            <a:avLst/>
          </a:prstGeom>
          <a:solidFill>
            <a:srgbClr val="D9EAD3"/>
          </a:solid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AutoNum type="arabicPeriod"/>
            </a:pPr>
            <a:r>
              <a:rPr lang="el"/>
              <a:t>Πατώντας το κουμπί Button1 να εμφανίζεται αναδυόμενο παρά΄θυρο "Καλημέρα"</a:t>
            </a:r>
            <a:endParaRPr/>
          </a:p>
          <a:p>
            <a:pPr marL="457200" lvl="0" indent="-317500" algn="l" rtl="0">
              <a:spcBef>
                <a:spcPts val="0"/>
              </a:spcBef>
              <a:spcAft>
                <a:spcPts val="0"/>
              </a:spcAft>
              <a:buSzPts val="1400"/>
              <a:buAutoNum type="arabicPeriod"/>
            </a:pPr>
            <a:r>
              <a:rPr lang="el"/>
              <a:t>Πατώντας το κουμπί Button2 να εμφανίζεται στο διπλανό πεδίο κειμένου η λέξη hello Kitty</a:t>
            </a:r>
            <a:endParaRPr/>
          </a:p>
          <a:p>
            <a:pPr marL="457200" lvl="0" indent="-317500" algn="l" rtl="0">
              <a:spcBef>
                <a:spcPts val="0"/>
              </a:spcBef>
              <a:spcAft>
                <a:spcPts val="0"/>
              </a:spcAft>
              <a:buSzPts val="1400"/>
              <a:buAutoNum type="arabicPeriod"/>
            </a:pPr>
            <a:r>
              <a:rPr lang="el"/>
              <a:t>Πατώντας το κουμπί Button3 να εμφανίζεται στο διπλανό πεδίο κειμένου περιεχόμενο του last name kai First name</a:t>
            </a:r>
            <a:endParaRPr/>
          </a:p>
          <a:p>
            <a:pPr marL="457200" lvl="0" indent="-317500" algn="l" rtl="0">
              <a:spcBef>
                <a:spcPts val="0"/>
              </a:spcBef>
              <a:spcAft>
                <a:spcPts val="0"/>
              </a:spcAft>
              <a:buSzPts val="1400"/>
              <a:buAutoNum type="arabicPeriod"/>
            </a:pPr>
            <a:r>
              <a:rPr lang="el"/>
              <a:t>Βάζοντας το ποντίκι πάνω απο το Button1 να εμφανίζεται στο διπλανό πεδίο κειμένου to περιεχόμενο του First Name</a:t>
            </a:r>
            <a:endParaRPr/>
          </a:p>
          <a:p>
            <a:pPr marL="457200" lvl="0" indent="-317500" algn="l" rtl="0">
              <a:spcBef>
                <a:spcPts val="0"/>
              </a:spcBef>
              <a:spcAft>
                <a:spcPts val="0"/>
              </a:spcAft>
              <a:buSzPts val="1400"/>
              <a:buAutoNum type="arabicPeriod"/>
            </a:pPr>
            <a:r>
              <a:rPr lang="el"/>
              <a:t>Κάθε φορά που αλλάζει η επιλογή φύλο να εμφανίζεται σε pop up παράθυρο το φύλο</a:t>
            </a:r>
            <a:endParaRPr/>
          </a:p>
          <a:p>
            <a:pPr marL="457200" lvl="0" indent="-317500" algn="l" rtl="0">
              <a:spcBef>
                <a:spcPts val="0"/>
              </a:spcBef>
              <a:spcAft>
                <a:spcPts val="0"/>
              </a:spcAft>
              <a:buSzPts val="1400"/>
              <a:buAutoNum type="arabicPeriod"/>
            </a:pPr>
            <a:r>
              <a:rPr lang="el"/>
              <a:t>¨Οταν πατάμε το κουμπί Button3 το φόντο της ιστοσελίδας να γίνεται πράσινο και το χρώμα των γραμμάτων άσπρο</a:t>
            </a:r>
            <a:endParaRPr/>
          </a:p>
          <a:p>
            <a:pPr marL="0" lvl="0" indent="0" algn="l" rtl="0">
              <a:spcBef>
                <a:spcPts val="0"/>
              </a:spcBef>
              <a:spcAft>
                <a:spcPts val="0"/>
              </a:spcAft>
              <a:buNone/>
            </a:pPr>
            <a:endParaRPr/>
          </a:p>
        </p:txBody>
      </p:sp>
      <p:pic>
        <p:nvPicPr>
          <p:cNvPr id="300" name="Google Shape;300;p36"/>
          <p:cNvPicPr preferRelativeResize="0"/>
          <p:nvPr/>
        </p:nvPicPr>
        <p:blipFill>
          <a:blip r:embed="rId3">
            <a:alphaModFix/>
          </a:blip>
          <a:stretch>
            <a:fillRect/>
          </a:stretch>
        </p:blipFill>
        <p:spPr>
          <a:xfrm>
            <a:off x="6651175" y="517425"/>
            <a:ext cx="2038600" cy="230036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7"/>
          <p:cNvSpPr txBox="1">
            <a:spLocks noGrp="1"/>
          </p:cNvSpPr>
          <p:nvPr>
            <p:ph type="title"/>
          </p:nvPr>
        </p:nvSpPr>
        <p:spPr>
          <a:xfrm>
            <a:off x="371575" y="251600"/>
            <a:ext cx="7505700" cy="57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Λύση Άσκησης 1 με Events</a:t>
            </a:r>
            <a:endParaRPr/>
          </a:p>
        </p:txBody>
      </p:sp>
      <p:sp>
        <p:nvSpPr>
          <p:cNvPr id="306" name="Google Shape;306;p37"/>
          <p:cNvSpPr txBox="1"/>
          <p:nvPr/>
        </p:nvSpPr>
        <p:spPr>
          <a:xfrm>
            <a:off x="235175" y="739525"/>
            <a:ext cx="7707600" cy="4005600"/>
          </a:xfrm>
          <a:prstGeom prst="rect">
            <a:avLst/>
          </a:prstGeom>
          <a:solidFill>
            <a:srgbClr val="FFF2CC"/>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sz="1200"/>
              <a:t>&lt;html&gt;&lt;boby&gt;&lt;form&gt;</a:t>
            </a:r>
            <a:endParaRPr sz="1200"/>
          </a:p>
          <a:p>
            <a:pPr marL="0" lvl="0" indent="0" algn="l" rtl="0">
              <a:spcBef>
                <a:spcPts val="0"/>
              </a:spcBef>
              <a:spcAft>
                <a:spcPts val="0"/>
              </a:spcAft>
              <a:buNone/>
            </a:pPr>
            <a:r>
              <a:rPr lang="el" sz="1200"/>
              <a:t>  &lt;label id="fname"&gt;First name:&lt;/label&gt;&lt;br&gt;</a:t>
            </a:r>
            <a:endParaRPr sz="1200"/>
          </a:p>
          <a:p>
            <a:pPr marL="0" lvl="0" indent="0" algn="l" rtl="0">
              <a:spcBef>
                <a:spcPts val="0"/>
              </a:spcBef>
              <a:spcAft>
                <a:spcPts val="0"/>
              </a:spcAft>
              <a:buNone/>
            </a:pPr>
            <a:r>
              <a:rPr lang="el" sz="1200"/>
              <a:t>  &lt;input type="text" id="fn" name="fname"&gt;&lt;br&gt;</a:t>
            </a:r>
            <a:endParaRPr sz="1200"/>
          </a:p>
          <a:p>
            <a:pPr marL="0" lvl="0" indent="0" algn="l" rtl="0">
              <a:spcBef>
                <a:spcPts val="0"/>
              </a:spcBef>
              <a:spcAft>
                <a:spcPts val="0"/>
              </a:spcAft>
              <a:buNone/>
            </a:pPr>
            <a:r>
              <a:rPr lang="el" sz="1200"/>
              <a:t>  &lt;label id="lname"&gt;Last name:&lt;/label&gt;&lt;br&gt;</a:t>
            </a:r>
            <a:endParaRPr sz="1200"/>
          </a:p>
          <a:p>
            <a:pPr marL="0" lvl="0" indent="0" algn="l" rtl="0">
              <a:spcBef>
                <a:spcPts val="0"/>
              </a:spcBef>
              <a:spcAft>
                <a:spcPts val="0"/>
              </a:spcAft>
              <a:buNone/>
            </a:pPr>
            <a:r>
              <a:rPr lang="el" sz="1200"/>
              <a:t>  &lt;input type="text" id="ln" name="lname"&gt;&lt;br&gt;&lt;br&gt;&lt;br&gt;</a:t>
            </a:r>
            <a:endParaRPr sz="1200"/>
          </a:p>
          <a:p>
            <a:pPr marL="0" lvl="0" indent="0" algn="l" rtl="0">
              <a:spcBef>
                <a:spcPts val="0"/>
              </a:spcBef>
              <a:spcAft>
                <a:spcPts val="0"/>
              </a:spcAft>
              <a:buNone/>
            </a:pPr>
            <a:r>
              <a:rPr lang="el" sz="1200"/>
              <a:t>&lt;input type="button" id="b1" value="Button1" onclick="alert('hello')" onmouseover="document.getElementById('tx1').value=document.getElementById('fn').value"&gt;</a:t>
            </a:r>
            <a:endParaRPr sz="1200"/>
          </a:p>
          <a:p>
            <a:pPr marL="0" lvl="0" indent="0" algn="l" rtl="0">
              <a:spcBef>
                <a:spcPts val="0"/>
              </a:spcBef>
              <a:spcAft>
                <a:spcPts val="0"/>
              </a:spcAft>
              <a:buNone/>
            </a:pPr>
            <a:r>
              <a:rPr lang="el" sz="1200"/>
              <a:t>&lt;input type="text" id="tx1" name="lname"&gt;&lt;br&gt;</a:t>
            </a:r>
            <a:endParaRPr sz="1200"/>
          </a:p>
          <a:p>
            <a:pPr marL="0" lvl="0" indent="0" algn="l" rtl="0">
              <a:spcBef>
                <a:spcPts val="0"/>
              </a:spcBef>
              <a:spcAft>
                <a:spcPts val="0"/>
              </a:spcAft>
              <a:buNone/>
            </a:pPr>
            <a:r>
              <a:rPr lang="el" sz="1200"/>
              <a:t>&lt;input type="button" id="b2" value="Button2" onclick="document.getElementById('tx2').value='Hello Kitty'"&gt;</a:t>
            </a:r>
            <a:endParaRPr sz="1200"/>
          </a:p>
          <a:p>
            <a:pPr marL="0" lvl="0" indent="0" algn="l" rtl="0">
              <a:spcBef>
                <a:spcPts val="0"/>
              </a:spcBef>
              <a:spcAft>
                <a:spcPts val="0"/>
              </a:spcAft>
              <a:buNone/>
            </a:pPr>
            <a:r>
              <a:rPr lang="el" sz="1200"/>
              <a:t>&lt;input type="text" id="tx2" name="lname"&gt;&lt;br&gt;</a:t>
            </a:r>
            <a:endParaRPr sz="1200"/>
          </a:p>
          <a:p>
            <a:pPr marL="0" lvl="0" indent="0" algn="l" rtl="0">
              <a:spcBef>
                <a:spcPts val="0"/>
              </a:spcBef>
              <a:spcAft>
                <a:spcPts val="0"/>
              </a:spcAft>
              <a:buNone/>
            </a:pPr>
            <a:r>
              <a:rPr lang="el" sz="1200"/>
              <a:t>&lt;input type="button" id="b3" value="Button3" onclick="document.getElementById('tx3').value=document.getElementById('fn').value+document.getElementById('ln').value"&gt;</a:t>
            </a:r>
            <a:endParaRPr sz="1200"/>
          </a:p>
          <a:p>
            <a:pPr marL="0" lvl="0" indent="0" algn="l" rtl="0">
              <a:spcBef>
                <a:spcPts val="0"/>
              </a:spcBef>
              <a:spcAft>
                <a:spcPts val="0"/>
              </a:spcAft>
              <a:buNone/>
            </a:pPr>
            <a:r>
              <a:rPr lang="el" sz="1200"/>
              <a:t>  &lt;input type="text" id="tx3" name="lname"&gt;&lt;br&gt;&lt;br&gt;</a:t>
            </a:r>
            <a:endParaRPr sz="1200"/>
          </a:p>
          <a:p>
            <a:pPr marL="0" lvl="0" indent="0" algn="l" rtl="0">
              <a:spcBef>
                <a:spcPts val="0"/>
              </a:spcBef>
              <a:spcAft>
                <a:spcPts val="0"/>
              </a:spcAft>
              <a:buNone/>
            </a:pPr>
            <a:r>
              <a:rPr lang="el" sz="1200"/>
              <a:t>&lt;input type="radio" id="male" name="gender" value="male" onchange="alert('male')"&gt;</a:t>
            </a:r>
            <a:endParaRPr sz="1200"/>
          </a:p>
          <a:p>
            <a:pPr marL="0" lvl="0" indent="0" algn="l" rtl="0">
              <a:spcBef>
                <a:spcPts val="0"/>
              </a:spcBef>
              <a:spcAft>
                <a:spcPts val="0"/>
              </a:spcAft>
              <a:buNone/>
            </a:pPr>
            <a:r>
              <a:rPr lang="el" sz="1200"/>
              <a:t>  &lt;label for="male"&gt;Male&lt;/label&gt;&lt;br&gt;</a:t>
            </a:r>
            <a:endParaRPr sz="1200"/>
          </a:p>
          <a:p>
            <a:pPr marL="0" lvl="0" indent="0" algn="l" rtl="0">
              <a:spcBef>
                <a:spcPts val="0"/>
              </a:spcBef>
              <a:spcAft>
                <a:spcPts val="0"/>
              </a:spcAft>
              <a:buNone/>
            </a:pPr>
            <a:r>
              <a:rPr lang="el" sz="1200"/>
              <a:t>  &lt;input type="radio" id="female" name="gender" value="female" onchange="alert('female')"&gt;</a:t>
            </a:r>
            <a:endParaRPr sz="1200"/>
          </a:p>
          <a:p>
            <a:pPr marL="0" lvl="0" indent="0" algn="l" rtl="0">
              <a:spcBef>
                <a:spcPts val="0"/>
              </a:spcBef>
              <a:spcAft>
                <a:spcPts val="0"/>
              </a:spcAft>
              <a:buNone/>
            </a:pPr>
            <a:r>
              <a:rPr lang="el" sz="1200"/>
              <a:t>  &lt;label for="female"&gt;Female&lt;/label&gt;&lt;br&gt;</a:t>
            </a:r>
            <a:endParaRPr sz="1200"/>
          </a:p>
          <a:p>
            <a:pPr marL="0" lvl="0" indent="0" algn="l" rtl="0">
              <a:spcBef>
                <a:spcPts val="0"/>
              </a:spcBef>
              <a:spcAft>
                <a:spcPts val="0"/>
              </a:spcAft>
              <a:buNone/>
            </a:pPr>
            <a:r>
              <a:rPr lang="el" sz="1200"/>
              <a:t>  &lt;input type="radio" id="other" name="gender" value="other" onchange="alert('other')"&gt;</a:t>
            </a:r>
            <a:endParaRPr sz="1200"/>
          </a:p>
          <a:p>
            <a:pPr marL="0" lvl="0" indent="0" algn="l" rtl="0">
              <a:spcBef>
                <a:spcPts val="0"/>
              </a:spcBef>
              <a:spcAft>
                <a:spcPts val="0"/>
              </a:spcAft>
              <a:buNone/>
            </a:pPr>
            <a:r>
              <a:rPr lang="el" sz="1200"/>
              <a:t>  &lt;label for="other"&gt;Other&lt;/label&gt;&lt;br&gt;</a:t>
            </a:r>
            <a:endParaRPr sz="1200"/>
          </a:p>
          <a:p>
            <a:pPr marL="0" lvl="0" indent="0" algn="l" rtl="0">
              <a:spcBef>
                <a:spcPts val="0"/>
              </a:spcBef>
              <a:spcAft>
                <a:spcPts val="0"/>
              </a:spcAft>
              <a:buNone/>
            </a:pPr>
            <a:r>
              <a:rPr lang="el" sz="1200"/>
              <a:t>&lt;input type="button" id="b3" value="Button4" onclick="body.style.backgroundColor='green';body.style.color='white'"&gt;&lt;/form&gt;&lt;/body&gt;</a:t>
            </a:r>
            <a:endParaRPr sz="1200"/>
          </a:p>
          <a:p>
            <a:pPr marL="0" lvl="0" indent="0" algn="l"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8"/>
          <p:cNvSpPr txBox="1">
            <a:spLocks noGrp="1"/>
          </p:cNvSpPr>
          <p:nvPr>
            <p:ph type="title"/>
          </p:nvPr>
        </p:nvSpPr>
        <p:spPr>
          <a:xfrm>
            <a:off x="311700" y="111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Άσκηση2 με Events </a:t>
            </a:r>
            <a:endParaRPr/>
          </a:p>
        </p:txBody>
      </p:sp>
      <p:sp>
        <p:nvSpPr>
          <p:cNvPr id="312" name="Google Shape;312;p38"/>
          <p:cNvSpPr txBox="1"/>
          <p:nvPr/>
        </p:nvSpPr>
        <p:spPr>
          <a:xfrm>
            <a:off x="311700" y="615650"/>
            <a:ext cx="4642200" cy="4376100"/>
          </a:xfrm>
          <a:prstGeom prst="rect">
            <a:avLst/>
          </a:prstGeom>
          <a:solidFill>
            <a:srgbClr val="B6D7A8"/>
          </a:solidFill>
          <a:ln w="9525" cap="flat" cmpd="sng">
            <a:solidFill>
              <a:srgbClr val="000000"/>
            </a:solidFill>
            <a:prstDash val="dashDot"/>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 &gt;</a:t>
            </a:r>
            <a:endParaRPr/>
          </a:p>
          <a:p>
            <a:pPr marL="0" lvl="0" indent="0" algn="l" rtl="0">
              <a:spcBef>
                <a:spcPts val="0"/>
              </a:spcBef>
              <a:spcAft>
                <a:spcPts val="0"/>
              </a:spcAft>
              <a:buNone/>
            </a:pPr>
            <a:endParaRPr/>
          </a:p>
          <a:p>
            <a:pPr marL="0" lvl="0" indent="0" algn="l" rtl="0">
              <a:spcBef>
                <a:spcPts val="0"/>
              </a:spcBef>
              <a:spcAft>
                <a:spcPts val="0"/>
              </a:spcAft>
              <a:buNone/>
            </a:pPr>
            <a:r>
              <a:rPr lang="el"/>
              <a:t>&lt;h2&gt;HTML Image&lt;/h2&gt;</a:t>
            </a:r>
            <a:endParaRPr/>
          </a:p>
          <a:p>
            <a:pPr marL="0" lvl="0" indent="0" algn="l" rtl="0">
              <a:spcBef>
                <a:spcPts val="0"/>
              </a:spcBef>
              <a:spcAft>
                <a:spcPts val="0"/>
              </a:spcAft>
              <a:buNone/>
            </a:pPr>
            <a:r>
              <a:rPr lang="el"/>
              <a:t>&lt;input type="button" id="b1" value="+"&gt;</a:t>
            </a:r>
            <a:endParaRPr/>
          </a:p>
          <a:p>
            <a:pPr marL="0" lvl="0" indent="0" algn="l" rtl="0">
              <a:spcBef>
                <a:spcPts val="0"/>
              </a:spcBef>
              <a:spcAft>
                <a:spcPts val="0"/>
              </a:spcAft>
              <a:buNone/>
            </a:pPr>
            <a:r>
              <a:rPr lang="el"/>
              <a:t>&lt;input type="button" id="b2" value="-"&gt;</a:t>
            </a:r>
            <a:endParaRPr/>
          </a:p>
          <a:p>
            <a:pPr marL="0" lvl="0" indent="0" algn="l" rtl="0">
              <a:spcBef>
                <a:spcPts val="0"/>
              </a:spcBef>
              <a:spcAft>
                <a:spcPts val="0"/>
              </a:spcAft>
              <a:buNone/>
            </a:pPr>
            <a:endParaRPr/>
          </a:p>
          <a:p>
            <a:pPr marL="0" lvl="0" indent="0" algn="l" rtl="0">
              <a:spcBef>
                <a:spcPts val="0"/>
              </a:spcBef>
              <a:spcAft>
                <a:spcPts val="0"/>
              </a:spcAft>
              <a:buNone/>
            </a:pPr>
            <a:r>
              <a:rPr lang="el"/>
              <a:t>&lt;br&gt;&lt;br&gt;</a:t>
            </a:r>
            <a:endParaRPr/>
          </a:p>
          <a:p>
            <a:pPr marL="0" lvl="0" indent="0" algn="l" rtl="0">
              <a:spcBef>
                <a:spcPts val="0"/>
              </a:spcBef>
              <a:spcAft>
                <a:spcPts val="0"/>
              </a:spcAft>
              <a:buNone/>
            </a:pPr>
            <a:r>
              <a:rPr lang="el"/>
              <a:t>&lt;img src="1.png" alt="Trulli" width="100" height="100" id="im" &gt;&lt;br&gt;&lt;br&gt;</a:t>
            </a:r>
            <a:endParaRPr/>
          </a:p>
          <a:p>
            <a:pPr marL="0" lvl="0" indent="0" algn="l" rtl="0">
              <a:spcBef>
                <a:spcPts val="0"/>
              </a:spcBef>
              <a:spcAft>
                <a:spcPts val="0"/>
              </a:spcAft>
              <a:buNone/>
            </a:pP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a:p>
            <a:pPr marL="0" lvl="0" indent="0" algn="l" rtl="0">
              <a:spcBef>
                <a:spcPts val="0"/>
              </a:spcBef>
              <a:spcAft>
                <a:spcPts val="0"/>
              </a:spcAft>
              <a:buNone/>
            </a:pPr>
            <a:endParaRPr/>
          </a:p>
        </p:txBody>
      </p:sp>
      <p:sp>
        <p:nvSpPr>
          <p:cNvPr id="313" name="Google Shape;313;p38"/>
          <p:cNvSpPr txBox="1"/>
          <p:nvPr/>
        </p:nvSpPr>
        <p:spPr>
          <a:xfrm>
            <a:off x="5082825" y="307725"/>
            <a:ext cx="3876600" cy="4137900"/>
          </a:xfrm>
          <a:prstGeom prst="rect">
            <a:avLst/>
          </a:prstGeom>
          <a:solidFill>
            <a:srgbClr val="FFF2CC"/>
          </a:solidFill>
          <a:ln w="9525" cap="flat" cmpd="sng">
            <a:solidFill>
              <a:srgbClr val="000000"/>
            </a:solidFill>
            <a:prstDash val="dashDot"/>
            <a:round/>
            <a:headEnd type="none" w="sm" len="sm"/>
            <a:tailEnd type="none" w="sm" len="sm"/>
          </a:ln>
        </p:spPr>
        <p:txBody>
          <a:bodyPr spcFirstLastPara="1" wrap="square" lIns="91425" tIns="91425" rIns="91425" bIns="91425" anchor="t" anchorCtr="0">
            <a:noAutofit/>
          </a:bodyPr>
          <a:lstStyle/>
          <a:p>
            <a:pPr marL="457200" lvl="0" indent="-317500" algn="l" rtl="0">
              <a:spcBef>
                <a:spcPts val="0"/>
              </a:spcBef>
              <a:spcAft>
                <a:spcPts val="0"/>
              </a:spcAft>
              <a:buSzPts val="1400"/>
              <a:buAutoNum type="arabicPeriod"/>
            </a:pPr>
            <a:r>
              <a:rPr lang="el"/>
              <a:t>Όταν το πατάμε το + να μεγαλώνει το πλάτος και το ύψος της εικόνας</a:t>
            </a:r>
            <a:endParaRPr/>
          </a:p>
          <a:p>
            <a:pPr marL="457200" lvl="0" indent="-317500" algn="l" rtl="0">
              <a:spcBef>
                <a:spcPts val="0"/>
              </a:spcBef>
              <a:spcAft>
                <a:spcPts val="0"/>
              </a:spcAft>
              <a:buSzPts val="1400"/>
              <a:buAutoNum type="arabicPeriod"/>
            </a:pPr>
            <a:r>
              <a:rPr lang="el"/>
              <a:t>Όταν το πατάμε το - να μειώνεται το πλάτος και το ύψος της εικόνας</a:t>
            </a:r>
            <a:endParaRPr/>
          </a:p>
          <a:p>
            <a:pPr marL="457200" lvl="0" indent="-317500" algn="l" rtl="0">
              <a:spcBef>
                <a:spcPts val="0"/>
              </a:spcBef>
              <a:spcAft>
                <a:spcPts val="0"/>
              </a:spcAft>
              <a:buSzPts val="1400"/>
              <a:buAutoNum type="arabicPeriod"/>
            </a:pPr>
            <a:r>
              <a:rPr lang="el"/>
              <a:t>Όταν το ποντίκι περνάει πάνω από την εικονα να αλλάξει η εικόνα</a:t>
            </a:r>
            <a:endParaRPr/>
          </a:p>
          <a:p>
            <a:pPr marL="457200" lvl="0" indent="-317500" algn="l" rtl="0">
              <a:spcBef>
                <a:spcPts val="0"/>
              </a:spcBef>
              <a:spcAft>
                <a:spcPts val="0"/>
              </a:spcAft>
              <a:buSzPts val="1400"/>
              <a:buAutoNum type="arabicPeriod"/>
            </a:pPr>
            <a:r>
              <a:rPr lang="el"/>
              <a:t>Όταν το ποντίκι φεύγει από την εικόνα να επανέρχεται η πρώτη εικόνα</a:t>
            </a:r>
            <a:endParaRPr/>
          </a:p>
          <a:p>
            <a:pPr marL="457200" lvl="0" indent="-317500" algn="l" rtl="0">
              <a:spcBef>
                <a:spcPts val="0"/>
              </a:spcBef>
              <a:spcAft>
                <a:spcPts val="0"/>
              </a:spcAft>
              <a:buSzPts val="1400"/>
              <a:buAutoNum type="arabicPeriod"/>
            </a:pPr>
            <a:r>
              <a:rPr lang="el"/>
              <a:t>Όταν φορτώνει η ιστοσελίδα να εμφανίζεται ένα αναδυόμενο παράθυρο που να λέει welcome</a:t>
            </a:r>
            <a:endParaRPr/>
          </a:p>
        </p:txBody>
      </p:sp>
      <p:pic>
        <p:nvPicPr>
          <p:cNvPr id="314" name="Google Shape;314;p38"/>
          <p:cNvPicPr preferRelativeResize="0"/>
          <p:nvPr/>
        </p:nvPicPr>
        <p:blipFill>
          <a:blip r:embed="rId3">
            <a:alphaModFix/>
          </a:blip>
          <a:stretch>
            <a:fillRect/>
          </a:stretch>
        </p:blipFill>
        <p:spPr>
          <a:xfrm>
            <a:off x="3070338" y="2682013"/>
            <a:ext cx="1552575" cy="22193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9"/>
          <p:cNvSpPr txBox="1">
            <a:spLocks noGrp="1"/>
          </p:cNvSpPr>
          <p:nvPr>
            <p:ph type="title"/>
          </p:nvPr>
        </p:nvSpPr>
        <p:spPr>
          <a:xfrm>
            <a:off x="371575" y="251600"/>
            <a:ext cx="7505700" cy="57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Λύση Άσκησης 2 με Events</a:t>
            </a:r>
            <a:endParaRPr/>
          </a:p>
        </p:txBody>
      </p:sp>
      <p:sp>
        <p:nvSpPr>
          <p:cNvPr id="320" name="Google Shape;320;p39"/>
          <p:cNvSpPr txBox="1"/>
          <p:nvPr/>
        </p:nvSpPr>
        <p:spPr>
          <a:xfrm>
            <a:off x="235175" y="739525"/>
            <a:ext cx="7707600" cy="4005600"/>
          </a:xfrm>
          <a:prstGeom prst="rect">
            <a:avLst/>
          </a:prstGeom>
          <a:solidFill>
            <a:srgbClr val="FFF2CC"/>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sz="1200"/>
              <a:t>&lt;html&gt;</a:t>
            </a:r>
            <a:endParaRPr sz="1200"/>
          </a:p>
          <a:p>
            <a:pPr marL="0" lvl="0" indent="0" algn="l" rtl="0">
              <a:spcBef>
                <a:spcPts val="0"/>
              </a:spcBef>
              <a:spcAft>
                <a:spcPts val="0"/>
              </a:spcAft>
              <a:buNone/>
            </a:pPr>
            <a:r>
              <a:rPr lang="el" sz="1200"/>
              <a:t>&lt;body onload="alert('Welcome')" onunload="alert('Bye!!!!')"&gt;</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l" sz="1200"/>
              <a:t>&lt;h2&gt;HTML Image&lt;/h2&gt;</a:t>
            </a:r>
            <a:endParaRPr sz="1200"/>
          </a:p>
          <a:p>
            <a:pPr marL="0" lvl="0" indent="0" algn="l" rtl="0">
              <a:spcBef>
                <a:spcPts val="0"/>
              </a:spcBef>
              <a:spcAft>
                <a:spcPts val="0"/>
              </a:spcAft>
              <a:buNone/>
            </a:pPr>
            <a:r>
              <a:rPr lang="el" sz="1200"/>
              <a:t>&lt;input type="button" id="b1" value="+" onclick="document.getElementById('im').width=document.getElementById('im').width+5;document.getElementById('im').height=document.getElementById('im').height+5"&gt;</a:t>
            </a:r>
            <a:endParaRPr sz="1200"/>
          </a:p>
          <a:p>
            <a:pPr marL="0" lvl="0" indent="0" algn="l" rtl="0">
              <a:spcBef>
                <a:spcPts val="0"/>
              </a:spcBef>
              <a:spcAft>
                <a:spcPts val="0"/>
              </a:spcAft>
              <a:buNone/>
            </a:pPr>
            <a:r>
              <a:rPr lang="el" sz="1200"/>
              <a:t>&lt;input type="button" id="b2" value="-" onclick="document.getElementById('im').width=document.getElementById('im').width-5;document.getElementById('im').height=document.getElementById('im').height-5"&gt;</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l" sz="1200"/>
              <a:t>&lt;br&gt;&lt;br&gt;</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l" sz="1200"/>
              <a:t>&lt;img src="1.png" alt="Trulli" width="100" height="100" id="im" onmouseover="document.getElementById('im').src='2.png'" onmouseout="document.getElementById('im').src='1.png'"&gt;&lt;br&gt;&lt;br&gt;</a:t>
            </a:r>
            <a:endParaRPr sz="1200"/>
          </a:p>
          <a:p>
            <a:pPr marL="0" lvl="0" indent="0" algn="l" rtl="0">
              <a:spcBef>
                <a:spcPts val="0"/>
              </a:spcBef>
              <a:spcAft>
                <a:spcPts val="0"/>
              </a:spcAft>
              <a:buNone/>
            </a:pPr>
            <a:endParaRPr sz="1200"/>
          </a:p>
          <a:p>
            <a:pPr marL="0" lvl="0" indent="0" algn="l" rtl="0">
              <a:spcBef>
                <a:spcPts val="0"/>
              </a:spcBef>
              <a:spcAft>
                <a:spcPts val="0"/>
              </a:spcAft>
              <a:buNone/>
            </a:pPr>
            <a:endParaRPr sz="1200"/>
          </a:p>
          <a:p>
            <a:pPr marL="0" lvl="0" indent="0" algn="l" rtl="0">
              <a:spcBef>
                <a:spcPts val="0"/>
              </a:spcBef>
              <a:spcAft>
                <a:spcPts val="0"/>
              </a:spcAft>
              <a:buNone/>
            </a:pPr>
            <a:r>
              <a:rPr lang="el" sz="1200"/>
              <a:t>&lt;/body&gt;</a:t>
            </a:r>
            <a:endParaRPr sz="1200"/>
          </a:p>
          <a:p>
            <a:pPr marL="0" lvl="0" indent="0" algn="l" rtl="0">
              <a:spcBef>
                <a:spcPts val="0"/>
              </a:spcBef>
              <a:spcAft>
                <a:spcPts val="0"/>
              </a:spcAft>
              <a:buNone/>
            </a:pPr>
            <a:r>
              <a:rPr lang="el" sz="1200"/>
              <a:t>&lt;/html&gt;</a:t>
            </a:r>
            <a:endParaRPr sz="1200"/>
          </a:p>
          <a:p>
            <a:pPr marL="0" lvl="0" indent="0" algn="l" rtl="0">
              <a:spcBef>
                <a:spcPts val="0"/>
              </a:spcBef>
              <a:spcAft>
                <a:spcPts val="0"/>
              </a:spcAft>
              <a:buNone/>
            </a:pPr>
            <a:endParaRPr sz="1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0"/>
          <p:cNvSpPr txBox="1">
            <a:spLocks noGrp="1"/>
          </p:cNvSpPr>
          <p:nvPr>
            <p:ph type="title"/>
          </p:nvPr>
        </p:nvSpPr>
        <p:spPr>
          <a:xfrm>
            <a:off x="311700" y="3604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Χειρισμός Αντικειμένου select στην javascript</a:t>
            </a:r>
            <a:endParaRPr/>
          </a:p>
        </p:txBody>
      </p:sp>
      <p:sp>
        <p:nvSpPr>
          <p:cNvPr id="326" name="Google Shape;326;p40"/>
          <p:cNvSpPr txBox="1"/>
          <p:nvPr/>
        </p:nvSpPr>
        <p:spPr>
          <a:xfrm>
            <a:off x="3421950" y="906625"/>
            <a:ext cx="5272800" cy="3727200"/>
          </a:xfrm>
          <a:prstGeom prst="rect">
            <a:avLst/>
          </a:prstGeom>
          <a:solidFill>
            <a:srgbClr val="EAD1DC"/>
          </a:solidFill>
          <a:ln>
            <a:noFill/>
          </a:ln>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l" sz="1200"/>
              <a:t>Τα στοιχεία της λίστας αποθηκεύονται σε ένα </a:t>
            </a:r>
            <a:r>
              <a:rPr lang="el" sz="1200" b="1"/>
              <a:t>πίνακα options</a:t>
            </a:r>
            <a:r>
              <a:rPr lang="el" sz="1200"/>
              <a:t> όπου τα στοιχεία του είναι </a:t>
            </a:r>
            <a:r>
              <a:rPr lang="el" sz="1200" b="1"/>
              <a:t>αριθμημένα από το 0</a:t>
            </a:r>
            <a:endParaRPr sz="1200" b="1"/>
          </a:p>
          <a:p>
            <a:pPr marL="457200" lvl="0" indent="-304800" algn="l" rtl="0">
              <a:spcBef>
                <a:spcPts val="0"/>
              </a:spcBef>
              <a:spcAft>
                <a:spcPts val="0"/>
              </a:spcAft>
              <a:buSzPts val="1200"/>
              <a:buChar char="●"/>
            </a:pPr>
            <a:r>
              <a:rPr lang="el" sz="1200"/>
              <a:t>Αναφερόμαστε στα στοιχεία της λίστας με το </a:t>
            </a:r>
            <a:r>
              <a:rPr lang="el" sz="1200" b="1"/>
              <a:t>options[δείκτης]</a:t>
            </a:r>
            <a:r>
              <a:rPr lang="el" sz="1200"/>
              <a:t>, όπου ο δείκτης είναι ένας ακέραιος που αναφέρεται σε ποιο στοιχείο θέλουμε να αναφερθούμε. Δηλ.</a:t>
            </a:r>
            <a:endParaRPr sz="1200"/>
          </a:p>
          <a:p>
            <a:pPr marL="914400" lvl="1" indent="-304800" algn="l" rtl="0">
              <a:spcBef>
                <a:spcPts val="0"/>
              </a:spcBef>
              <a:spcAft>
                <a:spcPts val="0"/>
              </a:spcAft>
              <a:buSzPts val="1200"/>
              <a:buChar char="○"/>
            </a:pPr>
            <a:r>
              <a:rPr lang="el" sz="1200"/>
              <a:t>document.getElementById("mySelect").</a:t>
            </a:r>
            <a:r>
              <a:rPr lang="el" sz="1200" b="1"/>
              <a:t>options[0] </a:t>
            </a:r>
            <a:r>
              <a:rPr lang="el" sz="1200"/>
              <a:t>αναφέρεται στο πρώτο στοιχείο της λίστας</a:t>
            </a:r>
            <a:endParaRPr sz="1200"/>
          </a:p>
          <a:p>
            <a:pPr marL="914400" lvl="1" indent="-304800" algn="l" rtl="0">
              <a:spcBef>
                <a:spcPts val="0"/>
              </a:spcBef>
              <a:spcAft>
                <a:spcPts val="0"/>
              </a:spcAft>
              <a:buSzPts val="1200"/>
              <a:buChar char="○"/>
            </a:pPr>
            <a:r>
              <a:rPr lang="el" sz="1200"/>
              <a:t>document.getElementById("mySelect").</a:t>
            </a:r>
            <a:r>
              <a:rPr lang="el" sz="1200" b="1"/>
              <a:t>options[3]</a:t>
            </a:r>
            <a:r>
              <a:rPr lang="el" sz="1200"/>
              <a:t> αναφέρεται στο τέταρτο στοιχείο της λίστας</a:t>
            </a:r>
            <a:endParaRPr sz="1200"/>
          </a:p>
          <a:p>
            <a:pPr marL="457200" lvl="0" indent="-304800" algn="l" rtl="0">
              <a:spcBef>
                <a:spcPts val="0"/>
              </a:spcBef>
              <a:spcAft>
                <a:spcPts val="0"/>
              </a:spcAft>
              <a:buSzPts val="1200"/>
              <a:buChar char="●"/>
            </a:pPr>
            <a:r>
              <a:rPr lang="el" sz="1200"/>
              <a:t>Το αντικείμενο  options έχει την ιδιότητα </a:t>
            </a:r>
            <a:r>
              <a:rPr lang="el" sz="1200" b="1"/>
              <a:t>length </a:t>
            </a:r>
            <a:r>
              <a:rPr lang="el" sz="1200"/>
              <a:t>που είναι ίση με το πλήθος των στοιχείων της λίστας. Δηλ στο παράδειγμα document.getElementById("mySelect").options.length έχει την τιμή 4</a:t>
            </a:r>
            <a:endParaRPr sz="1200"/>
          </a:p>
          <a:p>
            <a:pPr marL="457200" marR="0" lvl="0" indent="-304800" algn="l" rtl="0">
              <a:lnSpc>
                <a:spcPct val="100000"/>
              </a:lnSpc>
              <a:spcBef>
                <a:spcPts val="0"/>
              </a:spcBef>
              <a:spcAft>
                <a:spcPts val="0"/>
              </a:spcAft>
              <a:buSzPts val="1200"/>
              <a:buChar char="●"/>
            </a:pPr>
            <a:r>
              <a:rPr lang="el" sz="1200"/>
              <a:t>Αν θέλουμε να αναφερθούμε στο περιεχόμενο μια θέσης γίνεται με την ιδιότητα </a:t>
            </a:r>
            <a:r>
              <a:rPr lang="el" sz="1200" b="1"/>
              <a:t>text </a:t>
            </a:r>
            <a:r>
              <a:rPr lang="el" sz="1200"/>
              <a:t>document.getElementById("mySelect").options[0].text;</a:t>
            </a:r>
            <a:endParaRPr sz="1200"/>
          </a:p>
          <a:p>
            <a:pPr marL="457200" marR="0" lvl="0" indent="-304800" algn="l" rtl="0">
              <a:lnSpc>
                <a:spcPct val="100000"/>
              </a:lnSpc>
              <a:spcBef>
                <a:spcPts val="0"/>
              </a:spcBef>
              <a:spcAft>
                <a:spcPts val="0"/>
              </a:spcAft>
              <a:buSzPts val="1200"/>
              <a:buChar char="●"/>
            </a:pPr>
            <a:r>
              <a:rPr lang="el" sz="1200"/>
              <a:t>Επιστρέφει τον δείκτη του επιλεγμένου στοιχείου document.getElementById("mySelect").</a:t>
            </a:r>
            <a:r>
              <a:rPr lang="el" sz="1200" b="1"/>
              <a:t>selectedIndex</a:t>
            </a:r>
            <a:endParaRPr sz="1200" b="1"/>
          </a:p>
          <a:p>
            <a:pPr marL="457200" lvl="0" indent="-304800" algn="l" rtl="0">
              <a:spcBef>
                <a:spcPts val="0"/>
              </a:spcBef>
              <a:spcAft>
                <a:spcPts val="0"/>
              </a:spcAft>
              <a:buSzPts val="1200"/>
              <a:buChar char="●"/>
            </a:pPr>
            <a:r>
              <a:rPr lang="el" sz="1200"/>
              <a:t>document.getElementById("mySelect").</a:t>
            </a:r>
            <a:r>
              <a:rPr lang="el" sz="1200" b="1"/>
              <a:t>remove(‘0’) </a:t>
            </a:r>
            <a:r>
              <a:rPr lang="el" sz="1200" b="1" u="sng"/>
              <a:t>Διαγράφει το πρώτο στοιχείο της λίστας</a:t>
            </a:r>
            <a:endParaRPr sz="1200" b="1" u="sng"/>
          </a:p>
          <a:p>
            <a:pPr marL="0" marR="0" lvl="0" indent="0" algn="l" rtl="0">
              <a:lnSpc>
                <a:spcPct val="100000"/>
              </a:lnSpc>
              <a:spcBef>
                <a:spcPts val="0"/>
              </a:spcBef>
              <a:spcAft>
                <a:spcPts val="0"/>
              </a:spcAft>
              <a:buNone/>
            </a:pPr>
            <a:endParaRPr sz="1200"/>
          </a:p>
        </p:txBody>
      </p:sp>
      <p:sp>
        <p:nvSpPr>
          <p:cNvPr id="327" name="Google Shape;327;p40"/>
          <p:cNvSpPr txBox="1"/>
          <p:nvPr/>
        </p:nvSpPr>
        <p:spPr>
          <a:xfrm>
            <a:off x="348925" y="933125"/>
            <a:ext cx="3000000" cy="242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&lt;form&gt;</a:t>
            </a:r>
            <a:endParaRPr/>
          </a:p>
          <a:p>
            <a:pPr marL="0" lvl="0" indent="0" algn="l" rtl="0">
              <a:spcBef>
                <a:spcPts val="0"/>
              </a:spcBef>
              <a:spcAft>
                <a:spcPts val="0"/>
              </a:spcAft>
              <a:buNone/>
            </a:pPr>
            <a:r>
              <a:rPr lang="el"/>
              <a:t>  &lt;select id="mySelect"&gt;</a:t>
            </a:r>
            <a:endParaRPr/>
          </a:p>
          <a:p>
            <a:pPr marL="0" lvl="0" indent="0" algn="l" rtl="0">
              <a:spcBef>
                <a:spcPts val="0"/>
              </a:spcBef>
              <a:spcAft>
                <a:spcPts val="0"/>
              </a:spcAft>
              <a:buNone/>
            </a:pPr>
            <a:r>
              <a:rPr lang="el"/>
              <a:t>    &lt;option&gt;Apple&lt;/option&gt;</a:t>
            </a:r>
            <a:endParaRPr/>
          </a:p>
          <a:p>
            <a:pPr marL="0" lvl="0" indent="0" algn="l" rtl="0">
              <a:spcBef>
                <a:spcPts val="0"/>
              </a:spcBef>
              <a:spcAft>
                <a:spcPts val="0"/>
              </a:spcAft>
              <a:buNone/>
            </a:pPr>
            <a:r>
              <a:rPr lang="el"/>
              <a:t>    &lt;option&gt;Orange&lt;/option&gt;</a:t>
            </a:r>
            <a:endParaRPr/>
          </a:p>
          <a:p>
            <a:pPr marL="0" lvl="0" indent="0" algn="l" rtl="0">
              <a:spcBef>
                <a:spcPts val="0"/>
              </a:spcBef>
              <a:spcAft>
                <a:spcPts val="0"/>
              </a:spcAft>
              <a:buNone/>
            </a:pPr>
            <a:r>
              <a:rPr lang="el"/>
              <a:t>    &lt;option&gt;Pineapple&lt;/option&gt;</a:t>
            </a:r>
            <a:endParaRPr/>
          </a:p>
          <a:p>
            <a:pPr marL="0" lvl="0" indent="0" algn="l" rtl="0">
              <a:spcBef>
                <a:spcPts val="0"/>
              </a:spcBef>
              <a:spcAft>
                <a:spcPts val="0"/>
              </a:spcAft>
              <a:buNone/>
            </a:pPr>
            <a:r>
              <a:rPr lang="el"/>
              <a:t>    &lt;option&gt;Banana&lt;/option&gt;</a:t>
            </a:r>
            <a:endParaRPr/>
          </a:p>
          <a:p>
            <a:pPr marL="0" lvl="0" indent="0" algn="l" rtl="0">
              <a:spcBef>
                <a:spcPts val="0"/>
              </a:spcBef>
              <a:spcAft>
                <a:spcPts val="0"/>
              </a:spcAft>
              <a:buNone/>
            </a:pPr>
            <a:r>
              <a:rPr lang="el"/>
              <a:t>  &lt;/select&gt;</a:t>
            </a:r>
            <a:endParaRPr/>
          </a:p>
          <a:p>
            <a:pPr marL="0" lvl="0" indent="0" algn="l" rtl="0">
              <a:spcBef>
                <a:spcPts val="0"/>
              </a:spcBef>
              <a:spcAft>
                <a:spcPts val="0"/>
              </a:spcAft>
              <a:buNone/>
            </a:pPr>
            <a:r>
              <a:rPr lang="el"/>
              <a:t>&lt;/form&gt;</a:t>
            </a:r>
            <a:endParaRPr/>
          </a:p>
        </p:txBody>
      </p:sp>
      <p:graphicFrame>
        <p:nvGraphicFramePr>
          <p:cNvPr id="328" name="Google Shape;328;p40"/>
          <p:cNvGraphicFramePr/>
          <p:nvPr/>
        </p:nvGraphicFramePr>
        <p:xfrm>
          <a:off x="191950" y="3860625"/>
          <a:ext cx="3000000" cy="3000000"/>
        </p:xfrm>
        <a:graphic>
          <a:graphicData uri="http://schemas.openxmlformats.org/drawingml/2006/table">
            <a:tbl>
              <a:tblPr>
                <a:noFill/>
                <a:tableStyleId>{FD1D21A9-7E1A-4391-8461-BF05E97620D1}</a:tableStyleId>
              </a:tblPr>
              <a:tblGrid>
                <a:gridCol w="807500">
                  <a:extLst>
                    <a:ext uri="{9D8B030D-6E8A-4147-A177-3AD203B41FA5}">
                      <a16:colId xmlns:a16="http://schemas.microsoft.com/office/drawing/2014/main" val="20000"/>
                    </a:ext>
                  </a:extLst>
                </a:gridCol>
                <a:gridCol w="807500">
                  <a:extLst>
                    <a:ext uri="{9D8B030D-6E8A-4147-A177-3AD203B41FA5}">
                      <a16:colId xmlns:a16="http://schemas.microsoft.com/office/drawing/2014/main" val="20001"/>
                    </a:ext>
                  </a:extLst>
                </a:gridCol>
                <a:gridCol w="807500">
                  <a:extLst>
                    <a:ext uri="{9D8B030D-6E8A-4147-A177-3AD203B41FA5}">
                      <a16:colId xmlns:a16="http://schemas.microsoft.com/office/drawing/2014/main" val="20002"/>
                    </a:ext>
                  </a:extLst>
                </a:gridCol>
                <a:gridCol w="807500">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el" sz="1200"/>
                        <a:t>0</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1</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2</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3</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363600">
                <a:tc>
                  <a:txBody>
                    <a:bodyPr/>
                    <a:lstStyle/>
                    <a:p>
                      <a:pPr marL="0" lvl="0" indent="0" algn="l" rtl="0">
                        <a:spcBef>
                          <a:spcPts val="0"/>
                        </a:spcBef>
                        <a:spcAft>
                          <a:spcPts val="0"/>
                        </a:spcAft>
                        <a:buNone/>
                      </a:pPr>
                      <a:r>
                        <a:rPr lang="el" sz="1200"/>
                        <a:t>Apple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a:t>Pineapple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Banana</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29" name="Google Shape;329;p40"/>
          <p:cNvSpPr txBox="1"/>
          <p:nvPr/>
        </p:nvSpPr>
        <p:spPr>
          <a:xfrm>
            <a:off x="1295750" y="3412250"/>
            <a:ext cx="1022400" cy="25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latin typeface="Calibri"/>
                <a:ea typeface="Calibri"/>
                <a:cs typeface="Calibri"/>
                <a:sym typeface="Calibri"/>
              </a:rPr>
              <a:t>options</a:t>
            </a:r>
            <a:endParaRPr>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1"/>
          <p:cNvSpPr txBox="1">
            <a:spLocks noGrp="1"/>
          </p:cNvSpPr>
          <p:nvPr>
            <p:ph type="title"/>
          </p:nvPr>
        </p:nvSpPr>
        <p:spPr>
          <a:xfrm>
            <a:off x="311700" y="3604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 1:  Αντικειμένου select στην javascript</a:t>
            </a:r>
            <a:endParaRPr/>
          </a:p>
        </p:txBody>
      </p:sp>
      <p:sp>
        <p:nvSpPr>
          <p:cNvPr id="335" name="Google Shape;335;p41"/>
          <p:cNvSpPr txBox="1"/>
          <p:nvPr/>
        </p:nvSpPr>
        <p:spPr>
          <a:xfrm>
            <a:off x="348925" y="933125"/>
            <a:ext cx="8175900" cy="242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&lt;select id="mySelect"&gt;</a:t>
            </a:r>
            <a:endParaRPr/>
          </a:p>
          <a:p>
            <a:pPr marL="0" lvl="0" indent="0" algn="l" rtl="0">
              <a:spcBef>
                <a:spcPts val="0"/>
              </a:spcBef>
              <a:spcAft>
                <a:spcPts val="0"/>
              </a:spcAft>
              <a:buNone/>
            </a:pPr>
            <a:r>
              <a:rPr lang="el"/>
              <a:t>  &lt;option&gt;Apple&lt;/option&gt;</a:t>
            </a:r>
            <a:endParaRPr/>
          </a:p>
          <a:p>
            <a:pPr marL="0" lvl="0" indent="0" algn="l" rtl="0">
              <a:spcBef>
                <a:spcPts val="0"/>
              </a:spcBef>
              <a:spcAft>
                <a:spcPts val="0"/>
              </a:spcAft>
              <a:buNone/>
            </a:pPr>
            <a:r>
              <a:rPr lang="el"/>
              <a:t>  &lt;option&gt;Orange&lt;/option&gt;</a:t>
            </a:r>
            <a:endParaRPr/>
          </a:p>
          <a:p>
            <a:pPr marL="0" lvl="0" indent="0" algn="l" rtl="0">
              <a:spcBef>
                <a:spcPts val="0"/>
              </a:spcBef>
              <a:spcAft>
                <a:spcPts val="0"/>
              </a:spcAft>
              <a:buNone/>
            </a:pPr>
            <a:r>
              <a:rPr lang="el"/>
              <a:t>  &lt;option&gt;Pineapple&lt;/option&gt;</a:t>
            </a:r>
            <a:endParaRPr/>
          </a:p>
          <a:p>
            <a:pPr marL="0" lvl="0" indent="0" algn="l" rtl="0">
              <a:spcBef>
                <a:spcPts val="0"/>
              </a:spcBef>
              <a:spcAft>
                <a:spcPts val="0"/>
              </a:spcAft>
              <a:buNone/>
            </a:pPr>
            <a:r>
              <a:rPr lang="el"/>
              <a:t>  &lt;option&gt;Banana&lt;/option&gt;</a:t>
            </a:r>
            <a:endParaRPr/>
          </a:p>
          <a:p>
            <a:pPr marL="0" lvl="0" indent="0" algn="l" rtl="0">
              <a:spcBef>
                <a:spcPts val="0"/>
              </a:spcBef>
              <a:spcAft>
                <a:spcPts val="0"/>
              </a:spcAft>
              <a:buNone/>
            </a:pPr>
            <a:r>
              <a:rPr lang="el"/>
              <a:t>&lt;/select&gt;</a:t>
            </a:r>
            <a:endParaRPr/>
          </a:p>
          <a:p>
            <a:pPr marL="0" lvl="0" indent="0" algn="l" rtl="0">
              <a:spcBef>
                <a:spcPts val="0"/>
              </a:spcBef>
              <a:spcAft>
                <a:spcPts val="0"/>
              </a:spcAft>
              <a:buNone/>
            </a:pPr>
            <a:r>
              <a:rPr lang="el"/>
              <a:t>&lt;button onclick="</a:t>
            </a:r>
            <a:r>
              <a:rPr lang="el" b="1"/>
              <a:t>alert(document.getElementById('mySelect').options.length)</a:t>
            </a:r>
            <a:r>
              <a:rPr lang="el"/>
              <a:t>"&gt;button 1&lt;/button&gt;</a:t>
            </a:r>
            <a:endParaRPr/>
          </a:p>
          <a:p>
            <a:pPr marL="0" lvl="0" indent="0" algn="l" rtl="0">
              <a:spcBef>
                <a:spcPts val="0"/>
              </a:spcBef>
              <a:spcAft>
                <a:spcPts val="0"/>
              </a:spcAft>
              <a:buNone/>
            </a:pPr>
            <a:r>
              <a:rPr lang="el"/>
              <a:t>&lt;button onclick="</a:t>
            </a:r>
            <a:r>
              <a:rPr lang="el" b="1"/>
              <a:t>document.getElementById('mySelect').selectedIndex = '2'</a:t>
            </a:r>
            <a:r>
              <a:rPr lang="el"/>
              <a:t>"&gt;button 2&lt;/button&gt;</a:t>
            </a:r>
            <a:endParaRPr/>
          </a:p>
          <a:p>
            <a:pPr marL="0" lvl="0" indent="0" algn="l" rtl="0">
              <a:spcBef>
                <a:spcPts val="0"/>
              </a:spcBef>
              <a:spcAft>
                <a:spcPts val="0"/>
              </a:spcAft>
              <a:buNone/>
            </a:pPr>
            <a:r>
              <a:rPr lang="el"/>
              <a:t>&lt;button onclick="</a:t>
            </a:r>
            <a:r>
              <a:rPr lang="el" b="1"/>
              <a:t>alert(document.getElementById('mySelect').options[1].text)</a:t>
            </a:r>
            <a:r>
              <a:rPr lang="el"/>
              <a:t>"&gt;button 3&lt;/button&gt;</a:t>
            </a:r>
            <a:endParaRPr/>
          </a:p>
          <a:p>
            <a:pPr marL="0" lvl="0" indent="0" algn="l" rtl="0">
              <a:spcBef>
                <a:spcPts val="0"/>
              </a:spcBef>
              <a:spcAft>
                <a:spcPts val="0"/>
              </a:spcAft>
              <a:buNone/>
            </a:pPr>
            <a:r>
              <a:rPr lang="el"/>
              <a:t>&lt;button onclick="</a:t>
            </a:r>
            <a:r>
              <a:rPr lang="el" b="1"/>
              <a:t>alert(document.getElementById('mySelect').options[0].text)</a:t>
            </a:r>
            <a:r>
              <a:rPr lang="el"/>
              <a:t>"&gt;button 4&lt;/button&gt;</a:t>
            </a:r>
            <a:endParaRPr/>
          </a:p>
          <a:p>
            <a:pPr marL="0" lvl="0" indent="0" algn="l" rtl="0">
              <a:spcBef>
                <a:spcPts val="0"/>
              </a:spcBef>
              <a:spcAft>
                <a:spcPts val="0"/>
              </a:spcAft>
              <a:buNone/>
            </a:pPr>
            <a:r>
              <a:rPr lang="el"/>
              <a:t>&lt;button onclick="</a:t>
            </a:r>
            <a:r>
              <a:rPr lang="el" b="1"/>
              <a:t>alert(document.getElementById('mySelect').options[document.getElementById('mySelect').selectedIndex].text)</a:t>
            </a:r>
            <a:r>
              <a:rPr lang="el"/>
              <a:t>"&gt;button 5&lt;/button&gt;</a:t>
            </a:r>
            <a:endParaRPr/>
          </a:p>
          <a:p>
            <a:pPr marL="0" lvl="0" indent="0" algn="l" rtl="0">
              <a:spcBef>
                <a:spcPts val="0"/>
              </a:spcBef>
              <a:spcAft>
                <a:spcPts val="0"/>
              </a:spcAft>
              <a:buNone/>
            </a:pP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a:p>
            <a:pPr marL="0" lvl="0" indent="0" algn="l" rtl="0">
              <a:spcBef>
                <a:spcPts val="0"/>
              </a:spcBef>
              <a:spcAft>
                <a:spcPts val="0"/>
              </a:spcAft>
              <a:buNone/>
            </a:pPr>
            <a:endParaRPr/>
          </a:p>
        </p:txBody>
      </p:sp>
      <p:graphicFrame>
        <p:nvGraphicFramePr>
          <p:cNvPr id="336" name="Google Shape;336;p41"/>
          <p:cNvGraphicFramePr/>
          <p:nvPr/>
        </p:nvGraphicFramePr>
        <p:xfrm>
          <a:off x="5234300" y="1225275"/>
          <a:ext cx="3000000" cy="3000000"/>
        </p:xfrm>
        <a:graphic>
          <a:graphicData uri="http://schemas.openxmlformats.org/drawingml/2006/table">
            <a:tbl>
              <a:tblPr>
                <a:noFill/>
                <a:tableStyleId>{FD1D21A9-7E1A-4391-8461-BF05E97620D1}</a:tableStyleId>
              </a:tblPr>
              <a:tblGrid>
                <a:gridCol w="807500">
                  <a:extLst>
                    <a:ext uri="{9D8B030D-6E8A-4147-A177-3AD203B41FA5}">
                      <a16:colId xmlns:a16="http://schemas.microsoft.com/office/drawing/2014/main" val="20000"/>
                    </a:ext>
                  </a:extLst>
                </a:gridCol>
                <a:gridCol w="807500">
                  <a:extLst>
                    <a:ext uri="{9D8B030D-6E8A-4147-A177-3AD203B41FA5}">
                      <a16:colId xmlns:a16="http://schemas.microsoft.com/office/drawing/2014/main" val="20001"/>
                    </a:ext>
                  </a:extLst>
                </a:gridCol>
                <a:gridCol w="807500">
                  <a:extLst>
                    <a:ext uri="{9D8B030D-6E8A-4147-A177-3AD203B41FA5}">
                      <a16:colId xmlns:a16="http://schemas.microsoft.com/office/drawing/2014/main" val="20002"/>
                    </a:ext>
                  </a:extLst>
                </a:gridCol>
                <a:gridCol w="807500">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el" sz="1200"/>
                        <a:t>0</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1</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2</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3</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363600">
                <a:tc>
                  <a:txBody>
                    <a:bodyPr/>
                    <a:lstStyle/>
                    <a:p>
                      <a:pPr marL="0" lvl="0" indent="0" algn="l" rtl="0">
                        <a:spcBef>
                          <a:spcPts val="0"/>
                        </a:spcBef>
                        <a:spcAft>
                          <a:spcPts val="0"/>
                        </a:spcAft>
                        <a:buNone/>
                      </a:pPr>
                      <a:r>
                        <a:rPr lang="el" sz="1200"/>
                        <a:t>Apple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pinappkle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Banana</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37" name="Google Shape;337;p41"/>
          <p:cNvSpPr txBox="1"/>
          <p:nvPr/>
        </p:nvSpPr>
        <p:spPr>
          <a:xfrm>
            <a:off x="5234300" y="950650"/>
            <a:ext cx="1022400" cy="25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latin typeface="Calibri"/>
                <a:ea typeface="Calibri"/>
                <a:cs typeface="Calibri"/>
                <a:sym typeface="Calibri"/>
              </a:rPr>
              <a:t>options</a:t>
            </a:r>
            <a:endParaRPr>
              <a:latin typeface="Calibri"/>
              <a:ea typeface="Calibri"/>
              <a:cs typeface="Calibri"/>
              <a:sym typeface="Calibri"/>
            </a:endParaRPr>
          </a:p>
        </p:txBody>
      </p:sp>
      <p:sp>
        <p:nvSpPr>
          <p:cNvPr id="338" name="Google Shape;338;p41"/>
          <p:cNvSpPr txBox="1"/>
          <p:nvPr/>
        </p:nvSpPr>
        <p:spPr>
          <a:xfrm>
            <a:off x="4206975" y="4341225"/>
            <a:ext cx="33537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latin typeface="Calibri"/>
                <a:ea typeface="Calibri"/>
                <a:cs typeface="Calibri"/>
                <a:sym typeface="Calibri"/>
              </a:rPr>
              <a:t>Τι θα γίνει όταν πατηθούν τα κουμπιά? </a:t>
            </a:r>
            <a:endParaRPr>
              <a:latin typeface="Calibri"/>
              <a:ea typeface="Calibri"/>
              <a:cs typeface="Calibri"/>
              <a:sym typeface="Calibri"/>
            </a:endParaRPr>
          </a:p>
        </p:txBody>
      </p:sp>
      <p:pic>
        <p:nvPicPr>
          <p:cNvPr id="339" name="Google Shape;339;p41"/>
          <p:cNvPicPr preferRelativeResize="0"/>
          <p:nvPr/>
        </p:nvPicPr>
        <p:blipFill>
          <a:blip r:embed="rId3">
            <a:alphaModFix/>
          </a:blip>
          <a:stretch>
            <a:fillRect/>
          </a:stretch>
        </p:blipFill>
        <p:spPr>
          <a:xfrm>
            <a:off x="2783125" y="1225275"/>
            <a:ext cx="2133600" cy="89534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2"/>
          <p:cNvSpPr txBox="1">
            <a:spLocks noGrp="1"/>
          </p:cNvSpPr>
          <p:nvPr>
            <p:ph type="title"/>
          </p:nvPr>
        </p:nvSpPr>
        <p:spPr>
          <a:xfrm>
            <a:off x="311700" y="2377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 2:  Αντικείμενο select στην javascript</a:t>
            </a:r>
            <a:endParaRPr/>
          </a:p>
        </p:txBody>
      </p:sp>
      <p:sp>
        <p:nvSpPr>
          <p:cNvPr id="345" name="Google Shape;345;p42"/>
          <p:cNvSpPr txBox="1"/>
          <p:nvPr/>
        </p:nvSpPr>
        <p:spPr>
          <a:xfrm>
            <a:off x="354775" y="693575"/>
            <a:ext cx="8175900" cy="242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&lt;select id="mySelect"&gt;</a:t>
            </a:r>
            <a:endParaRPr/>
          </a:p>
          <a:p>
            <a:pPr marL="0" lvl="0" indent="0" algn="l" rtl="0">
              <a:spcBef>
                <a:spcPts val="0"/>
              </a:spcBef>
              <a:spcAft>
                <a:spcPts val="0"/>
              </a:spcAft>
              <a:buNone/>
            </a:pPr>
            <a:r>
              <a:rPr lang="el"/>
              <a:t>  &lt;option&gt;Apple&lt;/option&gt;</a:t>
            </a:r>
            <a:endParaRPr/>
          </a:p>
          <a:p>
            <a:pPr marL="0" lvl="0" indent="0" algn="l" rtl="0">
              <a:spcBef>
                <a:spcPts val="0"/>
              </a:spcBef>
              <a:spcAft>
                <a:spcPts val="0"/>
              </a:spcAft>
              <a:buNone/>
            </a:pPr>
            <a:r>
              <a:rPr lang="el"/>
              <a:t>  &lt;option&gt;Orange&lt;/option&gt;</a:t>
            </a:r>
            <a:endParaRPr/>
          </a:p>
          <a:p>
            <a:pPr marL="0" lvl="0" indent="0" algn="l" rtl="0">
              <a:spcBef>
                <a:spcPts val="0"/>
              </a:spcBef>
              <a:spcAft>
                <a:spcPts val="0"/>
              </a:spcAft>
              <a:buNone/>
            </a:pPr>
            <a:r>
              <a:rPr lang="el"/>
              <a:t>  &lt;option&gt;Pineapple&lt;/option&gt;</a:t>
            </a:r>
            <a:endParaRPr/>
          </a:p>
          <a:p>
            <a:pPr marL="0" lvl="0" indent="0" algn="l" rtl="0">
              <a:spcBef>
                <a:spcPts val="0"/>
              </a:spcBef>
              <a:spcAft>
                <a:spcPts val="0"/>
              </a:spcAft>
              <a:buNone/>
            </a:pPr>
            <a:r>
              <a:rPr lang="el"/>
              <a:t>  &lt;option&gt;Banana&lt;/option&gt;</a:t>
            </a:r>
            <a:endParaRPr/>
          </a:p>
          <a:p>
            <a:pPr marL="0" lvl="0" indent="0" algn="l" rtl="0">
              <a:spcBef>
                <a:spcPts val="0"/>
              </a:spcBef>
              <a:spcAft>
                <a:spcPts val="0"/>
              </a:spcAft>
              <a:buNone/>
            </a:pPr>
            <a:r>
              <a:rPr lang="el"/>
              <a:t>&lt;/select&gt;&lt;Br&gt;&lt;Br&gt;&lt;Br&gt;&lt;Br&gt;&lt;Br&gt;&lt;Br&gt;</a:t>
            </a:r>
            <a:endParaRPr/>
          </a:p>
          <a:p>
            <a:pPr marL="0" lvl="0" indent="0" algn="l" rtl="0">
              <a:spcBef>
                <a:spcPts val="0"/>
              </a:spcBef>
              <a:spcAft>
                <a:spcPts val="0"/>
              </a:spcAft>
              <a:buNone/>
            </a:pPr>
            <a:r>
              <a:rPr lang="el"/>
              <a:t>&lt;button&gt;button 1&lt;/button&gt;</a:t>
            </a:r>
            <a:endParaRPr/>
          </a:p>
          <a:p>
            <a:pPr marL="0" lvl="0" indent="0" algn="l" rtl="0">
              <a:spcBef>
                <a:spcPts val="0"/>
              </a:spcBef>
              <a:spcAft>
                <a:spcPts val="0"/>
              </a:spcAft>
              <a:buNone/>
            </a:pPr>
            <a:r>
              <a:rPr lang="el"/>
              <a:t>&lt;button&gt;button 2&lt;/button&gt;</a:t>
            </a:r>
            <a:endParaRPr/>
          </a:p>
          <a:p>
            <a:pPr marL="0" lvl="0" indent="0" algn="l" rtl="0">
              <a:spcBef>
                <a:spcPts val="0"/>
              </a:spcBef>
              <a:spcAft>
                <a:spcPts val="0"/>
              </a:spcAft>
              <a:buNone/>
            </a:pPr>
            <a:r>
              <a:rPr lang="el"/>
              <a:t>&lt;button&gt;button 3&lt;/button&gt;</a:t>
            </a:r>
            <a:endParaRPr/>
          </a:p>
          <a:p>
            <a:pPr marL="0" lvl="0" indent="0" algn="l" rtl="0">
              <a:spcBef>
                <a:spcPts val="0"/>
              </a:spcBef>
              <a:spcAft>
                <a:spcPts val="0"/>
              </a:spcAft>
              <a:buNone/>
            </a:pPr>
            <a:r>
              <a:rPr lang="el"/>
              <a:t>&lt;button&gt;button 4&lt;/button&gt;</a:t>
            </a:r>
            <a:endParaRPr/>
          </a:p>
          <a:p>
            <a:pPr marL="0" lvl="0" indent="0" algn="l" rtl="0">
              <a:spcBef>
                <a:spcPts val="0"/>
              </a:spcBef>
              <a:spcAft>
                <a:spcPts val="0"/>
              </a:spcAft>
              <a:buNone/>
            </a:pPr>
            <a:r>
              <a:rPr lang="el"/>
              <a:t>&lt;button&gt;button 5&lt;/button&gt;</a:t>
            </a:r>
            <a:endParaRPr/>
          </a:p>
          <a:p>
            <a:pPr marL="0" lvl="0" indent="0" algn="l" rtl="0">
              <a:spcBef>
                <a:spcPts val="0"/>
              </a:spcBef>
              <a:spcAft>
                <a:spcPts val="0"/>
              </a:spcAft>
              <a:buNone/>
            </a:pPr>
            <a:r>
              <a:rPr lang="el"/>
              <a:t>&lt;button&gt;button 6&lt;/button&gt;</a:t>
            </a:r>
            <a:endParaRPr/>
          </a:p>
          <a:p>
            <a:pPr marL="0" lvl="0" indent="0" algn="l" rtl="0">
              <a:spcBef>
                <a:spcPts val="0"/>
              </a:spcBef>
              <a:spcAft>
                <a:spcPts val="0"/>
              </a:spcAft>
              <a:buNone/>
            </a:pPr>
            <a:r>
              <a:rPr lang="el"/>
              <a:t>&lt;button&gt;button 7&lt;/button&gt;</a:t>
            </a:r>
            <a:endParaRPr/>
          </a:p>
          <a:p>
            <a:pPr marL="0" lvl="0" indent="0" algn="l" rtl="0">
              <a:spcBef>
                <a:spcPts val="0"/>
              </a:spcBef>
              <a:spcAft>
                <a:spcPts val="0"/>
              </a:spcAft>
              <a:buNone/>
            </a:pPr>
            <a:r>
              <a:rPr lang="el"/>
              <a:t>&lt;/body&gt;&lt;/html&gt;</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graphicFrame>
        <p:nvGraphicFramePr>
          <p:cNvPr id="346" name="Google Shape;346;p42"/>
          <p:cNvGraphicFramePr/>
          <p:nvPr/>
        </p:nvGraphicFramePr>
        <p:xfrm>
          <a:off x="5234300" y="1225275"/>
          <a:ext cx="3000000" cy="3000000"/>
        </p:xfrm>
        <a:graphic>
          <a:graphicData uri="http://schemas.openxmlformats.org/drawingml/2006/table">
            <a:tbl>
              <a:tblPr>
                <a:noFill/>
                <a:tableStyleId>{FD1D21A9-7E1A-4391-8461-BF05E97620D1}</a:tableStyleId>
              </a:tblPr>
              <a:tblGrid>
                <a:gridCol w="807500">
                  <a:extLst>
                    <a:ext uri="{9D8B030D-6E8A-4147-A177-3AD203B41FA5}">
                      <a16:colId xmlns:a16="http://schemas.microsoft.com/office/drawing/2014/main" val="20000"/>
                    </a:ext>
                  </a:extLst>
                </a:gridCol>
                <a:gridCol w="807500">
                  <a:extLst>
                    <a:ext uri="{9D8B030D-6E8A-4147-A177-3AD203B41FA5}">
                      <a16:colId xmlns:a16="http://schemas.microsoft.com/office/drawing/2014/main" val="20001"/>
                    </a:ext>
                  </a:extLst>
                </a:gridCol>
                <a:gridCol w="807500">
                  <a:extLst>
                    <a:ext uri="{9D8B030D-6E8A-4147-A177-3AD203B41FA5}">
                      <a16:colId xmlns:a16="http://schemas.microsoft.com/office/drawing/2014/main" val="20002"/>
                    </a:ext>
                  </a:extLst>
                </a:gridCol>
                <a:gridCol w="807500">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el" sz="1200"/>
                        <a:t>0</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1</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2</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3</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363600">
                <a:tc>
                  <a:txBody>
                    <a:bodyPr/>
                    <a:lstStyle/>
                    <a:p>
                      <a:pPr marL="0" lvl="0" indent="0" algn="l" rtl="0">
                        <a:spcBef>
                          <a:spcPts val="0"/>
                        </a:spcBef>
                        <a:spcAft>
                          <a:spcPts val="0"/>
                        </a:spcAft>
                        <a:buNone/>
                      </a:pPr>
                      <a:r>
                        <a:rPr lang="el" sz="1200"/>
                        <a:t>Apple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Banana</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47" name="Google Shape;347;p42"/>
          <p:cNvSpPr txBox="1"/>
          <p:nvPr/>
        </p:nvSpPr>
        <p:spPr>
          <a:xfrm>
            <a:off x="5234300" y="950650"/>
            <a:ext cx="1022400" cy="25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latin typeface="Calibri"/>
                <a:ea typeface="Calibri"/>
                <a:cs typeface="Calibri"/>
                <a:sym typeface="Calibri"/>
              </a:rPr>
              <a:t>options</a:t>
            </a:r>
            <a:endParaRPr>
              <a:latin typeface="Calibri"/>
              <a:ea typeface="Calibri"/>
              <a:cs typeface="Calibri"/>
              <a:sym typeface="Calibri"/>
            </a:endParaRPr>
          </a:p>
        </p:txBody>
      </p:sp>
      <p:sp>
        <p:nvSpPr>
          <p:cNvPr id="348" name="Google Shape;348;p42"/>
          <p:cNvSpPr txBox="1"/>
          <p:nvPr/>
        </p:nvSpPr>
        <p:spPr>
          <a:xfrm>
            <a:off x="3526800" y="2571750"/>
            <a:ext cx="5305500" cy="3915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πατηθεί το button 1 να αυθηθεί το μήκος της λίστας κατά 1</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l" sz="1200">
                <a:latin typeface="Calibri"/>
                <a:ea typeface="Calibri"/>
                <a:cs typeface="Calibri"/>
                <a:sym typeface="Calibri"/>
              </a:rPr>
              <a:t> Όταν πατηθεί το button 2 να επιλεγεί το τρίτο στοιχείο</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πατηθεί το button 3 να εμφανιστεί σε pop up το 3 στοιχείο</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πατηθεί το button 4 να εμφανιστεί σε pop up το πρώτο στοιχείο</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πατηθεί το button 5 να εμφανιστεί σε pop up το τελευταίο στοιχείο </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πατηθεί το button 6 να εμφανιστεί σε pop up το επιλεγμένο στοιχείο</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πατηθεί το button 7 να βάζει το στοιχείο “kiwi” στο τελευταίο στοιχείο</a:t>
            </a:r>
            <a:endParaRPr sz="1200">
              <a:latin typeface="Calibri"/>
              <a:ea typeface="Calibri"/>
              <a:cs typeface="Calibri"/>
              <a:sym typeface="Calibri"/>
            </a:endParaRPr>
          </a:p>
        </p:txBody>
      </p:sp>
      <p:pic>
        <p:nvPicPr>
          <p:cNvPr id="349" name="Google Shape;349;p42"/>
          <p:cNvPicPr preferRelativeResize="0"/>
          <p:nvPr/>
        </p:nvPicPr>
        <p:blipFill>
          <a:blip r:embed="rId3">
            <a:alphaModFix/>
          </a:blip>
          <a:stretch>
            <a:fillRect/>
          </a:stretch>
        </p:blipFill>
        <p:spPr>
          <a:xfrm>
            <a:off x="2960300" y="1054875"/>
            <a:ext cx="2239951" cy="6571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3"/>
          <p:cNvSpPr txBox="1">
            <a:spLocks noGrp="1"/>
          </p:cNvSpPr>
          <p:nvPr>
            <p:ph type="title"/>
          </p:nvPr>
        </p:nvSpPr>
        <p:spPr>
          <a:xfrm>
            <a:off x="311700" y="2377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 2 - Λύση:  </a:t>
            </a:r>
            <a:r>
              <a:rPr lang="el" sz="2400"/>
              <a:t>Αντικείμενο select στην javascript</a:t>
            </a:r>
            <a:endParaRPr sz="2400"/>
          </a:p>
        </p:txBody>
      </p:sp>
      <p:sp>
        <p:nvSpPr>
          <p:cNvPr id="355" name="Google Shape;355;p43"/>
          <p:cNvSpPr txBox="1"/>
          <p:nvPr/>
        </p:nvSpPr>
        <p:spPr>
          <a:xfrm>
            <a:off x="343100" y="646825"/>
            <a:ext cx="8175900" cy="242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&lt;select id="mySelect"&gt;</a:t>
            </a:r>
            <a:endParaRPr/>
          </a:p>
          <a:p>
            <a:pPr marL="0" lvl="0" indent="0" algn="l" rtl="0">
              <a:spcBef>
                <a:spcPts val="0"/>
              </a:spcBef>
              <a:spcAft>
                <a:spcPts val="0"/>
              </a:spcAft>
              <a:buNone/>
            </a:pPr>
            <a:r>
              <a:rPr lang="el"/>
              <a:t>  &lt;option&gt;Apple&lt;/option&gt;</a:t>
            </a:r>
            <a:endParaRPr/>
          </a:p>
          <a:p>
            <a:pPr marL="0" lvl="0" indent="0" algn="l" rtl="0">
              <a:spcBef>
                <a:spcPts val="0"/>
              </a:spcBef>
              <a:spcAft>
                <a:spcPts val="0"/>
              </a:spcAft>
              <a:buNone/>
            </a:pPr>
            <a:r>
              <a:rPr lang="el"/>
              <a:t>  &lt;option&gt;Orange&lt;/option&gt;</a:t>
            </a:r>
            <a:endParaRPr/>
          </a:p>
          <a:p>
            <a:pPr marL="0" lvl="0" indent="0" algn="l" rtl="0">
              <a:spcBef>
                <a:spcPts val="0"/>
              </a:spcBef>
              <a:spcAft>
                <a:spcPts val="0"/>
              </a:spcAft>
              <a:buNone/>
            </a:pPr>
            <a:r>
              <a:rPr lang="el"/>
              <a:t>  &lt;option&gt;Pineapple&lt;/option&gt;</a:t>
            </a:r>
            <a:endParaRPr/>
          </a:p>
          <a:p>
            <a:pPr marL="0" lvl="0" indent="0" algn="l" rtl="0">
              <a:spcBef>
                <a:spcPts val="0"/>
              </a:spcBef>
              <a:spcAft>
                <a:spcPts val="0"/>
              </a:spcAft>
              <a:buNone/>
            </a:pPr>
            <a:r>
              <a:rPr lang="el"/>
              <a:t>  &lt;option&gt;Banana&lt;/option&gt;</a:t>
            </a:r>
            <a:endParaRPr/>
          </a:p>
          <a:p>
            <a:pPr marL="0" lvl="0" indent="0" algn="l" rtl="0">
              <a:spcBef>
                <a:spcPts val="0"/>
              </a:spcBef>
              <a:spcAft>
                <a:spcPts val="0"/>
              </a:spcAft>
              <a:buNone/>
            </a:pPr>
            <a:r>
              <a:rPr lang="el"/>
              <a:t>&lt;/select&gt;&lt;Br&gt;&lt;Br&gt;&lt;Br&gt;&lt;Br&gt;&lt;Br&gt;&lt;Br&gt;</a:t>
            </a:r>
            <a:endParaRPr/>
          </a:p>
          <a:p>
            <a:pPr marL="0" lvl="0" indent="0" algn="l" rtl="0">
              <a:spcBef>
                <a:spcPts val="0"/>
              </a:spcBef>
              <a:spcAft>
                <a:spcPts val="0"/>
              </a:spcAft>
              <a:buNone/>
            </a:pPr>
            <a:r>
              <a:rPr lang="el"/>
              <a:t>&lt;button onclick="document.getElementById('mySelect').options.length+=1"&gt;button 1&lt;/button&gt;</a:t>
            </a:r>
            <a:endParaRPr/>
          </a:p>
          <a:p>
            <a:pPr marL="0" lvl="0" indent="0" algn="l" rtl="0">
              <a:spcBef>
                <a:spcPts val="0"/>
              </a:spcBef>
              <a:spcAft>
                <a:spcPts val="0"/>
              </a:spcAft>
              <a:buNone/>
            </a:pPr>
            <a:r>
              <a:rPr lang="el"/>
              <a:t>&lt;button onclick="document.getElementById('mySelect').selectedIndex = '2'"&gt;button 2&lt;/button&gt;</a:t>
            </a:r>
            <a:endParaRPr/>
          </a:p>
          <a:p>
            <a:pPr marL="0" lvl="0" indent="0" algn="l" rtl="0">
              <a:spcBef>
                <a:spcPts val="0"/>
              </a:spcBef>
              <a:spcAft>
                <a:spcPts val="0"/>
              </a:spcAft>
              <a:buNone/>
            </a:pPr>
            <a:r>
              <a:rPr lang="el"/>
              <a:t>&lt;button onclick="alert(document.getElementById('mySelect').options[0].text)"&gt;button 3&lt;/button&gt;</a:t>
            </a:r>
            <a:endParaRPr/>
          </a:p>
          <a:p>
            <a:pPr marL="0" lvl="0" indent="0" algn="l" rtl="0">
              <a:spcBef>
                <a:spcPts val="0"/>
              </a:spcBef>
              <a:spcAft>
                <a:spcPts val="0"/>
              </a:spcAft>
              <a:buNone/>
            </a:pPr>
            <a:r>
              <a:rPr lang="el"/>
              <a:t>&lt;button onclick="alert(document.getElementById('mySelect').options[2].text)"&gt;button 4&lt;/button&gt;</a:t>
            </a:r>
            <a:endParaRPr/>
          </a:p>
          <a:p>
            <a:pPr marL="0" lvl="0" indent="0" algn="l" rtl="0">
              <a:spcBef>
                <a:spcPts val="0"/>
              </a:spcBef>
              <a:spcAft>
                <a:spcPts val="0"/>
              </a:spcAft>
              <a:buNone/>
            </a:pPr>
            <a:r>
              <a:rPr lang="el"/>
              <a:t>&lt;button onclick="alert(document.getElementById('mySelect').options[document.getElementById('mySelect').options.length-1].text)"&gt;button 5&lt;/button&gt;</a:t>
            </a:r>
            <a:endParaRPr/>
          </a:p>
          <a:p>
            <a:pPr marL="0" lvl="0" indent="0" algn="l" rtl="0">
              <a:spcBef>
                <a:spcPts val="0"/>
              </a:spcBef>
              <a:spcAft>
                <a:spcPts val="0"/>
              </a:spcAft>
              <a:buNone/>
            </a:pPr>
            <a:r>
              <a:rPr lang="el"/>
              <a:t>&lt;button onclick="alert(document.getElementById('mySelect').options[document.getElementById('mySelect').selectedIndex].text)"&gt;button 6&lt;/button&gt;</a:t>
            </a:r>
            <a:endParaRPr/>
          </a:p>
          <a:p>
            <a:pPr marL="0" lvl="0" indent="0" algn="l" rtl="0">
              <a:spcBef>
                <a:spcPts val="0"/>
              </a:spcBef>
              <a:spcAft>
                <a:spcPts val="0"/>
              </a:spcAft>
              <a:buNone/>
            </a:pPr>
            <a:r>
              <a:rPr lang="el"/>
              <a:t>&lt;button onclick="document.getElementById('mySelect').options[4].text='kiwi'"&gt;button 7&lt;/button&gt;</a:t>
            </a:r>
            <a:endParaRPr/>
          </a:p>
          <a:p>
            <a:pPr marL="0" lvl="0" indent="0" algn="l" rtl="0">
              <a:spcBef>
                <a:spcPts val="0"/>
              </a:spcBef>
              <a:spcAft>
                <a:spcPts val="0"/>
              </a:spcAft>
              <a:buNone/>
            </a:pPr>
            <a:r>
              <a:rPr lang="el"/>
              <a:t>&lt;/body&gt;&lt;/html&gt;</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graphicFrame>
        <p:nvGraphicFramePr>
          <p:cNvPr id="356" name="Google Shape;356;p43"/>
          <p:cNvGraphicFramePr/>
          <p:nvPr/>
        </p:nvGraphicFramePr>
        <p:xfrm>
          <a:off x="5234300" y="1225275"/>
          <a:ext cx="3000000" cy="3000000"/>
        </p:xfrm>
        <a:graphic>
          <a:graphicData uri="http://schemas.openxmlformats.org/drawingml/2006/table">
            <a:tbl>
              <a:tblPr>
                <a:noFill/>
                <a:tableStyleId>{FD1D21A9-7E1A-4391-8461-BF05E97620D1}</a:tableStyleId>
              </a:tblPr>
              <a:tblGrid>
                <a:gridCol w="807500">
                  <a:extLst>
                    <a:ext uri="{9D8B030D-6E8A-4147-A177-3AD203B41FA5}">
                      <a16:colId xmlns:a16="http://schemas.microsoft.com/office/drawing/2014/main" val="20000"/>
                    </a:ext>
                  </a:extLst>
                </a:gridCol>
                <a:gridCol w="807500">
                  <a:extLst>
                    <a:ext uri="{9D8B030D-6E8A-4147-A177-3AD203B41FA5}">
                      <a16:colId xmlns:a16="http://schemas.microsoft.com/office/drawing/2014/main" val="20001"/>
                    </a:ext>
                  </a:extLst>
                </a:gridCol>
                <a:gridCol w="807500">
                  <a:extLst>
                    <a:ext uri="{9D8B030D-6E8A-4147-A177-3AD203B41FA5}">
                      <a16:colId xmlns:a16="http://schemas.microsoft.com/office/drawing/2014/main" val="20002"/>
                    </a:ext>
                  </a:extLst>
                </a:gridCol>
                <a:gridCol w="807500">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el" sz="1200"/>
                        <a:t>0</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1</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2</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3</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363600">
                <a:tc>
                  <a:txBody>
                    <a:bodyPr/>
                    <a:lstStyle/>
                    <a:p>
                      <a:pPr marL="0" lvl="0" indent="0" algn="l" rtl="0">
                        <a:spcBef>
                          <a:spcPts val="0"/>
                        </a:spcBef>
                        <a:spcAft>
                          <a:spcPts val="0"/>
                        </a:spcAft>
                        <a:buNone/>
                      </a:pPr>
                      <a:r>
                        <a:rPr lang="el" sz="1200"/>
                        <a:t>Apple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Banana</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57" name="Google Shape;357;p43"/>
          <p:cNvSpPr txBox="1"/>
          <p:nvPr/>
        </p:nvSpPr>
        <p:spPr>
          <a:xfrm>
            <a:off x="5234300" y="950650"/>
            <a:ext cx="1022400" cy="25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latin typeface="Calibri"/>
                <a:ea typeface="Calibri"/>
                <a:cs typeface="Calibri"/>
                <a:sym typeface="Calibri"/>
              </a:rPr>
              <a:t>options</a:t>
            </a:r>
            <a:endParaRPr>
              <a:latin typeface="Calibri"/>
              <a:ea typeface="Calibri"/>
              <a:cs typeface="Calibri"/>
              <a:sym typeface="Calibri"/>
            </a:endParaRPr>
          </a:p>
        </p:txBody>
      </p:sp>
      <p:pic>
        <p:nvPicPr>
          <p:cNvPr id="358" name="Google Shape;358;p43"/>
          <p:cNvPicPr preferRelativeResize="0"/>
          <p:nvPr/>
        </p:nvPicPr>
        <p:blipFill>
          <a:blip r:embed="rId3">
            <a:alphaModFix/>
          </a:blip>
          <a:stretch>
            <a:fillRect/>
          </a:stretch>
        </p:blipFill>
        <p:spPr>
          <a:xfrm>
            <a:off x="2783125" y="1057575"/>
            <a:ext cx="2133600" cy="89534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4"/>
          <p:cNvSpPr txBox="1">
            <a:spLocks noGrp="1"/>
          </p:cNvSpPr>
          <p:nvPr>
            <p:ph type="title"/>
          </p:nvPr>
        </p:nvSpPr>
        <p:spPr>
          <a:xfrm>
            <a:off x="311700" y="2377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 3:  </a:t>
            </a:r>
            <a:r>
              <a:rPr lang="el" sz="2400"/>
              <a:t>Αντικείμενο select στην javascript</a:t>
            </a:r>
            <a:endParaRPr sz="2400"/>
          </a:p>
        </p:txBody>
      </p:sp>
      <p:sp>
        <p:nvSpPr>
          <p:cNvPr id="364" name="Google Shape;364;p44"/>
          <p:cNvSpPr txBox="1"/>
          <p:nvPr/>
        </p:nvSpPr>
        <p:spPr>
          <a:xfrm>
            <a:off x="343100" y="646825"/>
            <a:ext cx="8175900" cy="393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sz="1300"/>
              <a:t>&lt;html&gt;&lt;body&gt;</a:t>
            </a:r>
            <a:endParaRPr sz="1300"/>
          </a:p>
          <a:p>
            <a:pPr marL="0" lvl="0" indent="0" algn="l" rtl="0">
              <a:spcBef>
                <a:spcPts val="0"/>
              </a:spcBef>
              <a:spcAft>
                <a:spcPts val="0"/>
              </a:spcAft>
              <a:buNone/>
            </a:pPr>
            <a:r>
              <a:rPr lang="el" sz="1300"/>
              <a:t>&lt;select id="mySelect"&gt;</a:t>
            </a:r>
            <a:endParaRPr sz="1300"/>
          </a:p>
          <a:p>
            <a:pPr marL="0" lvl="0" indent="0" algn="l" rtl="0">
              <a:spcBef>
                <a:spcPts val="0"/>
              </a:spcBef>
              <a:spcAft>
                <a:spcPts val="0"/>
              </a:spcAft>
              <a:buNone/>
            </a:pPr>
            <a:r>
              <a:rPr lang="el" sz="1300"/>
              <a:t>  &lt;option&gt;Apple&lt;/option&gt;</a:t>
            </a:r>
            <a:endParaRPr sz="1300"/>
          </a:p>
          <a:p>
            <a:pPr marL="0" lvl="0" indent="0" algn="l" rtl="0">
              <a:spcBef>
                <a:spcPts val="0"/>
              </a:spcBef>
              <a:spcAft>
                <a:spcPts val="0"/>
              </a:spcAft>
              <a:buNone/>
            </a:pPr>
            <a:r>
              <a:rPr lang="el" sz="1300"/>
              <a:t>  &lt;option&gt;Orange&lt;/option&gt;</a:t>
            </a:r>
            <a:endParaRPr sz="1300"/>
          </a:p>
          <a:p>
            <a:pPr marL="0" lvl="0" indent="0" algn="l" rtl="0">
              <a:spcBef>
                <a:spcPts val="0"/>
              </a:spcBef>
              <a:spcAft>
                <a:spcPts val="0"/>
              </a:spcAft>
              <a:buNone/>
            </a:pPr>
            <a:r>
              <a:rPr lang="el" sz="1300"/>
              <a:t>  &lt;option&gt;Pineapple&lt;/option&gt;</a:t>
            </a:r>
            <a:endParaRPr sz="1300"/>
          </a:p>
          <a:p>
            <a:pPr marL="0" lvl="0" indent="0" algn="l" rtl="0">
              <a:spcBef>
                <a:spcPts val="0"/>
              </a:spcBef>
              <a:spcAft>
                <a:spcPts val="0"/>
              </a:spcAft>
              <a:buNone/>
            </a:pPr>
            <a:r>
              <a:rPr lang="el" sz="1300"/>
              <a:t>  &lt;option&gt;Banana&lt;/option&gt;</a:t>
            </a:r>
            <a:endParaRPr sz="1300"/>
          </a:p>
          <a:p>
            <a:pPr marL="0" lvl="0" indent="0" algn="l" rtl="0">
              <a:spcBef>
                <a:spcPts val="0"/>
              </a:spcBef>
              <a:spcAft>
                <a:spcPts val="0"/>
              </a:spcAft>
              <a:buNone/>
            </a:pPr>
            <a:r>
              <a:rPr lang="el" sz="1300"/>
              <a:t>&lt;/select&gt;&lt;Br&gt;&lt;Br&gt;&lt;Br&gt;&lt;Br&gt;&lt;Br&gt;&lt;Br&gt;</a:t>
            </a:r>
            <a:endParaRPr sz="1300"/>
          </a:p>
          <a:p>
            <a:pPr marL="0" lvl="0" indent="0" algn="l" rtl="0">
              <a:spcBef>
                <a:spcPts val="0"/>
              </a:spcBef>
              <a:spcAft>
                <a:spcPts val="0"/>
              </a:spcAft>
              <a:buNone/>
            </a:pPr>
            <a:r>
              <a:rPr lang="el" sz="1300"/>
              <a:t>&lt;input type=button value="insert" &gt;</a:t>
            </a:r>
            <a:endParaRPr sz="1300"/>
          </a:p>
          <a:p>
            <a:pPr marL="0" lvl="0" indent="0" algn="l" rtl="0">
              <a:spcBef>
                <a:spcPts val="0"/>
              </a:spcBef>
              <a:spcAft>
                <a:spcPts val="0"/>
              </a:spcAft>
              <a:buNone/>
            </a:pPr>
            <a:r>
              <a:rPr lang="el" sz="1300"/>
              <a:t>&lt;input type="text" id="t1"&gt;&lt;br&gt;&lt;br&gt;</a:t>
            </a:r>
            <a:endParaRPr sz="1300"/>
          </a:p>
          <a:p>
            <a:pPr marL="0" lvl="0" indent="0" algn="l" rtl="0">
              <a:spcBef>
                <a:spcPts val="0"/>
              </a:spcBef>
              <a:spcAft>
                <a:spcPts val="0"/>
              </a:spcAft>
              <a:buNone/>
            </a:pPr>
            <a:r>
              <a:rPr lang="el" sz="1300"/>
              <a:t>&lt;input type=button value="change first"&gt;&lt;input type="text" id="t2"&gt;&lt;br&gt;&lt;br&gt;</a:t>
            </a:r>
            <a:endParaRPr sz="1300"/>
          </a:p>
          <a:p>
            <a:pPr marL="0" lvl="0" indent="0" algn="l" rtl="0">
              <a:spcBef>
                <a:spcPts val="0"/>
              </a:spcBef>
              <a:spcAft>
                <a:spcPts val="0"/>
              </a:spcAft>
              <a:buNone/>
            </a:pPr>
            <a:r>
              <a:rPr lang="el" sz="1300"/>
              <a:t>&lt;input type=button  value="change last"&gt;&lt;input type="text" id="t3"&gt;&lt;br&gt;&lt;br&gt;</a:t>
            </a:r>
            <a:endParaRPr sz="1300"/>
          </a:p>
          <a:p>
            <a:pPr marL="0" lvl="0" indent="0" algn="l" rtl="0">
              <a:spcBef>
                <a:spcPts val="0"/>
              </a:spcBef>
              <a:spcAft>
                <a:spcPts val="0"/>
              </a:spcAft>
              <a:buNone/>
            </a:pPr>
            <a:r>
              <a:rPr lang="el" sz="1300"/>
              <a:t>&lt;input type=button value="show first"&gt;&lt;br&gt;&lt;br&gt;</a:t>
            </a:r>
            <a:endParaRPr sz="1300"/>
          </a:p>
          <a:p>
            <a:pPr marL="0" lvl="0" indent="0" algn="l" rtl="0">
              <a:spcBef>
                <a:spcPts val="0"/>
              </a:spcBef>
              <a:spcAft>
                <a:spcPts val="0"/>
              </a:spcAft>
              <a:buNone/>
            </a:pPr>
            <a:r>
              <a:rPr lang="el" sz="1300"/>
              <a:t>&lt;input type=button value="delete last"&gt;</a:t>
            </a:r>
            <a:endParaRPr sz="1300"/>
          </a:p>
          <a:p>
            <a:pPr marL="0" lvl="0" indent="0" algn="l" rtl="0">
              <a:spcBef>
                <a:spcPts val="0"/>
              </a:spcBef>
              <a:spcAft>
                <a:spcPts val="0"/>
              </a:spcAft>
              <a:buNone/>
            </a:pPr>
            <a:r>
              <a:rPr lang="el" sz="1300"/>
              <a:t>&lt;/body&gt;&lt;/html&gt;</a:t>
            </a:r>
            <a:endParaRPr sz="1300"/>
          </a:p>
          <a:p>
            <a:pPr marL="0" lvl="0" indent="0" algn="l" rtl="0">
              <a:spcBef>
                <a:spcPts val="0"/>
              </a:spcBef>
              <a:spcAft>
                <a:spcPts val="0"/>
              </a:spcAft>
              <a:buNone/>
            </a:pPr>
            <a:endParaRPr sz="1300"/>
          </a:p>
          <a:p>
            <a:pPr marL="0" lvl="0" indent="0" algn="l" rtl="0">
              <a:spcBef>
                <a:spcPts val="0"/>
              </a:spcBef>
              <a:spcAft>
                <a:spcPts val="0"/>
              </a:spcAft>
              <a:buNone/>
            </a:pPr>
            <a:endParaRPr/>
          </a:p>
          <a:p>
            <a:pPr marL="0" lvl="0" indent="0" algn="l" rtl="0">
              <a:spcBef>
                <a:spcPts val="0"/>
              </a:spcBef>
              <a:spcAft>
                <a:spcPts val="0"/>
              </a:spcAft>
              <a:buNone/>
            </a:pPr>
            <a:endParaRPr/>
          </a:p>
        </p:txBody>
      </p:sp>
      <p:graphicFrame>
        <p:nvGraphicFramePr>
          <p:cNvPr id="365" name="Google Shape;365;p44"/>
          <p:cNvGraphicFramePr/>
          <p:nvPr/>
        </p:nvGraphicFramePr>
        <p:xfrm>
          <a:off x="5234300" y="1225275"/>
          <a:ext cx="3000000" cy="3000000"/>
        </p:xfrm>
        <a:graphic>
          <a:graphicData uri="http://schemas.openxmlformats.org/drawingml/2006/table">
            <a:tbl>
              <a:tblPr>
                <a:noFill/>
                <a:tableStyleId>{FD1D21A9-7E1A-4391-8461-BF05E97620D1}</a:tableStyleId>
              </a:tblPr>
              <a:tblGrid>
                <a:gridCol w="807500">
                  <a:extLst>
                    <a:ext uri="{9D8B030D-6E8A-4147-A177-3AD203B41FA5}">
                      <a16:colId xmlns:a16="http://schemas.microsoft.com/office/drawing/2014/main" val="20000"/>
                    </a:ext>
                  </a:extLst>
                </a:gridCol>
                <a:gridCol w="807500">
                  <a:extLst>
                    <a:ext uri="{9D8B030D-6E8A-4147-A177-3AD203B41FA5}">
                      <a16:colId xmlns:a16="http://schemas.microsoft.com/office/drawing/2014/main" val="20001"/>
                    </a:ext>
                  </a:extLst>
                </a:gridCol>
                <a:gridCol w="807500">
                  <a:extLst>
                    <a:ext uri="{9D8B030D-6E8A-4147-A177-3AD203B41FA5}">
                      <a16:colId xmlns:a16="http://schemas.microsoft.com/office/drawing/2014/main" val="20002"/>
                    </a:ext>
                  </a:extLst>
                </a:gridCol>
                <a:gridCol w="807500">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el" sz="1200"/>
                        <a:t>0</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1</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2</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3</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363600">
                <a:tc>
                  <a:txBody>
                    <a:bodyPr/>
                    <a:lstStyle/>
                    <a:p>
                      <a:pPr marL="0" lvl="0" indent="0" algn="l" rtl="0">
                        <a:spcBef>
                          <a:spcPts val="0"/>
                        </a:spcBef>
                        <a:spcAft>
                          <a:spcPts val="0"/>
                        </a:spcAft>
                        <a:buNone/>
                      </a:pPr>
                      <a:r>
                        <a:rPr lang="el" sz="1200"/>
                        <a:t>Apple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Banana</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66" name="Google Shape;366;p44"/>
          <p:cNvSpPr txBox="1"/>
          <p:nvPr/>
        </p:nvSpPr>
        <p:spPr>
          <a:xfrm>
            <a:off x="5234300" y="950650"/>
            <a:ext cx="1022400" cy="25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latin typeface="Calibri"/>
                <a:ea typeface="Calibri"/>
                <a:cs typeface="Calibri"/>
                <a:sym typeface="Calibri"/>
              </a:rPr>
              <a:t>options</a:t>
            </a:r>
            <a:endParaRPr>
              <a:latin typeface="Calibri"/>
              <a:ea typeface="Calibri"/>
              <a:cs typeface="Calibri"/>
              <a:sym typeface="Calibri"/>
            </a:endParaRPr>
          </a:p>
        </p:txBody>
      </p:sp>
      <p:pic>
        <p:nvPicPr>
          <p:cNvPr id="367" name="Google Shape;367;p44"/>
          <p:cNvPicPr preferRelativeResize="0"/>
          <p:nvPr/>
        </p:nvPicPr>
        <p:blipFill>
          <a:blip r:embed="rId3">
            <a:alphaModFix/>
          </a:blip>
          <a:stretch>
            <a:fillRect/>
          </a:stretch>
        </p:blipFill>
        <p:spPr>
          <a:xfrm>
            <a:off x="3662525" y="823127"/>
            <a:ext cx="1022400" cy="1195717"/>
          </a:xfrm>
          <a:prstGeom prst="rect">
            <a:avLst/>
          </a:prstGeom>
          <a:noFill/>
          <a:ln>
            <a:noFill/>
          </a:ln>
        </p:spPr>
      </p:pic>
      <p:sp>
        <p:nvSpPr>
          <p:cNvPr id="368" name="Google Shape;368;p44"/>
          <p:cNvSpPr txBox="1"/>
          <p:nvPr/>
        </p:nvSpPr>
        <p:spPr>
          <a:xfrm>
            <a:off x="2874825" y="3307025"/>
            <a:ext cx="5998500" cy="1589400"/>
          </a:xfrm>
          <a:prstGeom prst="rect">
            <a:avLst/>
          </a:prstGeom>
          <a:solidFill>
            <a:srgbClr val="D9EAD3"/>
          </a:solidFill>
          <a:ln>
            <a:noFill/>
          </a:ln>
        </p:spPr>
        <p:txBody>
          <a:bodyPr spcFirstLastPara="1" wrap="square" lIns="91425" tIns="91425" rIns="91425" bIns="91425" anchor="t" anchorCtr="0">
            <a:noAutofit/>
          </a:bodyPr>
          <a:lstStyle/>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πατάμε το insert, το κείμενο που υπάρχει στο διπλανό πεδίο κειμένου να μπαίνει ως τελευταίο στη λίστα</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το ποντίκι περνάει από το change first, να αλλάζει το πρώτο στοιχείο της λίστας με το το κείμενο που υπάρχει στο διπλανό πεδίο κειμένου</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το ποντίκι περνάει από  το change last, να αλλάζει το τελευταίο στοιχείο της λίστας με το το κείμενο που υπάρχει στο διπλανό πεδίο κειμένου</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πατάμε το  show first, να εμφανίζει σε pop up το πρώτο στοιχείο της λίστας </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παταμε delete last να διαγράφεται το τελευταίο στοιχείο της λίστας</a:t>
            </a:r>
            <a:endParaRPr sz="1200">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45"/>
          <p:cNvSpPr txBox="1">
            <a:spLocks noGrp="1"/>
          </p:cNvSpPr>
          <p:nvPr>
            <p:ph type="title"/>
          </p:nvPr>
        </p:nvSpPr>
        <p:spPr>
          <a:xfrm>
            <a:off x="311700" y="2377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 3 - Λύση:  </a:t>
            </a:r>
            <a:r>
              <a:rPr lang="el" sz="2400"/>
              <a:t>Αντικείμενο select στην javascript</a:t>
            </a:r>
            <a:endParaRPr sz="2400"/>
          </a:p>
        </p:txBody>
      </p:sp>
      <p:sp>
        <p:nvSpPr>
          <p:cNvPr id="374" name="Google Shape;374;p45"/>
          <p:cNvSpPr txBox="1"/>
          <p:nvPr/>
        </p:nvSpPr>
        <p:spPr>
          <a:xfrm>
            <a:off x="343100" y="646825"/>
            <a:ext cx="8175900" cy="242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sz="1300"/>
              <a:t>&lt;html&gt;&lt;body&gt;</a:t>
            </a:r>
            <a:endParaRPr sz="1300"/>
          </a:p>
          <a:p>
            <a:pPr marL="0" lvl="0" indent="0" algn="l" rtl="0">
              <a:spcBef>
                <a:spcPts val="0"/>
              </a:spcBef>
              <a:spcAft>
                <a:spcPts val="0"/>
              </a:spcAft>
              <a:buNone/>
            </a:pPr>
            <a:r>
              <a:rPr lang="el" sz="1300"/>
              <a:t>&lt;select id="mySelect"&gt;</a:t>
            </a:r>
            <a:endParaRPr sz="1300"/>
          </a:p>
          <a:p>
            <a:pPr marL="0" lvl="0" indent="0" algn="l" rtl="0">
              <a:spcBef>
                <a:spcPts val="0"/>
              </a:spcBef>
              <a:spcAft>
                <a:spcPts val="0"/>
              </a:spcAft>
              <a:buNone/>
            </a:pPr>
            <a:r>
              <a:rPr lang="el" sz="1300"/>
              <a:t>  &lt;option&gt;Apple&lt;/option&gt;</a:t>
            </a:r>
            <a:endParaRPr sz="1300"/>
          </a:p>
          <a:p>
            <a:pPr marL="0" lvl="0" indent="0" algn="l" rtl="0">
              <a:spcBef>
                <a:spcPts val="0"/>
              </a:spcBef>
              <a:spcAft>
                <a:spcPts val="0"/>
              </a:spcAft>
              <a:buNone/>
            </a:pPr>
            <a:r>
              <a:rPr lang="el" sz="1300"/>
              <a:t>  &lt;option&gt;Orange&lt;/option&gt;</a:t>
            </a:r>
            <a:endParaRPr sz="1300"/>
          </a:p>
          <a:p>
            <a:pPr marL="0" lvl="0" indent="0" algn="l" rtl="0">
              <a:spcBef>
                <a:spcPts val="0"/>
              </a:spcBef>
              <a:spcAft>
                <a:spcPts val="0"/>
              </a:spcAft>
              <a:buNone/>
            </a:pPr>
            <a:r>
              <a:rPr lang="el" sz="1300"/>
              <a:t>  &lt;option&gt;Pineapple&lt;/option&gt;</a:t>
            </a:r>
            <a:endParaRPr sz="1300"/>
          </a:p>
          <a:p>
            <a:pPr marL="0" lvl="0" indent="0" algn="l" rtl="0">
              <a:spcBef>
                <a:spcPts val="0"/>
              </a:spcBef>
              <a:spcAft>
                <a:spcPts val="0"/>
              </a:spcAft>
              <a:buNone/>
            </a:pPr>
            <a:r>
              <a:rPr lang="el" sz="1300"/>
              <a:t>  &lt;option&gt;Banana&lt;/option&gt;</a:t>
            </a:r>
            <a:endParaRPr sz="1300"/>
          </a:p>
          <a:p>
            <a:pPr marL="0" lvl="0" indent="0" algn="l" rtl="0">
              <a:spcBef>
                <a:spcPts val="0"/>
              </a:spcBef>
              <a:spcAft>
                <a:spcPts val="0"/>
              </a:spcAft>
              <a:buNone/>
            </a:pPr>
            <a:r>
              <a:rPr lang="el" sz="1300"/>
              <a:t>&lt;/select&gt;&lt;Br&gt;&lt;Br&gt;&lt;Br&gt;&lt;Br&gt;&lt;Br&gt;&lt;Br&gt;</a:t>
            </a:r>
            <a:endParaRPr sz="1300"/>
          </a:p>
          <a:p>
            <a:pPr marL="0" lvl="0" indent="0" algn="l" rtl="0">
              <a:spcBef>
                <a:spcPts val="0"/>
              </a:spcBef>
              <a:spcAft>
                <a:spcPts val="0"/>
              </a:spcAft>
              <a:buNone/>
            </a:pPr>
            <a:r>
              <a:rPr lang="el" sz="1300"/>
              <a:t>&lt;input type=button value="insert" onclick="document.getElementById('mySelect').options.length+=1;</a:t>
            </a:r>
            <a:endParaRPr sz="1300"/>
          </a:p>
          <a:p>
            <a:pPr marL="0" lvl="0" indent="0" algn="l" rtl="0">
              <a:spcBef>
                <a:spcPts val="0"/>
              </a:spcBef>
              <a:spcAft>
                <a:spcPts val="0"/>
              </a:spcAft>
              <a:buNone/>
            </a:pPr>
            <a:r>
              <a:rPr lang="el" sz="1300"/>
              <a:t>document.getElementById('mySelect').options[document.getElementById('mySelect').options.length-1].text=</a:t>
            </a:r>
            <a:endParaRPr sz="1300"/>
          </a:p>
          <a:p>
            <a:pPr marL="0" lvl="0" indent="0" algn="l" rtl="0">
              <a:spcBef>
                <a:spcPts val="0"/>
              </a:spcBef>
              <a:spcAft>
                <a:spcPts val="0"/>
              </a:spcAft>
              <a:buNone/>
            </a:pPr>
            <a:r>
              <a:rPr lang="el" sz="1300"/>
              <a:t>document.getElementById('t1').value"&gt;</a:t>
            </a:r>
            <a:endParaRPr sz="1300"/>
          </a:p>
          <a:p>
            <a:pPr marL="0" lvl="0" indent="0" algn="l" rtl="0">
              <a:spcBef>
                <a:spcPts val="0"/>
              </a:spcBef>
              <a:spcAft>
                <a:spcPts val="0"/>
              </a:spcAft>
              <a:buNone/>
            </a:pPr>
            <a:r>
              <a:rPr lang="el" sz="1300"/>
              <a:t>&lt;input type="text" id="t1"&gt;&lt;br&gt;&lt;br&gt;</a:t>
            </a:r>
            <a:endParaRPr sz="1300"/>
          </a:p>
          <a:p>
            <a:pPr marL="0" lvl="0" indent="0" algn="l" rtl="0">
              <a:spcBef>
                <a:spcPts val="0"/>
              </a:spcBef>
              <a:spcAft>
                <a:spcPts val="0"/>
              </a:spcAft>
              <a:buNone/>
            </a:pPr>
            <a:r>
              <a:rPr lang="el" sz="1300"/>
              <a:t>&lt;input type=button value="change first" onmouseover="document.getElementById('mySelect').options[0].text=document.getElementById('t2').value"&gt;&lt;input type="text" id="t2"&gt;&lt;br&gt;&lt;br&gt;</a:t>
            </a:r>
            <a:endParaRPr sz="1300"/>
          </a:p>
          <a:p>
            <a:pPr marL="0" lvl="0" indent="0" algn="l" rtl="0">
              <a:spcBef>
                <a:spcPts val="0"/>
              </a:spcBef>
              <a:spcAft>
                <a:spcPts val="0"/>
              </a:spcAft>
              <a:buNone/>
            </a:pPr>
            <a:r>
              <a:rPr lang="el" sz="1300"/>
              <a:t>&lt;input type=button  value="change last" onmouseout="document.getElementById('mySelect').options[document.getElementById('mySelect').options.length-1].text=document.getElementById('t3').value"&gt;&lt;input type="text" id="t3"&gt;&lt;br&gt;&lt;br&gt;</a:t>
            </a:r>
            <a:endParaRPr sz="1300"/>
          </a:p>
          <a:p>
            <a:pPr marL="0" lvl="0" indent="0" algn="l" rtl="0">
              <a:spcBef>
                <a:spcPts val="0"/>
              </a:spcBef>
              <a:spcAft>
                <a:spcPts val="0"/>
              </a:spcAft>
              <a:buNone/>
            </a:pPr>
            <a:r>
              <a:rPr lang="el" sz="1300"/>
              <a:t>&lt;input type=button value="show first" onclick="alert(document.getElementById('mySelect').options[0].text)"&gt;&lt;br&gt;&lt;br&gt;</a:t>
            </a:r>
            <a:endParaRPr sz="1300"/>
          </a:p>
          <a:p>
            <a:pPr marL="0" lvl="0" indent="0" algn="l" rtl="0">
              <a:spcBef>
                <a:spcPts val="0"/>
              </a:spcBef>
              <a:spcAft>
                <a:spcPts val="0"/>
              </a:spcAft>
              <a:buNone/>
            </a:pPr>
            <a:r>
              <a:rPr lang="el" sz="1300"/>
              <a:t>&lt;input type=button value="delete last" onclick="document.getElementById('mySelect').options.length-=1;"&gt;</a:t>
            </a:r>
            <a:endParaRPr sz="1300"/>
          </a:p>
          <a:p>
            <a:pPr marL="0" lvl="0" indent="0" algn="l" rtl="0">
              <a:spcBef>
                <a:spcPts val="0"/>
              </a:spcBef>
              <a:spcAft>
                <a:spcPts val="0"/>
              </a:spcAft>
              <a:buNone/>
            </a:pPr>
            <a:r>
              <a:rPr lang="el" sz="1300"/>
              <a:t>&lt;/body&gt;&lt;/html&gt;</a:t>
            </a:r>
            <a:endParaRPr sz="1300"/>
          </a:p>
          <a:p>
            <a:pPr marL="0" lvl="0" indent="0" algn="l" rtl="0">
              <a:spcBef>
                <a:spcPts val="0"/>
              </a:spcBef>
              <a:spcAft>
                <a:spcPts val="0"/>
              </a:spcAft>
              <a:buNone/>
            </a:pPr>
            <a:endParaRPr sz="1300"/>
          </a:p>
          <a:p>
            <a:pPr marL="0" lvl="0" indent="0" algn="l" rtl="0">
              <a:spcBef>
                <a:spcPts val="0"/>
              </a:spcBef>
              <a:spcAft>
                <a:spcPts val="0"/>
              </a:spcAft>
              <a:buNone/>
            </a:pPr>
            <a:endParaRPr/>
          </a:p>
          <a:p>
            <a:pPr marL="0" lvl="0" indent="0" algn="l" rtl="0">
              <a:spcBef>
                <a:spcPts val="0"/>
              </a:spcBef>
              <a:spcAft>
                <a:spcPts val="0"/>
              </a:spcAft>
              <a:buNone/>
            </a:pPr>
            <a:endParaRPr/>
          </a:p>
        </p:txBody>
      </p:sp>
      <p:graphicFrame>
        <p:nvGraphicFramePr>
          <p:cNvPr id="375" name="Google Shape;375;p45"/>
          <p:cNvGraphicFramePr/>
          <p:nvPr/>
        </p:nvGraphicFramePr>
        <p:xfrm>
          <a:off x="5234300" y="1225275"/>
          <a:ext cx="3000000" cy="3000000"/>
        </p:xfrm>
        <a:graphic>
          <a:graphicData uri="http://schemas.openxmlformats.org/drawingml/2006/table">
            <a:tbl>
              <a:tblPr>
                <a:noFill/>
                <a:tableStyleId>{FD1D21A9-7E1A-4391-8461-BF05E97620D1}</a:tableStyleId>
              </a:tblPr>
              <a:tblGrid>
                <a:gridCol w="807500">
                  <a:extLst>
                    <a:ext uri="{9D8B030D-6E8A-4147-A177-3AD203B41FA5}">
                      <a16:colId xmlns:a16="http://schemas.microsoft.com/office/drawing/2014/main" val="20000"/>
                    </a:ext>
                  </a:extLst>
                </a:gridCol>
                <a:gridCol w="807500">
                  <a:extLst>
                    <a:ext uri="{9D8B030D-6E8A-4147-A177-3AD203B41FA5}">
                      <a16:colId xmlns:a16="http://schemas.microsoft.com/office/drawing/2014/main" val="20001"/>
                    </a:ext>
                  </a:extLst>
                </a:gridCol>
                <a:gridCol w="807500">
                  <a:extLst>
                    <a:ext uri="{9D8B030D-6E8A-4147-A177-3AD203B41FA5}">
                      <a16:colId xmlns:a16="http://schemas.microsoft.com/office/drawing/2014/main" val="20002"/>
                    </a:ext>
                  </a:extLst>
                </a:gridCol>
                <a:gridCol w="807500">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el" sz="1200"/>
                        <a:t>0</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1</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2</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3</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363600">
                <a:tc>
                  <a:txBody>
                    <a:bodyPr/>
                    <a:lstStyle/>
                    <a:p>
                      <a:pPr marL="0" lvl="0" indent="0" algn="l" rtl="0">
                        <a:spcBef>
                          <a:spcPts val="0"/>
                        </a:spcBef>
                        <a:spcAft>
                          <a:spcPts val="0"/>
                        </a:spcAft>
                        <a:buNone/>
                      </a:pPr>
                      <a:r>
                        <a:rPr lang="el" sz="1200"/>
                        <a:t>Apple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Banana</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76" name="Google Shape;376;p45"/>
          <p:cNvSpPr txBox="1"/>
          <p:nvPr/>
        </p:nvSpPr>
        <p:spPr>
          <a:xfrm>
            <a:off x="5234300" y="950650"/>
            <a:ext cx="1022400" cy="25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latin typeface="Calibri"/>
                <a:ea typeface="Calibri"/>
                <a:cs typeface="Calibri"/>
                <a:sym typeface="Calibri"/>
              </a:rPr>
              <a:t>options</a:t>
            </a:r>
            <a:endParaRPr>
              <a:latin typeface="Calibri"/>
              <a:ea typeface="Calibri"/>
              <a:cs typeface="Calibri"/>
              <a:sym typeface="Calibri"/>
            </a:endParaRPr>
          </a:p>
        </p:txBody>
      </p:sp>
      <p:pic>
        <p:nvPicPr>
          <p:cNvPr id="377" name="Google Shape;377;p45"/>
          <p:cNvPicPr preferRelativeResize="0"/>
          <p:nvPr/>
        </p:nvPicPr>
        <p:blipFill>
          <a:blip r:embed="rId3">
            <a:alphaModFix/>
          </a:blip>
          <a:stretch>
            <a:fillRect/>
          </a:stretch>
        </p:blipFill>
        <p:spPr>
          <a:xfrm>
            <a:off x="3662525" y="823127"/>
            <a:ext cx="1022400" cy="119571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6"/>
          <p:cNvSpPr txBox="1">
            <a:spLocks noGrp="1"/>
          </p:cNvSpPr>
          <p:nvPr>
            <p:ph type="title"/>
          </p:nvPr>
        </p:nvSpPr>
        <p:spPr>
          <a:xfrm>
            <a:off x="311700" y="2377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 4 - </a:t>
            </a:r>
            <a:r>
              <a:rPr lang="el" sz="1800"/>
              <a:t>Αντικείμενο select στην javascript (remove)</a:t>
            </a:r>
            <a:endParaRPr sz="1800"/>
          </a:p>
        </p:txBody>
      </p:sp>
      <p:sp>
        <p:nvSpPr>
          <p:cNvPr id="383" name="Google Shape;383;p46"/>
          <p:cNvSpPr txBox="1"/>
          <p:nvPr/>
        </p:nvSpPr>
        <p:spPr>
          <a:xfrm>
            <a:off x="343100" y="646825"/>
            <a:ext cx="8175900" cy="242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&lt;!DOCTYPE html&gt;</a:t>
            </a:r>
            <a:endParaRPr/>
          </a:p>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endParaRPr/>
          </a:p>
          <a:p>
            <a:pPr marL="0" lvl="0" indent="0" algn="l" rtl="0">
              <a:spcBef>
                <a:spcPts val="0"/>
              </a:spcBef>
              <a:spcAft>
                <a:spcPts val="0"/>
              </a:spcAft>
              <a:buNone/>
            </a:pPr>
            <a:r>
              <a:rPr lang="el"/>
              <a:t>&lt;select id="mySelect"&gt;</a:t>
            </a:r>
            <a:endParaRPr/>
          </a:p>
          <a:p>
            <a:pPr marL="0" lvl="0" indent="0" algn="l" rtl="0">
              <a:spcBef>
                <a:spcPts val="0"/>
              </a:spcBef>
              <a:spcAft>
                <a:spcPts val="0"/>
              </a:spcAft>
              <a:buNone/>
            </a:pPr>
            <a:r>
              <a:rPr lang="el"/>
              <a:t>  &lt;option&gt;Apple&lt;/option&gt;</a:t>
            </a:r>
            <a:endParaRPr/>
          </a:p>
          <a:p>
            <a:pPr marL="0" lvl="0" indent="0" algn="l" rtl="0">
              <a:spcBef>
                <a:spcPts val="0"/>
              </a:spcBef>
              <a:spcAft>
                <a:spcPts val="0"/>
              </a:spcAft>
              <a:buNone/>
            </a:pPr>
            <a:r>
              <a:rPr lang="el"/>
              <a:t>  &lt;option&gt;Orange&lt;/option&gt;</a:t>
            </a:r>
            <a:endParaRPr/>
          </a:p>
          <a:p>
            <a:pPr marL="0" lvl="0" indent="0" algn="l" rtl="0">
              <a:spcBef>
                <a:spcPts val="0"/>
              </a:spcBef>
              <a:spcAft>
                <a:spcPts val="0"/>
              </a:spcAft>
              <a:buNone/>
            </a:pPr>
            <a:r>
              <a:rPr lang="el"/>
              <a:t>  &lt;option&gt;Pineapple&lt;/option&gt;</a:t>
            </a:r>
            <a:endParaRPr/>
          </a:p>
          <a:p>
            <a:pPr marL="0" lvl="0" indent="0" algn="l" rtl="0">
              <a:spcBef>
                <a:spcPts val="0"/>
              </a:spcBef>
              <a:spcAft>
                <a:spcPts val="0"/>
              </a:spcAft>
              <a:buNone/>
            </a:pPr>
            <a:r>
              <a:rPr lang="el"/>
              <a:t>  &lt;option&gt;Banana&lt;/option&gt;</a:t>
            </a:r>
            <a:endParaRPr/>
          </a:p>
          <a:p>
            <a:pPr marL="0" lvl="0" indent="0" algn="l" rtl="0">
              <a:spcBef>
                <a:spcPts val="0"/>
              </a:spcBef>
              <a:spcAft>
                <a:spcPts val="0"/>
              </a:spcAft>
              <a:buNone/>
            </a:pPr>
            <a:r>
              <a:rPr lang="el"/>
              <a:t>&lt;/select&gt;&lt;Br&gt;&lt;Br&gt;&lt;Br&gt;&lt;Br&gt;&lt;Br&gt;&lt;Br&gt;</a:t>
            </a:r>
            <a:endParaRPr/>
          </a:p>
          <a:p>
            <a:pPr marL="0" lvl="0" indent="0" algn="l" rtl="0">
              <a:spcBef>
                <a:spcPts val="0"/>
              </a:spcBef>
              <a:spcAft>
                <a:spcPts val="0"/>
              </a:spcAft>
              <a:buNone/>
            </a:pPr>
            <a:r>
              <a:rPr lang="el"/>
              <a:t>&lt;input type=button value="delete first" &gt;</a:t>
            </a:r>
            <a:endParaRPr/>
          </a:p>
          <a:p>
            <a:pPr marL="0" lvl="0" indent="0" algn="l" rtl="0">
              <a:spcBef>
                <a:spcPts val="0"/>
              </a:spcBef>
              <a:spcAft>
                <a:spcPts val="0"/>
              </a:spcAft>
              <a:buNone/>
            </a:pPr>
            <a:r>
              <a:rPr lang="el"/>
              <a:t>&lt;input type=button value="delete last" &gt;</a:t>
            </a:r>
            <a:endParaRPr/>
          </a:p>
          <a:p>
            <a:pPr marL="0" lvl="0" indent="0" algn="l" rtl="0">
              <a:spcBef>
                <a:spcPts val="0"/>
              </a:spcBef>
              <a:spcAft>
                <a:spcPts val="0"/>
              </a:spcAft>
              <a:buNone/>
            </a:pPr>
            <a:r>
              <a:rPr lang="el"/>
              <a:t>&lt;input type=button value="delete selected" &gt;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a:p>
            <a:pPr marL="0" lvl="0" indent="0" algn="l" rtl="0">
              <a:spcBef>
                <a:spcPts val="0"/>
              </a:spcBef>
              <a:spcAft>
                <a:spcPts val="0"/>
              </a:spcAft>
              <a:buNone/>
            </a:pPr>
            <a:endParaRPr sz="1300"/>
          </a:p>
          <a:p>
            <a:pPr marL="0" lvl="0" indent="0" algn="l" rtl="0">
              <a:spcBef>
                <a:spcPts val="0"/>
              </a:spcBef>
              <a:spcAft>
                <a:spcPts val="0"/>
              </a:spcAft>
              <a:buNone/>
            </a:pPr>
            <a:endParaRPr sz="1300"/>
          </a:p>
          <a:p>
            <a:pPr marL="0" lvl="0" indent="0" algn="l" rtl="0">
              <a:spcBef>
                <a:spcPts val="0"/>
              </a:spcBef>
              <a:spcAft>
                <a:spcPts val="0"/>
              </a:spcAft>
              <a:buNone/>
            </a:pPr>
            <a:endParaRPr/>
          </a:p>
          <a:p>
            <a:pPr marL="0" lvl="0" indent="0" algn="l" rtl="0">
              <a:spcBef>
                <a:spcPts val="0"/>
              </a:spcBef>
              <a:spcAft>
                <a:spcPts val="0"/>
              </a:spcAft>
              <a:buNone/>
            </a:pPr>
            <a:endParaRPr/>
          </a:p>
        </p:txBody>
      </p:sp>
      <p:graphicFrame>
        <p:nvGraphicFramePr>
          <p:cNvPr id="384" name="Google Shape;384;p46"/>
          <p:cNvGraphicFramePr/>
          <p:nvPr/>
        </p:nvGraphicFramePr>
        <p:xfrm>
          <a:off x="5234300" y="1225275"/>
          <a:ext cx="3000000" cy="3000000"/>
        </p:xfrm>
        <a:graphic>
          <a:graphicData uri="http://schemas.openxmlformats.org/drawingml/2006/table">
            <a:tbl>
              <a:tblPr>
                <a:noFill/>
                <a:tableStyleId>{FD1D21A9-7E1A-4391-8461-BF05E97620D1}</a:tableStyleId>
              </a:tblPr>
              <a:tblGrid>
                <a:gridCol w="807500">
                  <a:extLst>
                    <a:ext uri="{9D8B030D-6E8A-4147-A177-3AD203B41FA5}">
                      <a16:colId xmlns:a16="http://schemas.microsoft.com/office/drawing/2014/main" val="20000"/>
                    </a:ext>
                  </a:extLst>
                </a:gridCol>
                <a:gridCol w="807500">
                  <a:extLst>
                    <a:ext uri="{9D8B030D-6E8A-4147-A177-3AD203B41FA5}">
                      <a16:colId xmlns:a16="http://schemas.microsoft.com/office/drawing/2014/main" val="20001"/>
                    </a:ext>
                  </a:extLst>
                </a:gridCol>
                <a:gridCol w="807500">
                  <a:extLst>
                    <a:ext uri="{9D8B030D-6E8A-4147-A177-3AD203B41FA5}">
                      <a16:colId xmlns:a16="http://schemas.microsoft.com/office/drawing/2014/main" val="20002"/>
                    </a:ext>
                  </a:extLst>
                </a:gridCol>
                <a:gridCol w="807500">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el" sz="1200"/>
                        <a:t>0</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1</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2</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3</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363600">
                <a:tc>
                  <a:txBody>
                    <a:bodyPr/>
                    <a:lstStyle/>
                    <a:p>
                      <a:pPr marL="0" lvl="0" indent="0" algn="l" rtl="0">
                        <a:spcBef>
                          <a:spcPts val="0"/>
                        </a:spcBef>
                        <a:spcAft>
                          <a:spcPts val="0"/>
                        </a:spcAft>
                        <a:buNone/>
                      </a:pPr>
                      <a:r>
                        <a:rPr lang="el" sz="1200"/>
                        <a:t>Apple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Banana</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85" name="Google Shape;385;p46"/>
          <p:cNvSpPr txBox="1"/>
          <p:nvPr/>
        </p:nvSpPr>
        <p:spPr>
          <a:xfrm>
            <a:off x="5234300" y="950650"/>
            <a:ext cx="1022400" cy="25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latin typeface="Calibri"/>
                <a:ea typeface="Calibri"/>
                <a:cs typeface="Calibri"/>
                <a:sym typeface="Calibri"/>
              </a:rPr>
              <a:t>options</a:t>
            </a:r>
            <a:endParaRPr>
              <a:latin typeface="Calibri"/>
              <a:ea typeface="Calibri"/>
              <a:cs typeface="Calibri"/>
              <a:sym typeface="Calibri"/>
            </a:endParaRPr>
          </a:p>
        </p:txBody>
      </p:sp>
      <p:pic>
        <p:nvPicPr>
          <p:cNvPr id="386" name="Google Shape;386;p46"/>
          <p:cNvPicPr preferRelativeResize="0"/>
          <p:nvPr/>
        </p:nvPicPr>
        <p:blipFill>
          <a:blip r:embed="rId3">
            <a:alphaModFix/>
          </a:blip>
          <a:stretch>
            <a:fillRect/>
          </a:stretch>
        </p:blipFill>
        <p:spPr>
          <a:xfrm>
            <a:off x="2933575" y="1145200"/>
            <a:ext cx="1851575" cy="953700"/>
          </a:xfrm>
          <a:prstGeom prst="rect">
            <a:avLst/>
          </a:prstGeom>
          <a:noFill/>
          <a:ln>
            <a:noFill/>
          </a:ln>
        </p:spPr>
      </p:pic>
      <p:sp>
        <p:nvSpPr>
          <p:cNvPr id="387" name="Google Shape;387;p46"/>
          <p:cNvSpPr txBox="1"/>
          <p:nvPr/>
        </p:nvSpPr>
        <p:spPr>
          <a:xfrm>
            <a:off x="4107650" y="2571750"/>
            <a:ext cx="4560900" cy="1344000"/>
          </a:xfrm>
          <a:prstGeom prst="rect">
            <a:avLst/>
          </a:prstGeom>
          <a:solidFill>
            <a:srgbClr val="D9EAD3"/>
          </a:solidFill>
          <a:ln>
            <a:noFill/>
          </a:ln>
        </p:spPr>
        <p:txBody>
          <a:bodyPr spcFirstLastPara="1" wrap="square" lIns="91425" tIns="91425" rIns="91425" bIns="91425" anchor="t" anchorCtr="0">
            <a:noAutofit/>
          </a:bodyPr>
          <a:lstStyle/>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πατάμε το delete first να διαγράφεται το πρώτο στοιχείο της λίστας</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πατάμε το delete last να διαγράφεται το τελευταίο στοιχείο της λίστας</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l" sz="1200">
                <a:latin typeface="Calibri"/>
                <a:ea typeface="Calibri"/>
                <a:cs typeface="Calibri"/>
                <a:sym typeface="Calibri"/>
              </a:rPr>
              <a:t>Όταν πατάμε το delete selected να διαγράφεται το επιλεγμένο στοιχείο της λίστας</a:t>
            </a:r>
            <a:endParaRPr sz="1200">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47"/>
          <p:cNvSpPr txBox="1">
            <a:spLocks noGrp="1"/>
          </p:cNvSpPr>
          <p:nvPr>
            <p:ph type="title"/>
          </p:nvPr>
        </p:nvSpPr>
        <p:spPr>
          <a:xfrm>
            <a:off x="311700" y="2377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Άσκηση 4 - </a:t>
            </a:r>
            <a:r>
              <a:rPr lang="el" sz="1800"/>
              <a:t>Λύση:  Αντικείμενο select στην javascript (remove)</a:t>
            </a:r>
            <a:endParaRPr sz="1800"/>
          </a:p>
        </p:txBody>
      </p:sp>
      <p:sp>
        <p:nvSpPr>
          <p:cNvPr id="393" name="Google Shape;393;p47"/>
          <p:cNvSpPr txBox="1"/>
          <p:nvPr/>
        </p:nvSpPr>
        <p:spPr>
          <a:xfrm>
            <a:off x="343100" y="646825"/>
            <a:ext cx="8175900" cy="242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t>&lt;!DOCTYPE html&gt;</a:t>
            </a:r>
            <a:endParaRPr/>
          </a:p>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endParaRPr/>
          </a:p>
          <a:p>
            <a:pPr marL="0" lvl="0" indent="0" algn="l" rtl="0">
              <a:spcBef>
                <a:spcPts val="0"/>
              </a:spcBef>
              <a:spcAft>
                <a:spcPts val="0"/>
              </a:spcAft>
              <a:buNone/>
            </a:pPr>
            <a:r>
              <a:rPr lang="el"/>
              <a:t>&lt;select id="mySelect"&gt;</a:t>
            </a:r>
            <a:endParaRPr/>
          </a:p>
          <a:p>
            <a:pPr marL="0" lvl="0" indent="0" algn="l" rtl="0">
              <a:spcBef>
                <a:spcPts val="0"/>
              </a:spcBef>
              <a:spcAft>
                <a:spcPts val="0"/>
              </a:spcAft>
              <a:buNone/>
            </a:pPr>
            <a:r>
              <a:rPr lang="el"/>
              <a:t>  &lt;option&gt;Apple&lt;/option&gt;</a:t>
            </a:r>
            <a:endParaRPr/>
          </a:p>
          <a:p>
            <a:pPr marL="0" lvl="0" indent="0" algn="l" rtl="0">
              <a:spcBef>
                <a:spcPts val="0"/>
              </a:spcBef>
              <a:spcAft>
                <a:spcPts val="0"/>
              </a:spcAft>
              <a:buNone/>
            </a:pPr>
            <a:r>
              <a:rPr lang="el"/>
              <a:t>  &lt;option&gt;Orange&lt;/option&gt;</a:t>
            </a:r>
            <a:endParaRPr/>
          </a:p>
          <a:p>
            <a:pPr marL="0" lvl="0" indent="0" algn="l" rtl="0">
              <a:spcBef>
                <a:spcPts val="0"/>
              </a:spcBef>
              <a:spcAft>
                <a:spcPts val="0"/>
              </a:spcAft>
              <a:buNone/>
            </a:pPr>
            <a:r>
              <a:rPr lang="el"/>
              <a:t>  &lt;option&gt;Pineapple&lt;/option&gt;</a:t>
            </a:r>
            <a:endParaRPr/>
          </a:p>
          <a:p>
            <a:pPr marL="0" lvl="0" indent="0" algn="l" rtl="0">
              <a:spcBef>
                <a:spcPts val="0"/>
              </a:spcBef>
              <a:spcAft>
                <a:spcPts val="0"/>
              </a:spcAft>
              <a:buNone/>
            </a:pPr>
            <a:r>
              <a:rPr lang="el"/>
              <a:t>  &lt;option&gt;Banana&lt;/option&gt;</a:t>
            </a:r>
            <a:endParaRPr/>
          </a:p>
          <a:p>
            <a:pPr marL="0" lvl="0" indent="0" algn="l" rtl="0">
              <a:spcBef>
                <a:spcPts val="0"/>
              </a:spcBef>
              <a:spcAft>
                <a:spcPts val="0"/>
              </a:spcAft>
              <a:buNone/>
            </a:pPr>
            <a:r>
              <a:rPr lang="el"/>
              <a:t>&lt;/select&gt;&lt;Br&gt;&lt;Br&gt;&lt;Br&gt;&lt;Br&gt;&lt;Br&gt;&lt;Br&gt;</a:t>
            </a:r>
            <a:endParaRPr/>
          </a:p>
          <a:p>
            <a:pPr marL="0" lvl="0" indent="0" algn="l" rtl="0">
              <a:spcBef>
                <a:spcPts val="0"/>
              </a:spcBef>
              <a:spcAft>
                <a:spcPts val="0"/>
              </a:spcAft>
              <a:buNone/>
            </a:pPr>
            <a:r>
              <a:rPr lang="el"/>
              <a:t>&lt;input type=button value="delete first" onclick="document.getElementById('mySelect').remove('0')"&gt;</a:t>
            </a:r>
            <a:endParaRPr/>
          </a:p>
          <a:p>
            <a:pPr marL="0" lvl="0" indent="0" algn="l" rtl="0">
              <a:spcBef>
                <a:spcPts val="0"/>
              </a:spcBef>
              <a:spcAft>
                <a:spcPts val="0"/>
              </a:spcAft>
              <a:buNone/>
            </a:pPr>
            <a:r>
              <a:rPr lang="el"/>
              <a:t>&lt;input type=button value="delete last" onclick="document.getElementById('mySelect').remove(document.getElementById('mySelect').options.length-1)"&gt;</a:t>
            </a:r>
            <a:endParaRPr/>
          </a:p>
          <a:p>
            <a:pPr marL="0" lvl="0" indent="0" algn="l" rtl="0">
              <a:spcBef>
                <a:spcPts val="0"/>
              </a:spcBef>
              <a:spcAft>
                <a:spcPts val="0"/>
              </a:spcAft>
              <a:buNone/>
            </a:pPr>
            <a:r>
              <a:rPr lang="el"/>
              <a:t>&lt;input type=button value="delete selected" onclick="document.getElementById('mySelect').remove(document.getElementById('mySelect').selectedIndex)"&gt;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a:p>
            <a:pPr marL="0" lvl="0" indent="0" algn="l" rtl="0">
              <a:spcBef>
                <a:spcPts val="0"/>
              </a:spcBef>
              <a:spcAft>
                <a:spcPts val="0"/>
              </a:spcAft>
              <a:buNone/>
            </a:pPr>
            <a:endParaRPr sz="1300"/>
          </a:p>
          <a:p>
            <a:pPr marL="0" lvl="0" indent="0" algn="l" rtl="0">
              <a:spcBef>
                <a:spcPts val="0"/>
              </a:spcBef>
              <a:spcAft>
                <a:spcPts val="0"/>
              </a:spcAft>
              <a:buNone/>
            </a:pPr>
            <a:endParaRPr sz="1300"/>
          </a:p>
          <a:p>
            <a:pPr marL="0" lvl="0" indent="0" algn="l" rtl="0">
              <a:spcBef>
                <a:spcPts val="0"/>
              </a:spcBef>
              <a:spcAft>
                <a:spcPts val="0"/>
              </a:spcAft>
              <a:buNone/>
            </a:pPr>
            <a:endParaRPr/>
          </a:p>
          <a:p>
            <a:pPr marL="0" lvl="0" indent="0" algn="l" rtl="0">
              <a:spcBef>
                <a:spcPts val="0"/>
              </a:spcBef>
              <a:spcAft>
                <a:spcPts val="0"/>
              </a:spcAft>
              <a:buNone/>
            </a:pPr>
            <a:endParaRPr/>
          </a:p>
        </p:txBody>
      </p:sp>
      <p:graphicFrame>
        <p:nvGraphicFramePr>
          <p:cNvPr id="394" name="Google Shape;394;p47"/>
          <p:cNvGraphicFramePr/>
          <p:nvPr/>
        </p:nvGraphicFramePr>
        <p:xfrm>
          <a:off x="5234300" y="1225275"/>
          <a:ext cx="3000000" cy="3000000"/>
        </p:xfrm>
        <a:graphic>
          <a:graphicData uri="http://schemas.openxmlformats.org/drawingml/2006/table">
            <a:tbl>
              <a:tblPr>
                <a:noFill/>
                <a:tableStyleId>{FD1D21A9-7E1A-4391-8461-BF05E97620D1}</a:tableStyleId>
              </a:tblPr>
              <a:tblGrid>
                <a:gridCol w="807500">
                  <a:extLst>
                    <a:ext uri="{9D8B030D-6E8A-4147-A177-3AD203B41FA5}">
                      <a16:colId xmlns:a16="http://schemas.microsoft.com/office/drawing/2014/main" val="20000"/>
                    </a:ext>
                  </a:extLst>
                </a:gridCol>
                <a:gridCol w="807500">
                  <a:extLst>
                    <a:ext uri="{9D8B030D-6E8A-4147-A177-3AD203B41FA5}">
                      <a16:colId xmlns:a16="http://schemas.microsoft.com/office/drawing/2014/main" val="20001"/>
                    </a:ext>
                  </a:extLst>
                </a:gridCol>
                <a:gridCol w="807500">
                  <a:extLst>
                    <a:ext uri="{9D8B030D-6E8A-4147-A177-3AD203B41FA5}">
                      <a16:colId xmlns:a16="http://schemas.microsoft.com/office/drawing/2014/main" val="20002"/>
                    </a:ext>
                  </a:extLst>
                </a:gridCol>
                <a:gridCol w="807500">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el" sz="1200"/>
                        <a:t>0</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1</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2</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l" sz="1200"/>
                        <a:t>3</a:t>
                      </a:r>
                      <a:endParaRPr sz="1200"/>
                    </a:p>
                  </a:txBody>
                  <a:tcPr marL="91425" marR="91425" marT="91425" marB="91425">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363600">
                <a:tc>
                  <a:txBody>
                    <a:bodyPr/>
                    <a:lstStyle/>
                    <a:p>
                      <a:pPr marL="0" lvl="0" indent="0" algn="l" rtl="0">
                        <a:spcBef>
                          <a:spcPts val="0"/>
                        </a:spcBef>
                        <a:spcAft>
                          <a:spcPts val="0"/>
                        </a:spcAft>
                        <a:buNone/>
                      </a:pPr>
                      <a:r>
                        <a:rPr lang="el" sz="1200"/>
                        <a:t>Apple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Orange</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l" sz="1200"/>
                        <a:t>Banana</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95" name="Google Shape;395;p47"/>
          <p:cNvSpPr txBox="1"/>
          <p:nvPr/>
        </p:nvSpPr>
        <p:spPr>
          <a:xfrm>
            <a:off x="5234300" y="950650"/>
            <a:ext cx="1022400" cy="25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l">
                <a:latin typeface="Calibri"/>
                <a:ea typeface="Calibri"/>
                <a:cs typeface="Calibri"/>
                <a:sym typeface="Calibri"/>
              </a:rPr>
              <a:t>options</a:t>
            </a:r>
            <a:endParaRPr>
              <a:latin typeface="Calibri"/>
              <a:ea typeface="Calibri"/>
              <a:cs typeface="Calibri"/>
              <a:sym typeface="Calibri"/>
            </a:endParaRPr>
          </a:p>
        </p:txBody>
      </p:sp>
      <p:pic>
        <p:nvPicPr>
          <p:cNvPr id="396" name="Google Shape;396;p47"/>
          <p:cNvPicPr preferRelativeResize="0"/>
          <p:nvPr/>
        </p:nvPicPr>
        <p:blipFill>
          <a:blip r:embed="rId3">
            <a:alphaModFix/>
          </a:blip>
          <a:stretch>
            <a:fillRect/>
          </a:stretch>
        </p:blipFill>
        <p:spPr>
          <a:xfrm>
            <a:off x="2933575" y="1145200"/>
            <a:ext cx="1851575" cy="9537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8"/>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Τι είναι συνάρτηση;</a:t>
            </a:r>
            <a:endParaRPr/>
          </a:p>
        </p:txBody>
      </p:sp>
      <p:sp>
        <p:nvSpPr>
          <p:cNvPr id="402" name="Google Shape;402;p48"/>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l"/>
              <a:t>Που έχετε συναντήσει τον όρο αυτό?</a:t>
            </a:r>
            <a:endParaRPr/>
          </a:p>
          <a:p>
            <a:pPr marL="914400" lvl="1" indent="-298450" algn="l" rtl="0">
              <a:spcBef>
                <a:spcPts val="0"/>
              </a:spcBef>
              <a:spcAft>
                <a:spcPts val="0"/>
              </a:spcAft>
              <a:buSzPts val="1100"/>
              <a:buChar char="○"/>
            </a:pPr>
            <a:r>
              <a:rPr lang="el"/>
              <a:t>Μαθηματικά, Excel, προγραμματισμός (python), επεξεργασία ήχου,video  κτλ</a:t>
            </a:r>
            <a:endParaRPr/>
          </a:p>
          <a:p>
            <a:pPr marL="457200" lvl="0" indent="-311150" algn="l" rtl="0">
              <a:spcBef>
                <a:spcPts val="0"/>
              </a:spcBef>
              <a:spcAft>
                <a:spcPts val="0"/>
              </a:spcAft>
              <a:buSzPts val="1300"/>
              <a:buChar char="●"/>
            </a:pPr>
            <a:r>
              <a:rPr lang="el"/>
              <a:t>Ποια η χρησιμότητα;</a:t>
            </a:r>
            <a:endParaRPr/>
          </a:p>
          <a:p>
            <a:pPr marL="914400" lvl="1" indent="-298450" algn="l" rtl="0">
              <a:spcBef>
                <a:spcPts val="0"/>
              </a:spcBef>
              <a:spcAft>
                <a:spcPts val="0"/>
              </a:spcAft>
              <a:buSzPts val="1100"/>
              <a:buChar char="○"/>
            </a:pPr>
            <a:r>
              <a:rPr lang="el"/>
              <a:t>Είναι ‘εντολές΄ (τμήματα κώδικα) που θέλουμε να εκτελέσουμε πολλές φορές.  </a:t>
            </a:r>
            <a:endParaRPr/>
          </a:p>
          <a:p>
            <a:pPr marL="914400" lvl="1" indent="-298450" algn="l" rtl="0">
              <a:spcBef>
                <a:spcPts val="0"/>
              </a:spcBef>
              <a:spcAft>
                <a:spcPts val="0"/>
              </a:spcAft>
              <a:buSzPts val="1100"/>
              <a:buChar char="○"/>
            </a:pPr>
            <a:r>
              <a:rPr lang="el"/>
              <a:t>Μπορούμε να τα ονομάσουμε, οπότε αντί να τα γράφουμε αυτούσια, μπορούμε απλώς να «καλούμε» τη συνάρτηση (δηλαδή να γράφουμε την ονομασία της).</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9"/>
          <p:cNvSpPr txBox="1">
            <a:spLocks noGrp="1"/>
          </p:cNvSpPr>
          <p:nvPr>
            <p:ph type="title"/>
          </p:nvPr>
        </p:nvSpPr>
        <p:spPr>
          <a:xfrm>
            <a:off x="760875" y="352975"/>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Συναρτήσεις στην Javascript</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408" name="Google Shape;408;p49"/>
          <p:cNvSpPr txBox="1">
            <a:spLocks noGrp="1"/>
          </p:cNvSpPr>
          <p:nvPr>
            <p:ph type="body" idx="1"/>
          </p:nvPr>
        </p:nvSpPr>
        <p:spPr>
          <a:xfrm>
            <a:off x="819150" y="968375"/>
            <a:ext cx="7505700" cy="896700"/>
          </a:xfrm>
          <a:prstGeom prst="rect">
            <a:avLst/>
          </a:prstGeom>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SzPts val="1300"/>
              <a:buChar char="●"/>
            </a:pPr>
            <a:r>
              <a:rPr lang="el"/>
              <a:t>Οι </a:t>
            </a:r>
            <a:r>
              <a:rPr lang="el" b="1"/>
              <a:t>Συναρτήσεις </a:t>
            </a:r>
            <a:r>
              <a:rPr lang="el"/>
              <a:t>στην Javascript (Javascript Functions) είναι ένα </a:t>
            </a:r>
            <a:r>
              <a:rPr lang="el" b="1"/>
              <a:t>μπλοκ κώδικα</a:t>
            </a:r>
            <a:r>
              <a:rPr lang="el"/>
              <a:t> σχεδιασμένο για να εκτελέσει </a:t>
            </a:r>
            <a:r>
              <a:rPr lang="el" b="1"/>
              <a:t>μια συγκεκριμένη εργασία</a:t>
            </a:r>
            <a:r>
              <a:rPr lang="el"/>
              <a:t>.</a:t>
            </a:r>
            <a:endParaRPr/>
          </a:p>
          <a:p>
            <a:pPr marL="457200" marR="0" lvl="0" indent="-311150" algn="l" rtl="0">
              <a:lnSpc>
                <a:spcPct val="115000"/>
              </a:lnSpc>
              <a:spcBef>
                <a:spcPts val="0"/>
              </a:spcBef>
              <a:spcAft>
                <a:spcPts val="0"/>
              </a:spcAft>
              <a:buSzPts val="1300"/>
              <a:buChar char="●"/>
            </a:pPr>
            <a:r>
              <a:rPr lang="el"/>
              <a:t>Μία συνάρτηση </a:t>
            </a:r>
            <a:r>
              <a:rPr lang="el" b="1"/>
              <a:t>εκτελείται </a:t>
            </a:r>
            <a:r>
              <a:rPr lang="el"/>
              <a:t>κάθε φορά που “</a:t>
            </a:r>
            <a:r>
              <a:rPr lang="el" b="1"/>
              <a:t>κάτι</a:t>
            </a:r>
            <a:r>
              <a:rPr lang="el"/>
              <a:t>” την </a:t>
            </a:r>
            <a:r>
              <a:rPr lang="el" b="1"/>
              <a:t>καλεί</a:t>
            </a:r>
            <a:r>
              <a:rPr lang="el"/>
              <a:t>.</a:t>
            </a:r>
            <a:endParaRPr/>
          </a:p>
        </p:txBody>
      </p:sp>
      <p:graphicFrame>
        <p:nvGraphicFramePr>
          <p:cNvPr id="409" name="Google Shape;409;p49"/>
          <p:cNvGraphicFramePr/>
          <p:nvPr/>
        </p:nvGraphicFramePr>
        <p:xfrm>
          <a:off x="502250" y="1771875"/>
          <a:ext cx="3000000" cy="3000000"/>
        </p:xfrm>
        <a:graphic>
          <a:graphicData uri="http://schemas.openxmlformats.org/drawingml/2006/table">
            <a:tbl>
              <a:tblPr>
                <a:noFill/>
                <a:tableStyleId>{FD1D21A9-7E1A-4391-8461-BF05E97620D1}</a:tableStyleId>
              </a:tblPr>
              <a:tblGrid>
                <a:gridCol w="4037975">
                  <a:extLst>
                    <a:ext uri="{9D8B030D-6E8A-4147-A177-3AD203B41FA5}">
                      <a16:colId xmlns:a16="http://schemas.microsoft.com/office/drawing/2014/main" val="20000"/>
                    </a:ext>
                  </a:extLst>
                </a:gridCol>
                <a:gridCol w="420217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l"/>
                        <a:t>&lt;html&gt;&lt;head&gt;</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solidFill>
                            <a:srgbClr val="FF0000"/>
                          </a:solidFill>
                        </a:rPr>
                        <a:t>function f1()</a:t>
                      </a:r>
                      <a:r>
                        <a:rPr lang="el"/>
                        <a:t> </a:t>
                      </a:r>
                      <a:r>
                        <a:rPr lang="el">
                          <a:solidFill>
                            <a:srgbClr val="00FF00"/>
                          </a:solidFill>
                        </a:rPr>
                        <a:t>{</a:t>
                      </a:r>
                      <a:endParaRPr>
                        <a:solidFill>
                          <a:srgbClr val="00FF00"/>
                        </a:solidFill>
                      </a:endParaRPr>
                    </a:p>
                    <a:p>
                      <a:pPr marL="0" lvl="0" indent="0" algn="l" rtl="0">
                        <a:spcBef>
                          <a:spcPts val="0"/>
                        </a:spcBef>
                        <a:spcAft>
                          <a:spcPts val="0"/>
                        </a:spcAft>
                        <a:buNone/>
                      </a:pPr>
                      <a:r>
                        <a:rPr lang="el">
                          <a:solidFill>
                            <a:srgbClr val="1C4587"/>
                          </a:solidFill>
                        </a:rPr>
                        <a:t>  alert('HELLO');</a:t>
                      </a:r>
                      <a:r>
                        <a:rPr lang="el">
                          <a:solidFill>
                            <a:schemeClr val="accent4"/>
                          </a:solidFill>
                        </a:rPr>
                        <a:t>}</a:t>
                      </a:r>
                      <a:endParaRPr>
                        <a:solidFill>
                          <a:schemeClr val="accent4"/>
                        </a:solidFill>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&lt;/head&gt;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&lt;h2&gt;JavaScript Functions&lt;/h2&gt;</a:t>
                      </a:r>
                      <a:endParaRPr/>
                    </a:p>
                    <a:p>
                      <a:pPr marL="0" lvl="0" indent="0" algn="l" rtl="0">
                        <a:spcBef>
                          <a:spcPts val="0"/>
                        </a:spcBef>
                        <a:spcAft>
                          <a:spcPts val="0"/>
                        </a:spcAft>
                        <a:buNone/>
                      </a:pPr>
                      <a:r>
                        <a:rPr lang="el"/>
                        <a:t>&lt;input type='button' name='b1' value='button1' onclick="</a:t>
                      </a:r>
                      <a:r>
                        <a:rPr lang="el">
                          <a:solidFill>
                            <a:srgbClr val="FF0000"/>
                          </a:solidFill>
                        </a:rPr>
                        <a:t>f1()</a:t>
                      </a:r>
                      <a:r>
                        <a:rPr lang="el"/>
                        <a:t>"&gt;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a:p>
                      <a:pPr marL="0" lvl="0" indent="0" algn="l" rtl="0">
                        <a:spcBef>
                          <a:spcPts val="0"/>
                        </a:spcBef>
                        <a:spcAft>
                          <a:spcPts val="0"/>
                        </a:spcAft>
                        <a:buNone/>
                      </a:pPr>
                      <a:endParaRPr/>
                    </a:p>
                  </a:txBody>
                  <a:tcPr marL="91425" marR="91425" marT="91425" marB="91425">
                    <a:solidFill>
                      <a:srgbClr val="D9EAD3"/>
                    </a:solidFill>
                  </a:tcPr>
                </a:tc>
                <a:tc>
                  <a:txBody>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&lt;head&gt;</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solidFill>
                            <a:srgbClr val="FF0000"/>
                          </a:solidFill>
                        </a:rPr>
                        <a:t>function f1() </a:t>
                      </a:r>
                      <a:r>
                        <a:rPr lang="el">
                          <a:solidFill>
                            <a:schemeClr val="accent4"/>
                          </a:solidFill>
                        </a:rPr>
                        <a:t>{</a:t>
                      </a:r>
                      <a:endParaRPr>
                        <a:solidFill>
                          <a:schemeClr val="accent4"/>
                        </a:solidFill>
                      </a:endParaRPr>
                    </a:p>
                    <a:p>
                      <a:pPr marL="0" lvl="0" indent="0" algn="l" rtl="0">
                        <a:spcBef>
                          <a:spcPts val="0"/>
                        </a:spcBef>
                        <a:spcAft>
                          <a:spcPts val="0"/>
                        </a:spcAft>
                        <a:buNone/>
                      </a:pPr>
                      <a:r>
                        <a:rPr lang="el">
                          <a:solidFill>
                            <a:schemeClr val="accent5"/>
                          </a:solidFill>
                        </a:rPr>
                        <a:t>document.body.style.backgroundColor="cyan";</a:t>
                      </a:r>
                      <a:endParaRPr>
                        <a:solidFill>
                          <a:schemeClr val="accent5"/>
                        </a:solidFill>
                      </a:endParaRPr>
                    </a:p>
                    <a:p>
                      <a:pPr marL="0" lvl="0" indent="0" algn="l" rtl="0">
                        <a:spcBef>
                          <a:spcPts val="0"/>
                        </a:spcBef>
                        <a:spcAft>
                          <a:spcPts val="0"/>
                        </a:spcAft>
                        <a:buNone/>
                      </a:pPr>
                      <a:r>
                        <a:rPr lang="el">
                          <a:solidFill>
                            <a:schemeClr val="accent5"/>
                          </a:solidFill>
                        </a:rPr>
                        <a:t>document.body.style.color="red"</a:t>
                      </a:r>
                      <a:r>
                        <a:rPr lang="el">
                          <a:solidFill>
                            <a:schemeClr val="accent4"/>
                          </a:solidFill>
                        </a:rPr>
                        <a:t>}</a:t>
                      </a:r>
                      <a:endParaRPr>
                        <a:solidFill>
                          <a:schemeClr val="accent4"/>
                        </a:solidFill>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&lt;/head&gt;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&lt;h2&gt;JavaScript Functions&lt;/h2&gt;</a:t>
                      </a:r>
                      <a:endParaRPr/>
                    </a:p>
                    <a:p>
                      <a:pPr marL="0" lvl="0" indent="0" algn="l" rtl="0">
                        <a:spcBef>
                          <a:spcPts val="0"/>
                        </a:spcBef>
                        <a:spcAft>
                          <a:spcPts val="0"/>
                        </a:spcAft>
                        <a:buNone/>
                      </a:pPr>
                      <a:r>
                        <a:rPr lang="el"/>
                        <a:t>&lt;input type='button' name='b1' value='button1' onclick="</a:t>
                      </a:r>
                      <a:r>
                        <a:rPr lang="el">
                          <a:solidFill>
                            <a:srgbClr val="FF0000"/>
                          </a:solidFill>
                        </a:rPr>
                        <a:t>f1()</a:t>
                      </a:r>
                      <a:r>
                        <a:rPr lang="el"/>
                        <a:t>"&gt;</a:t>
                      </a:r>
                      <a:endParaRPr/>
                    </a:p>
                    <a:p>
                      <a:pPr marL="0" lvl="0" indent="0" algn="l" rtl="0">
                        <a:spcBef>
                          <a:spcPts val="0"/>
                        </a:spcBef>
                        <a:spcAft>
                          <a:spcPts val="0"/>
                        </a:spcAft>
                        <a:buNone/>
                      </a:pPr>
                      <a:r>
                        <a:rPr lang="el"/>
                        <a:t>&lt;/body&gt;&lt;/html&gt;</a:t>
                      </a:r>
                      <a:endParaRPr/>
                    </a:p>
                    <a:p>
                      <a:pPr marL="0" lvl="0" indent="0" algn="l" rtl="0">
                        <a:spcBef>
                          <a:spcPts val="0"/>
                        </a:spcBef>
                        <a:spcAft>
                          <a:spcPts val="0"/>
                        </a:spcAft>
                        <a:buNone/>
                      </a:pPr>
                      <a:endParaRPr/>
                    </a:p>
                  </a:txBody>
                  <a:tcPr marL="91425" marR="91425" marT="91425" marB="91425">
                    <a:solidFill>
                      <a:srgbClr val="FFF2CC"/>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0"/>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Σύνταξη Συναρτήσεων (Function Syntax)</a:t>
            </a:r>
            <a:endParaRPr/>
          </a:p>
        </p:txBody>
      </p:sp>
      <p:graphicFrame>
        <p:nvGraphicFramePr>
          <p:cNvPr id="415" name="Google Shape;415;p50"/>
          <p:cNvGraphicFramePr/>
          <p:nvPr/>
        </p:nvGraphicFramePr>
        <p:xfrm>
          <a:off x="493450" y="1480725"/>
          <a:ext cx="3000000" cy="3000000"/>
        </p:xfrm>
        <a:graphic>
          <a:graphicData uri="http://schemas.openxmlformats.org/drawingml/2006/table">
            <a:tbl>
              <a:tblPr>
                <a:noFill/>
                <a:tableStyleId>{FD1D21A9-7E1A-4391-8461-BF05E97620D1}</a:tableStyleId>
              </a:tblPr>
              <a:tblGrid>
                <a:gridCol w="3834025">
                  <a:extLst>
                    <a:ext uri="{9D8B030D-6E8A-4147-A177-3AD203B41FA5}">
                      <a16:colId xmlns:a16="http://schemas.microsoft.com/office/drawing/2014/main" val="20000"/>
                    </a:ext>
                  </a:extLst>
                </a:gridCol>
                <a:gridCol w="4342575">
                  <a:extLst>
                    <a:ext uri="{9D8B030D-6E8A-4147-A177-3AD203B41FA5}">
                      <a16:colId xmlns:a16="http://schemas.microsoft.com/office/drawing/2014/main" val="20001"/>
                    </a:ext>
                  </a:extLst>
                </a:gridCol>
              </a:tblGrid>
              <a:tr h="381000">
                <a:tc>
                  <a:txBody>
                    <a:bodyPr/>
                    <a:lstStyle/>
                    <a:p>
                      <a:pPr marL="457200" lvl="0" indent="-317500" algn="l" rtl="0">
                        <a:spcBef>
                          <a:spcPts val="0"/>
                        </a:spcBef>
                        <a:spcAft>
                          <a:spcPts val="0"/>
                        </a:spcAft>
                        <a:buSzPts val="1400"/>
                        <a:buChar char="●"/>
                      </a:pPr>
                      <a:r>
                        <a:rPr lang="el"/>
                        <a:t>Οι Συναρτήσεις ορίζονται με τη λέξη κλειδί </a:t>
                      </a:r>
                      <a:r>
                        <a:rPr lang="el" b="1">
                          <a:solidFill>
                            <a:srgbClr val="FF0000"/>
                          </a:solidFill>
                        </a:rPr>
                        <a:t>function</a:t>
                      </a:r>
                      <a:r>
                        <a:rPr lang="el"/>
                        <a:t>, που ακολουθείται από το όνομα της συνάρτησης, που ακολουθείται από </a:t>
                      </a:r>
                      <a:r>
                        <a:rPr lang="el">
                          <a:solidFill>
                            <a:srgbClr val="FF0000"/>
                          </a:solidFill>
                        </a:rPr>
                        <a:t>παρενθέσεις ()</a:t>
                      </a:r>
                      <a:r>
                        <a:rPr lang="el"/>
                        <a:t>.</a:t>
                      </a:r>
                      <a:endParaRPr/>
                    </a:p>
                    <a:p>
                      <a:pPr marL="457200" lvl="0" indent="-317500" algn="l" rtl="0">
                        <a:spcBef>
                          <a:spcPts val="0"/>
                        </a:spcBef>
                        <a:spcAft>
                          <a:spcPts val="0"/>
                        </a:spcAft>
                        <a:buSzPts val="1400"/>
                        <a:buChar char="●"/>
                      </a:pPr>
                      <a:r>
                        <a:rPr lang="el"/>
                        <a:t>Το όνομα μιας συνάρτησης </a:t>
                      </a:r>
                      <a:r>
                        <a:rPr lang="el" b="1"/>
                        <a:t>μπορεί να περιέχει γράμματα, αριθμούς, πάνω ή κάτω παύλα και σύμβολα δολαρίου</a:t>
                      </a:r>
                      <a:r>
                        <a:rPr lang="el"/>
                        <a:t>.</a:t>
                      </a:r>
                      <a:endParaRPr/>
                    </a:p>
                    <a:p>
                      <a:pPr marL="457200" lvl="0" indent="-317500" algn="l" rtl="0">
                        <a:spcBef>
                          <a:spcPts val="0"/>
                        </a:spcBef>
                        <a:spcAft>
                          <a:spcPts val="0"/>
                        </a:spcAft>
                        <a:buSzPts val="1400"/>
                        <a:buChar char="●"/>
                      </a:pPr>
                      <a:r>
                        <a:rPr lang="el"/>
                        <a:t>Αν οι παρενθέσεις περιλαμβάνουν </a:t>
                      </a:r>
                      <a:r>
                        <a:rPr lang="el" b="1"/>
                        <a:t>παραμέτρους (parameters)</a:t>
                      </a:r>
                      <a:r>
                        <a:rPr lang="el"/>
                        <a:t>, τότε αυτές πρέπει να χωρίζονται με κόμμα.</a:t>
                      </a:r>
                      <a:endParaRPr/>
                    </a:p>
                    <a:p>
                      <a:pPr marL="457200" lvl="0" indent="-317500" algn="l" rtl="0">
                        <a:spcBef>
                          <a:spcPts val="0"/>
                        </a:spcBef>
                        <a:spcAft>
                          <a:spcPts val="0"/>
                        </a:spcAft>
                        <a:buSzPts val="1400"/>
                        <a:buChar char="●"/>
                      </a:pPr>
                      <a:r>
                        <a:rPr lang="el"/>
                        <a:t>Ο κώδικας </a:t>
                      </a:r>
                      <a:r>
                        <a:rPr lang="el" b="1"/>
                        <a:t>που θα εκτελεσθεί</a:t>
                      </a:r>
                      <a:r>
                        <a:rPr lang="el"/>
                        <a:t> από τη συνάρτηση τοποθετείται μέσα σε </a:t>
                      </a:r>
                      <a:r>
                        <a:rPr lang="el" b="1"/>
                        <a:t>αγκύλες {}</a:t>
                      </a:r>
                      <a:r>
                        <a:rPr lang="el"/>
                        <a:t>.</a:t>
                      </a:r>
                      <a:endParaRPr/>
                    </a:p>
                    <a:p>
                      <a:pPr marL="457200" lvl="0" indent="-317500" algn="l" rtl="0">
                        <a:spcBef>
                          <a:spcPts val="0"/>
                        </a:spcBef>
                        <a:spcAft>
                          <a:spcPts val="0"/>
                        </a:spcAft>
                        <a:buSzPts val="1400"/>
                        <a:buChar char="●"/>
                      </a:pPr>
                      <a:r>
                        <a:rPr lang="el"/>
                        <a:t>Η </a:t>
                      </a:r>
                      <a:r>
                        <a:rPr lang="el" b="1" u="sng">
                          <a:solidFill>
                            <a:srgbClr val="FF0000"/>
                          </a:solidFill>
                        </a:rPr>
                        <a:t>κλήση </a:t>
                      </a:r>
                      <a:r>
                        <a:rPr lang="el"/>
                        <a:t>της συνάρτησης γίνεται με το όνομά της </a:t>
                      </a:r>
                      <a:endParaRPr/>
                    </a:p>
                  </a:txBody>
                  <a:tcPr marL="91425" marR="91425" marT="91425" marB="91425">
                    <a:solidFill>
                      <a:srgbClr val="D9EAD3"/>
                    </a:solidFill>
                  </a:tcPr>
                </a:tc>
                <a:tc>
                  <a:txBody>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&lt;HEAD&gt;</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solidFill>
                            <a:srgbClr val="FF0000"/>
                          </a:solidFill>
                        </a:rPr>
                        <a:t>function f1()</a:t>
                      </a:r>
                      <a:r>
                        <a:rPr lang="el"/>
                        <a:t> {</a:t>
                      </a:r>
                      <a:endParaRPr/>
                    </a:p>
                    <a:p>
                      <a:pPr marL="0" lvl="0" indent="0" algn="l" rtl="0">
                        <a:spcBef>
                          <a:spcPts val="0"/>
                        </a:spcBef>
                        <a:spcAft>
                          <a:spcPts val="0"/>
                        </a:spcAft>
                        <a:buNone/>
                      </a:pPr>
                      <a:r>
                        <a:rPr lang="el">
                          <a:solidFill>
                            <a:schemeClr val="accent6"/>
                          </a:solidFill>
                        </a:rPr>
                        <a:t>document.getElementById('d1').innerHTML="Καλημέρα Κόσμε!!!!!"</a:t>
                      </a:r>
                      <a:endParaRPr>
                        <a:solidFill>
                          <a:schemeClr val="accent6"/>
                        </a:solidFill>
                      </a:endParaRPr>
                    </a:p>
                    <a:p>
                      <a:pPr marL="0" lvl="0" indent="0" algn="l" rtl="0">
                        <a:spcBef>
                          <a:spcPts val="0"/>
                        </a:spcBef>
                        <a:spcAft>
                          <a:spcPts val="0"/>
                        </a:spcAft>
                        <a:buNone/>
                      </a:pPr>
                      <a:r>
                        <a:rPr lang="el"/>
                        <a:t>}</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&lt;/HEAD&gt;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&lt;h2 id='d1'&gt;JavaScript Functions&lt;/h2&gt;</a:t>
                      </a:r>
                      <a:endParaRPr/>
                    </a:p>
                    <a:p>
                      <a:pPr marL="0" lvl="0" indent="0" algn="l" rtl="0">
                        <a:spcBef>
                          <a:spcPts val="0"/>
                        </a:spcBef>
                        <a:spcAft>
                          <a:spcPts val="0"/>
                        </a:spcAft>
                        <a:buNone/>
                      </a:pPr>
                      <a:r>
                        <a:rPr lang="el"/>
                        <a:t>&lt;input type='button' name='b1' value='button1' </a:t>
                      </a:r>
                      <a:r>
                        <a:rPr lang="el">
                          <a:solidFill>
                            <a:srgbClr val="00FF00"/>
                          </a:solidFill>
                        </a:rPr>
                        <a:t>onclick="f1()</a:t>
                      </a:r>
                      <a:r>
                        <a:rPr lang="el"/>
                        <a:t>"&gt;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a:txBody>
                  <a:tcPr marL="91425" marR="91425" marT="91425" marB="91425">
                    <a:solidFill>
                      <a:srgbClr val="FFF2CC"/>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51"/>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Παραδείγμα 1: Συναρτήσεις</a:t>
            </a:r>
            <a:endParaRPr/>
          </a:p>
        </p:txBody>
      </p:sp>
      <p:sp>
        <p:nvSpPr>
          <p:cNvPr id="421" name="Google Shape;421;p51"/>
          <p:cNvSpPr txBox="1">
            <a:spLocks noGrp="1"/>
          </p:cNvSpPr>
          <p:nvPr>
            <p:ph type="body" idx="1"/>
          </p:nvPr>
        </p:nvSpPr>
        <p:spPr>
          <a:xfrm>
            <a:off x="819150" y="1461000"/>
            <a:ext cx="7505700" cy="2448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graphicFrame>
        <p:nvGraphicFramePr>
          <p:cNvPr id="422" name="Google Shape;422;p51"/>
          <p:cNvGraphicFramePr/>
          <p:nvPr/>
        </p:nvGraphicFramePr>
        <p:xfrm>
          <a:off x="851850" y="1496625"/>
          <a:ext cx="3000000" cy="3000000"/>
        </p:xfrm>
        <a:graphic>
          <a:graphicData uri="http://schemas.openxmlformats.org/drawingml/2006/table">
            <a:tbl>
              <a:tblPr>
                <a:noFill/>
                <a:tableStyleId>{FD1D21A9-7E1A-4391-8461-BF05E97620D1}</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l"/>
                        <a:t>&lt;html&gt;</a:t>
                      </a:r>
                      <a:endParaRPr/>
                    </a:p>
                    <a:p>
                      <a:pPr marL="0" lvl="0" indent="0" algn="l" rtl="0">
                        <a:spcBef>
                          <a:spcPts val="0"/>
                        </a:spcBef>
                        <a:spcAft>
                          <a:spcPts val="0"/>
                        </a:spcAft>
                        <a:buNone/>
                      </a:pPr>
                      <a:r>
                        <a:rPr lang="el"/>
                        <a:t>&lt;HEAD&gt;</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function f1() {</a:t>
                      </a:r>
                      <a:endParaRPr/>
                    </a:p>
                    <a:p>
                      <a:pPr marL="0" lvl="0" indent="0" algn="l" rtl="0">
                        <a:spcBef>
                          <a:spcPts val="0"/>
                        </a:spcBef>
                        <a:spcAft>
                          <a:spcPts val="0"/>
                        </a:spcAft>
                        <a:buNone/>
                      </a:pPr>
                      <a:r>
                        <a:rPr lang="el"/>
                        <a:t>alert('Καλημέρα Αίγιο');</a:t>
                      </a:r>
                      <a:endParaRPr/>
                    </a:p>
                    <a:p>
                      <a:pPr marL="0" lvl="0" indent="0" algn="l" rtl="0">
                        <a:spcBef>
                          <a:spcPts val="0"/>
                        </a:spcBef>
                        <a:spcAft>
                          <a:spcPts val="0"/>
                        </a:spcAft>
                        <a:buNone/>
                      </a:pPr>
                      <a:r>
                        <a:rPr lang="el"/>
                        <a:t>}</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&lt;/HEAD&gt;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&lt;h2 id='d1'&gt;JavaScript Functions&lt;/h2&gt;</a:t>
                      </a:r>
                      <a:endParaRPr/>
                    </a:p>
                    <a:p>
                      <a:pPr marL="0" lvl="0" indent="0" algn="l" rtl="0">
                        <a:spcBef>
                          <a:spcPts val="0"/>
                        </a:spcBef>
                        <a:spcAft>
                          <a:spcPts val="0"/>
                        </a:spcAft>
                        <a:buNone/>
                      </a:pPr>
                      <a:r>
                        <a:rPr lang="el"/>
                        <a:t>&lt;input type='button' name='b1' value='button1' onmouseover="f1()"&gt;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a:txBody>
                  <a:tcPr marL="91425" marR="91425" marT="91425" marB="91425">
                    <a:solidFill>
                      <a:srgbClr val="D9EAD3"/>
                    </a:solidFill>
                  </a:tcPr>
                </a:tc>
                <a:tc>
                  <a:txBody>
                    <a:bodyPr/>
                    <a:lstStyle/>
                    <a:p>
                      <a:pPr marL="457200" lvl="0" indent="-317500" algn="l" rtl="0">
                        <a:spcBef>
                          <a:spcPts val="0"/>
                        </a:spcBef>
                        <a:spcAft>
                          <a:spcPts val="0"/>
                        </a:spcAft>
                        <a:buSzPts val="1400"/>
                        <a:buAutoNum type="arabicPeriod"/>
                      </a:pPr>
                      <a:r>
                        <a:rPr lang="el"/>
                        <a:t>Ποιο το όνομα της συνάρτησης;</a:t>
                      </a:r>
                      <a:endParaRPr/>
                    </a:p>
                    <a:p>
                      <a:pPr marL="457200" lvl="0" indent="-317500" algn="l" rtl="0">
                        <a:spcBef>
                          <a:spcPts val="0"/>
                        </a:spcBef>
                        <a:spcAft>
                          <a:spcPts val="0"/>
                        </a:spcAft>
                        <a:buSzPts val="1400"/>
                        <a:buAutoNum type="arabicPeriod"/>
                      </a:pPr>
                      <a:r>
                        <a:rPr lang="el"/>
                        <a:t>Που γίνεται η κλήση της συνάρτησης;</a:t>
                      </a:r>
                      <a:endParaRPr/>
                    </a:p>
                    <a:p>
                      <a:pPr marL="457200" lvl="0" indent="-317500" algn="l" rtl="0">
                        <a:spcBef>
                          <a:spcPts val="0"/>
                        </a:spcBef>
                        <a:spcAft>
                          <a:spcPts val="0"/>
                        </a:spcAft>
                        <a:buSzPts val="1400"/>
                        <a:buAutoNum type="arabicPeriod"/>
                      </a:pPr>
                      <a:r>
                        <a:rPr lang="el"/>
                        <a:t>Πότε καλείται η συνάρτηση;</a:t>
                      </a:r>
                      <a:endParaRPr/>
                    </a:p>
                    <a:p>
                      <a:pPr marL="457200" lvl="0" indent="-317500" algn="l" rtl="0">
                        <a:spcBef>
                          <a:spcPts val="0"/>
                        </a:spcBef>
                        <a:spcAft>
                          <a:spcPts val="0"/>
                        </a:spcAft>
                        <a:buSzPts val="1400"/>
                        <a:buAutoNum type="arabicPeriod"/>
                      </a:pPr>
                      <a:r>
                        <a:rPr lang="el"/>
                        <a:t>Τι κάνει η συνάρτηση;</a:t>
                      </a:r>
                      <a:endParaRPr/>
                    </a:p>
                    <a:p>
                      <a:pPr marL="0" lvl="0" indent="0" algn="l" rtl="0">
                        <a:spcBef>
                          <a:spcPts val="0"/>
                        </a:spcBef>
                        <a:spcAft>
                          <a:spcPts val="0"/>
                        </a:spcAft>
                        <a:buNone/>
                      </a:pPr>
                      <a:endParaRPr/>
                    </a:p>
                  </a:txBody>
                  <a:tcPr marL="91425" marR="91425" marT="91425" marB="91425">
                    <a:solidFill>
                      <a:srgbClr val="FCE5CD"/>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52"/>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Παραδείγμα 2: Συναρτήσεις</a:t>
            </a:r>
            <a:endParaRPr/>
          </a:p>
        </p:txBody>
      </p:sp>
      <p:sp>
        <p:nvSpPr>
          <p:cNvPr id="428" name="Google Shape;428;p52"/>
          <p:cNvSpPr txBox="1">
            <a:spLocks noGrp="1"/>
          </p:cNvSpPr>
          <p:nvPr>
            <p:ph type="body" idx="1"/>
          </p:nvPr>
        </p:nvSpPr>
        <p:spPr>
          <a:xfrm>
            <a:off x="819150" y="1461000"/>
            <a:ext cx="7505700" cy="2448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graphicFrame>
        <p:nvGraphicFramePr>
          <p:cNvPr id="429" name="Google Shape;429;p52"/>
          <p:cNvGraphicFramePr/>
          <p:nvPr/>
        </p:nvGraphicFramePr>
        <p:xfrm>
          <a:off x="288375" y="1496625"/>
          <a:ext cx="3000000" cy="3000000"/>
        </p:xfrm>
        <a:graphic>
          <a:graphicData uri="http://schemas.openxmlformats.org/drawingml/2006/table">
            <a:tbl>
              <a:tblPr>
                <a:noFill/>
                <a:tableStyleId>{FD1D21A9-7E1A-4391-8461-BF05E97620D1}</a:tableStyleId>
              </a:tblPr>
              <a:tblGrid>
                <a:gridCol w="4688775">
                  <a:extLst>
                    <a:ext uri="{9D8B030D-6E8A-4147-A177-3AD203B41FA5}">
                      <a16:colId xmlns:a16="http://schemas.microsoft.com/office/drawing/2014/main" val="20000"/>
                    </a:ext>
                  </a:extLst>
                </a:gridCol>
                <a:gridCol w="380685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l"/>
                        <a:t>&lt;html&gt;&lt;body&gt;</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function f1() {</a:t>
                      </a:r>
                      <a:endParaRPr/>
                    </a:p>
                    <a:p>
                      <a:pPr marL="0" lvl="0" indent="0" algn="l" rtl="0">
                        <a:spcBef>
                          <a:spcPts val="0"/>
                        </a:spcBef>
                        <a:spcAft>
                          <a:spcPts val="0"/>
                        </a:spcAft>
                        <a:buNone/>
                      </a:pPr>
                      <a:r>
                        <a:rPr lang="el"/>
                        <a:t>document.getElementById("d1").style.color= "red";</a:t>
                      </a:r>
                      <a:endParaRPr/>
                    </a:p>
                    <a:p>
                      <a:pPr marL="0" lvl="0" indent="0" algn="l" rtl="0">
                        <a:spcBef>
                          <a:spcPts val="0"/>
                        </a:spcBef>
                        <a:spcAft>
                          <a:spcPts val="0"/>
                        </a:spcAft>
                        <a:buNone/>
                      </a:pPr>
                      <a:r>
                        <a:rPr lang="el"/>
                        <a:t>}</a:t>
                      </a:r>
                      <a:endParaRPr/>
                    </a:p>
                    <a:p>
                      <a:pPr marL="0" lvl="0" indent="0" algn="l" rtl="0">
                        <a:spcBef>
                          <a:spcPts val="0"/>
                        </a:spcBef>
                        <a:spcAft>
                          <a:spcPts val="0"/>
                        </a:spcAft>
                        <a:buNone/>
                      </a:pPr>
                      <a:r>
                        <a:rPr lang="el"/>
                        <a:t>&lt;/script&gt;</a:t>
                      </a:r>
                      <a:endParaRPr/>
                    </a:p>
                    <a:p>
                      <a:pPr marL="0" lvl="0" indent="0" algn="l" rtl="0">
                        <a:spcBef>
                          <a:spcPts val="0"/>
                        </a:spcBef>
                        <a:spcAft>
                          <a:spcPts val="0"/>
                        </a:spcAft>
                        <a:buNone/>
                      </a:pPr>
                      <a:r>
                        <a:rPr lang="el"/>
                        <a:t>&lt;h2 id='d1'&gt;JavaScript Functions&lt;/h2&gt;</a:t>
                      </a:r>
                      <a:endParaRPr/>
                    </a:p>
                    <a:p>
                      <a:pPr marL="0" lvl="0" indent="0" algn="l" rtl="0">
                        <a:spcBef>
                          <a:spcPts val="0"/>
                        </a:spcBef>
                        <a:spcAft>
                          <a:spcPts val="0"/>
                        </a:spcAft>
                        <a:buNone/>
                      </a:pPr>
                      <a:r>
                        <a:rPr lang="el"/>
                        <a:t>&lt;input type='button' name='b1' value='button1' onmouseover="f1()"&gt;</a:t>
                      </a:r>
                      <a:endParaRPr/>
                    </a:p>
                    <a:p>
                      <a:pPr marL="0" lvl="0" indent="0" algn="l" rtl="0">
                        <a:spcBef>
                          <a:spcPts val="0"/>
                        </a:spcBef>
                        <a:spcAft>
                          <a:spcPts val="0"/>
                        </a:spcAft>
                        <a:buNone/>
                      </a:pPr>
                      <a:r>
                        <a:rPr lang="el"/>
                        <a:t>&lt;/body&gt;</a:t>
                      </a:r>
                      <a:endParaRPr/>
                    </a:p>
                    <a:p>
                      <a:pPr marL="0" lvl="0" indent="0" algn="l" rtl="0">
                        <a:spcBef>
                          <a:spcPts val="0"/>
                        </a:spcBef>
                        <a:spcAft>
                          <a:spcPts val="0"/>
                        </a:spcAft>
                        <a:buNone/>
                      </a:pPr>
                      <a:r>
                        <a:rPr lang="el"/>
                        <a:t>&lt;/html&gt;</a:t>
                      </a:r>
                      <a:endParaRPr/>
                    </a:p>
                  </a:txBody>
                  <a:tcPr marL="91425" marR="91425" marT="91425" marB="91425">
                    <a:solidFill>
                      <a:srgbClr val="D9EAD3"/>
                    </a:solidFill>
                  </a:tcPr>
                </a:tc>
                <a:tc>
                  <a:txBody>
                    <a:bodyPr/>
                    <a:lstStyle/>
                    <a:p>
                      <a:pPr marL="457200" lvl="0" indent="-317500" algn="l" rtl="0">
                        <a:spcBef>
                          <a:spcPts val="0"/>
                        </a:spcBef>
                        <a:spcAft>
                          <a:spcPts val="0"/>
                        </a:spcAft>
                        <a:buSzPts val="1400"/>
                        <a:buAutoNum type="arabicPeriod"/>
                      </a:pPr>
                      <a:r>
                        <a:rPr lang="el"/>
                        <a:t>Ποιο το όνομα της συνάρτησης;</a:t>
                      </a:r>
                      <a:endParaRPr/>
                    </a:p>
                    <a:p>
                      <a:pPr marL="457200" lvl="0" indent="-317500" algn="l" rtl="0">
                        <a:spcBef>
                          <a:spcPts val="0"/>
                        </a:spcBef>
                        <a:spcAft>
                          <a:spcPts val="0"/>
                        </a:spcAft>
                        <a:buSzPts val="1400"/>
                        <a:buAutoNum type="arabicPeriod"/>
                      </a:pPr>
                      <a:r>
                        <a:rPr lang="el"/>
                        <a:t>Που γίνεται η κλήση της συνάρτησης;</a:t>
                      </a:r>
                      <a:endParaRPr/>
                    </a:p>
                    <a:p>
                      <a:pPr marL="457200" lvl="0" indent="-317500" algn="l" rtl="0">
                        <a:spcBef>
                          <a:spcPts val="0"/>
                        </a:spcBef>
                        <a:spcAft>
                          <a:spcPts val="0"/>
                        </a:spcAft>
                        <a:buSzPts val="1400"/>
                        <a:buAutoNum type="arabicPeriod"/>
                      </a:pPr>
                      <a:r>
                        <a:rPr lang="el"/>
                        <a:t>Πότε καλείται η συνάρτηση;</a:t>
                      </a:r>
                      <a:endParaRPr/>
                    </a:p>
                    <a:p>
                      <a:pPr marL="457200" lvl="0" indent="-317500" algn="l" rtl="0">
                        <a:spcBef>
                          <a:spcPts val="0"/>
                        </a:spcBef>
                        <a:spcAft>
                          <a:spcPts val="0"/>
                        </a:spcAft>
                        <a:buSzPts val="1400"/>
                        <a:buAutoNum type="arabicPeriod"/>
                      </a:pPr>
                      <a:r>
                        <a:rPr lang="el"/>
                        <a:t>Τι κάνει η συνάρτηση;</a:t>
                      </a:r>
                      <a:endParaRPr/>
                    </a:p>
                    <a:p>
                      <a:pPr marL="457200" lvl="0" indent="-317500" algn="l" rtl="0">
                        <a:spcBef>
                          <a:spcPts val="0"/>
                        </a:spcBef>
                        <a:spcAft>
                          <a:spcPts val="0"/>
                        </a:spcAft>
                        <a:buSzPts val="1400"/>
                        <a:buAutoNum type="arabicPeriod"/>
                      </a:pPr>
                      <a:r>
                        <a:rPr lang="el"/>
                        <a:t>Αλλάξετε τον κώδικα της συνάρτησης έτσι ώστε όταν καλείται να αλλάζει και το φόντο της ιστοσελίδας σε μπλε</a:t>
                      </a:r>
                      <a:endParaRPr/>
                    </a:p>
                    <a:p>
                      <a:pPr marL="457200" lvl="0" indent="-317500" algn="l" rtl="0">
                        <a:spcBef>
                          <a:spcPts val="0"/>
                        </a:spcBef>
                        <a:spcAft>
                          <a:spcPts val="0"/>
                        </a:spcAft>
                        <a:buSzPts val="1400"/>
                        <a:buAutoNum type="arabicPeriod"/>
                      </a:pPr>
                      <a:r>
                        <a:rPr lang="el"/>
                        <a:t>Δείτε περισσότερες ασκήσεις </a:t>
                      </a:r>
                      <a:r>
                        <a:rPr lang="el" u="sng">
                          <a:solidFill>
                            <a:schemeClr val="hlink"/>
                          </a:solidFill>
                          <a:hlinkClick r:id="rId3"/>
                        </a:rPr>
                        <a:t>εδώ</a:t>
                      </a:r>
                      <a:endParaRPr/>
                    </a:p>
                  </a:txBody>
                  <a:tcPr marL="91425" marR="91425" marT="91425" marB="91425">
                    <a:solidFill>
                      <a:srgbClr val="FFF2CC"/>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53"/>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Ασκήσεις 1: Συναρτήσεις</a:t>
            </a:r>
            <a:endParaRPr/>
          </a:p>
        </p:txBody>
      </p:sp>
      <p:graphicFrame>
        <p:nvGraphicFramePr>
          <p:cNvPr id="435" name="Google Shape;435;p53"/>
          <p:cNvGraphicFramePr/>
          <p:nvPr/>
        </p:nvGraphicFramePr>
        <p:xfrm>
          <a:off x="288375" y="1496625"/>
          <a:ext cx="3000000" cy="3000000"/>
        </p:xfrm>
        <a:graphic>
          <a:graphicData uri="http://schemas.openxmlformats.org/drawingml/2006/table">
            <a:tbl>
              <a:tblPr>
                <a:noFill/>
                <a:tableStyleId>{FD1D21A9-7E1A-4391-8461-BF05E97620D1}</a:tableStyleId>
              </a:tblPr>
              <a:tblGrid>
                <a:gridCol w="4688775">
                  <a:extLst>
                    <a:ext uri="{9D8B030D-6E8A-4147-A177-3AD203B41FA5}">
                      <a16:colId xmlns:a16="http://schemas.microsoft.com/office/drawing/2014/main" val="20000"/>
                    </a:ext>
                  </a:extLst>
                </a:gridCol>
                <a:gridCol w="3806850">
                  <a:extLst>
                    <a:ext uri="{9D8B030D-6E8A-4147-A177-3AD203B41FA5}">
                      <a16:colId xmlns:a16="http://schemas.microsoft.com/office/drawing/2014/main" val="20001"/>
                    </a:ext>
                  </a:extLst>
                </a:gridCol>
              </a:tblGrid>
              <a:tr h="381000">
                <a:tc gridSpan="2">
                  <a:txBody>
                    <a:bodyPr/>
                    <a:lstStyle/>
                    <a:p>
                      <a:pPr marL="457200" lvl="0" indent="-317500" algn="l" rtl="0">
                        <a:spcBef>
                          <a:spcPts val="0"/>
                        </a:spcBef>
                        <a:spcAft>
                          <a:spcPts val="0"/>
                        </a:spcAft>
                        <a:buSzPts val="1400"/>
                        <a:buAutoNum type="arabicPeriod"/>
                      </a:pPr>
                      <a:r>
                        <a:rPr lang="el"/>
                        <a:t>Δηλώστε μια συνάρτηση με το όνομα f2() που όταν καλείται αλλάζει το φόντο της ιστοσελίδας σε μπλε</a:t>
                      </a:r>
                      <a:endParaRPr/>
                    </a:p>
                    <a:p>
                      <a:pPr marL="457200" lvl="0" indent="-317500" algn="l" rtl="0">
                        <a:spcBef>
                          <a:spcPts val="0"/>
                        </a:spcBef>
                        <a:spcAft>
                          <a:spcPts val="0"/>
                        </a:spcAft>
                        <a:buSzPts val="1400"/>
                        <a:buFont typeface="Calibri"/>
                        <a:buAutoNum type="arabicPeriod"/>
                      </a:pPr>
                      <a:r>
                        <a:rPr lang="el">
                          <a:latin typeface="Calibri"/>
                          <a:ea typeface="Calibri"/>
                          <a:cs typeface="Calibri"/>
                          <a:sym typeface="Calibri"/>
                        </a:rPr>
                        <a:t>Δηλώστε μια συνάρτηση με το όνομα f3() που όταν καλείται αλλάζει το χρώμα γραμμάτων της ιστοσελίδας σε   μπλε</a:t>
                      </a:r>
                      <a:endParaRPr>
                        <a:latin typeface="Calibri"/>
                        <a:ea typeface="Calibri"/>
                        <a:cs typeface="Calibri"/>
                        <a:sym typeface="Calibri"/>
                      </a:endParaRPr>
                    </a:p>
                    <a:p>
                      <a:pPr marL="457200" lvl="0" indent="-317500" algn="l" rtl="0">
                        <a:spcBef>
                          <a:spcPts val="0"/>
                        </a:spcBef>
                        <a:spcAft>
                          <a:spcPts val="0"/>
                        </a:spcAft>
                        <a:buSzPts val="1400"/>
                        <a:buFont typeface="Calibri"/>
                        <a:buAutoNum type="arabicPeriod"/>
                      </a:pPr>
                      <a:r>
                        <a:rPr lang="el">
                          <a:latin typeface="Calibri"/>
                          <a:ea typeface="Calibri"/>
                          <a:cs typeface="Calibri"/>
                          <a:sym typeface="Calibri"/>
                        </a:rPr>
                        <a:t>Δηλώστε μια συνάρτηση με το όνομα f4() που όταν καλείται να εμφανίζει το όνομά σας</a:t>
                      </a:r>
                      <a:endParaRPr>
                        <a:latin typeface="Calibri"/>
                        <a:ea typeface="Calibri"/>
                        <a:cs typeface="Calibri"/>
                        <a:sym typeface="Calibri"/>
                      </a:endParaRPr>
                    </a:p>
                    <a:p>
                      <a:pPr marL="0" lvl="0" indent="0" algn="l" rtl="0">
                        <a:spcBef>
                          <a:spcPts val="0"/>
                        </a:spcBef>
                        <a:spcAft>
                          <a:spcPts val="0"/>
                        </a:spcAft>
                        <a:buNone/>
                      </a:pPr>
                      <a:endParaRPr/>
                    </a:p>
                  </a:txBody>
                  <a:tcPr marL="91425" marR="91425" marT="91425" marB="91425">
                    <a:solidFill>
                      <a:srgbClr val="D9EAD3"/>
                    </a:solidFill>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5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Ασκήσεις 1: Συναρτήσεις - Λύσεις</a:t>
            </a:r>
            <a:endParaRPr/>
          </a:p>
        </p:txBody>
      </p:sp>
      <p:graphicFrame>
        <p:nvGraphicFramePr>
          <p:cNvPr id="441" name="Google Shape;441;p54"/>
          <p:cNvGraphicFramePr/>
          <p:nvPr/>
        </p:nvGraphicFramePr>
        <p:xfrm>
          <a:off x="288375" y="1496625"/>
          <a:ext cx="3000000" cy="3000000"/>
        </p:xfrm>
        <a:graphic>
          <a:graphicData uri="http://schemas.openxmlformats.org/drawingml/2006/table">
            <a:tbl>
              <a:tblPr>
                <a:noFill/>
                <a:tableStyleId>{FD1D21A9-7E1A-4391-8461-BF05E97620D1}</a:tableStyleId>
              </a:tblPr>
              <a:tblGrid>
                <a:gridCol w="4688775">
                  <a:extLst>
                    <a:ext uri="{9D8B030D-6E8A-4147-A177-3AD203B41FA5}">
                      <a16:colId xmlns:a16="http://schemas.microsoft.com/office/drawing/2014/main" val="20000"/>
                    </a:ext>
                  </a:extLst>
                </a:gridCol>
                <a:gridCol w="3806850">
                  <a:extLst>
                    <a:ext uri="{9D8B030D-6E8A-4147-A177-3AD203B41FA5}">
                      <a16:colId xmlns:a16="http://schemas.microsoft.com/office/drawing/2014/main" val="20001"/>
                    </a:ext>
                  </a:extLst>
                </a:gridCol>
              </a:tblGrid>
              <a:tr h="381000">
                <a:tc gridSpan="2">
                  <a:txBody>
                    <a:bodyPr/>
                    <a:lstStyle/>
                    <a:p>
                      <a:pPr marL="457200" lvl="0" indent="-317500" algn="l" rtl="0">
                        <a:spcBef>
                          <a:spcPts val="0"/>
                        </a:spcBef>
                        <a:spcAft>
                          <a:spcPts val="0"/>
                        </a:spcAft>
                        <a:buSzPts val="1400"/>
                        <a:buAutoNum type="arabicPeriod"/>
                      </a:pPr>
                      <a:r>
                        <a:rPr lang="el"/>
                        <a:t>Δηλώστε μια συνάρτηση με το όνομα f2() που όταν καλείται αλλάζει το φόντο της ιστοσελίδας σε μπλε</a:t>
                      </a:r>
                      <a:endParaRPr/>
                    </a:p>
                    <a:p>
                      <a:pPr marL="457200" lvl="0" indent="-317500" algn="l" rtl="0">
                        <a:spcBef>
                          <a:spcPts val="0"/>
                        </a:spcBef>
                        <a:spcAft>
                          <a:spcPts val="0"/>
                        </a:spcAft>
                        <a:buSzPts val="1400"/>
                        <a:buFont typeface="Calibri"/>
                        <a:buAutoNum type="arabicPeriod"/>
                      </a:pPr>
                      <a:r>
                        <a:rPr lang="el">
                          <a:latin typeface="Calibri"/>
                          <a:ea typeface="Calibri"/>
                          <a:cs typeface="Calibri"/>
                          <a:sym typeface="Calibri"/>
                        </a:rPr>
                        <a:t>Δηλώστε μια συνάρτηση με το όνομα f3() που όταν καλείται αλλάζει το χρώμα γραμμάτων της ιστοσελίδας σε   μπλε</a:t>
                      </a:r>
                      <a:endParaRPr>
                        <a:latin typeface="Calibri"/>
                        <a:ea typeface="Calibri"/>
                        <a:cs typeface="Calibri"/>
                        <a:sym typeface="Calibri"/>
                      </a:endParaRPr>
                    </a:p>
                    <a:p>
                      <a:pPr marL="457200" lvl="0" indent="-317500" algn="l" rtl="0">
                        <a:spcBef>
                          <a:spcPts val="0"/>
                        </a:spcBef>
                        <a:spcAft>
                          <a:spcPts val="0"/>
                        </a:spcAft>
                        <a:buSzPts val="1400"/>
                        <a:buFont typeface="Calibri"/>
                        <a:buAutoNum type="arabicPeriod"/>
                      </a:pPr>
                      <a:r>
                        <a:rPr lang="el">
                          <a:latin typeface="Calibri"/>
                          <a:ea typeface="Calibri"/>
                          <a:cs typeface="Calibri"/>
                          <a:sym typeface="Calibri"/>
                        </a:rPr>
                        <a:t>Δηλώστε μια συνάρτηση με το όνομα f4() που όταν καλείται να εμφανίζει το όνομά σας</a:t>
                      </a:r>
                      <a:endParaRPr>
                        <a:latin typeface="Calibri"/>
                        <a:ea typeface="Calibri"/>
                        <a:cs typeface="Calibri"/>
                        <a:sym typeface="Calibri"/>
                      </a:endParaRPr>
                    </a:p>
                    <a:p>
                      <a:pPr marL="0" lvl="0" indent="0" algn="l" rtl="0">
                        <a:spcBef>
                          <a:spcPts val="0"/>
                        </a:spcBef>
                        <a:spcAft>
                          <a:spcPts val="0"/>
                        </a:spcAft>
                        <a:buNone/>
                      </a:pPr>
                      <a:endParaRPr/>
                    </a:p>
                  </a:txBody>
                  <a:tcPr marL="91425" marR="91425" marT="91425" marB="91425">
                    <a:solidFill>
                      <a:srgbClr val="D9EAD3"/>
                    </a:solidFill>
                  </a:tcPr>
                </a:tc>
                <a:tc hMerge="1">
                  <a:txBody>
                    <a:bodyPr/>
                    <a:lstStyle/>
                    <a:p>
                      <a:endParaRPr lang="en-US"/>
                    </a:p>
                  </a:txBody>
                  <a:tcPr/>
                </a:tc>
                <a:extLst>
                  <a:ext uri="{0D108BD9-81ED-4DB2-BD59-A6C34878D82A}">
                    <a16:rowId xmlns:a16="http://schemas.microsoft.com/office/drawing/2014/main" val="10000"/>
                  </a:ext>
                </a:extLst>
              </a:tr>
            </a:tbl>
          </a:graphicData>
        </a:graphic>
      </p:graphicFrame>
      <p:graphicFrame>
        <p:nvGraphicFramePr>
          <p:cNvPr id="442" name="Google Shape;442;p54"/>
          <p:cNvGraphicFramePr/>
          <p:nvPr/>
        </p:nvGraphicFramePr>
        <p:xfrm>
          <a:off x="501325" y="3253775"/>
          <a:ext cx="3000000" cy="3000000"/>
        </p:xfrm>
        <a:graphic>
          <a:graphicData uri="http://schemas.openxmlformats.org/drawingml/2006/table">
            <a:tbl>
              <a:tblPr>
                <a:noFill/>
                <a:tableStyleId>{FD1D21A9-7E1A-4391-8461-BF05E97620D1}</a:tableStyleId>
              </a:tblPr>
              <a:tblGrid>
                <a:gridCol w="4688775">
                  <a:extLst>
                    <a:ext uri="{9D8B030D-6E8A-4147-A177-3AD203B41FA5}">
                      <a16:colId xmlns:a16="http://schemas.microsoft.com/office/drawing/2014/main" val="20000"/>
                    </a:ext>
                  </a:extLst>
                </a:gridCol>
                <a:gridCol w="3806850">
                  <a:extLst>
                    <a:ext uri="{9D8B030D-6E8A-4147-A177-3AD203B41FA5}">
                      <a16:colId xmlns:a16="http://schemas.microsoft.com/office/drawing/2014/main" val="20001"/>
                    </a:ext>
                  </a:extLst>
                </a:gridCol>
              </a:tblGrid>
              <a:tr h="381000">
                <a:tc gridSpan="2">
                  <a:txBody>
                    <a:bodyPr/>
                    <a:lstStyle/>
                    <a:p>
                      <a:pPr marL="457200" lvl="0" indent="-317500" algn="l" rtl="0">
                        <a:spcBef>
                          <a:spcPts val="0"/>
                        </a:spcBef>
                        <a:spcAft>
                          <a:spcPts val="0"/>
                        </a:spcAft>
                        <a:buSzPts val="1400"/>
                        <a:buAutoNum type="arabicPeriod"/>
                      </a:pPr>
                      <a:r>
                        <a:rPr lang="el">
                          <a:latin typeface="Calibri"/>
                          <a:ea typeface="Calibri"/>
                          <a:cs typeface="Calibri"/>
                          <a:sym typeface="Calibri"/>
                        </a:rPr>
                        <a:t>function f2() {</a:t>
                      </a:r>
                      <a:r>
                        <a:rPr lang="el"/>
                        <a:t>document.body.style.backgroundColor=”blue”</a:t>
                      </a:r>
                      <a:r>
                        <a:rPr lang="el">
                          <a:latin typeface="Calibri"/>
                          <a:ea typeface="Calibri"/>
                          <a:cs typeface="Calibri"/>
                          <a:sym typeface="Calibri"/>
                        </a:rPr>
                        <a:t>}</a:t>
                      </a:r>
                      <a:endParaRPr/>
                    </a:p>
                    <a:p>
                      <a:pPr marL="457200" lvl="0" indent="-317500" algn="l" rtl="0">
                        <a:spcBef>
                          <a:spcPts val="0"/>
                        </a:spcBef>
                        <a:spcAft>
                          <a:spcPts val="0"/>
                        </a:spcAft>
                        <a:buSzPts val="1400"/>
                        <a:buFont typeface="Calibri"/>
                        <a:buAutoNum type="arabicPeriod"/>
                      </a:pPr>
                      <a:r>
                        <a:rPr lang="el">
                          <a:latin typeface="Calibri"/>
                          <a:ea typeface="Calibri"/>
                          <a:cs typeface="Calibri"/>
                          <a:sym typeface="Calibri"/>
                        </a:rPr>
                        <a:t>function f3() {</a:t>
                      </a:r>
                      <a:r>
                        <a:rPr lang="el"/>
                        <a:t>document.body.style.color="blue"</a:t>
                      </a:r>
                      <a:r>
                        <a:rPr lang="el">
                          <a:latin typeface="Calibri"/>
                          <a:ea typeface="Calibri"/>
                          <a:cs typeface="Calibri"/>
                          <a:sym typeface="Calibri"/>
                        </a:rPr>
                        <a:t>}</a:t>
                      </a:r>
                      <a:endParaRPr>
                        <a:latin typeface="Calibri"/>
                        <a:ea typeface="Calibri"/>
                        <a:cs typeface="Calibri"/>
                        <a:sym typeface="Calibri"/>
                      </a:endParaRPr>
                    </a:p>
                    <a:p>
                      <a:pPr marL="457200" lvl="0" indent="-317500" algn="l" rtl="0">
                        <a:spcBef>
                          <a:spcPts val="0"/>
                        </a:spcBef>
                        <a:spcAft>
                          <a:spcPts val="0"/>
                        </a:spcAft>
                        <a:buSzPts val="1400"/>
                        <a:buFont typeface="Calibri"/>
                        <a:buAutoNum type="arabicPeriod"/>
                      </a:pPr>
                      <a:r>
                        <a:rPr lang="el">
                          <a:latin typeface="Calibri"/>
                          <a:ea typeface="Calibri"/>
                          <a:cs typeface="Calibri"/>
                          <a:sym typeface="Calibri"/>
                        </a:rPr>
                        <a:t>function f4() {alert(“nikos”);}</a:t>
                      </a:r>
                      <a:endParaRPr>
                        <a:latin typeface="Calibri"/>
                        <a:ea typeface="Calibri"/>
                        <a:cs typeface="Calibri"/>
                        <a:sym typeface="Calibri"/>
                      </a:endParaRPr>
                    </a:p>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5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Ασκήσεις 2: Συναρτήσεις - Βρείτε τα συντακτικά λάθη</a:t>
            </a:r>
            <a:endParaRPr/>
          </a:p>
        </p:txBody>
      </p:sp>
      <p:graphicFrame>
        <p:nvGraphicFramePr>
          <p:cNvPr id="448" name="Google Shape;448;p55"/>
          <p:cNvGraphicFramePr/>
          <p:nvPr/>
        </p:nvGraphicFramePr>
        <p:xfrm>
          <a:off x="324188" y="2147700"/>
          <a:ext cx="3000000" cy="3000000"/>
        </p:xfrm>
        <a:graphic>
          <a:graphicData uri="http://schemas.openxmlformats.org/drawingml/2006/table">
            <a:tbl>
              <a:tblPr>
                <a:noFill/>
                <a:tableStyleId>{FD1D21A9-7E1A-4391-8461-BF05E97620D1}</a:tableStyleId>
              </a:tblPr>
              <a:tblGrid>
                <a:gridCol w="4725250">
                  <a:extLst>
                    <a:ext uri="{9D8B030D-6E8A-4147-A177-3AD203B41FA5}">
                      <a16:colId xmlns:a16="http://schemas.microsoft.com/office/drawing/2014/main" val="20000"/>
                    </a:ext>
                  </a:extLst>
                </a:gridCol>
                <a:gridCol w="1317350">
                  <a:extLst>
                    <a:ext uri="{9D8B030D-6E8A-4147-A177-3AD203B41FA5}">
                      <a16:colId xmlns:a16="http://schemas.microsoft.com/office/drawing/2014/main" val="20001"/>
                    </a:ext>
                  </a:extLst>
                </a:gridCol>
                <a:gridCol w="2453025">
                  <a:extLst>
                    <a:ext uri="{9D8B030D-6E8A-4147-A177-3AD203B41FA5}">
                      <a16:colId xmlns:a16="http://schemas.microsoft.com/office/drawing/2014/main" val="20002"/>
                    </a:ext>
                  </a:extLst>
                </a:gridCol>
              </a:tblGrid>
              <a:tr h="424050">
                <a:tc>
                  <a:txBody>
                    <a:bodyPr/>
                    <a:lstStyle/>
                    <a:p>
                      <a:pPr marL="0" lvl="0" indent="0" algn="l" rtl="0">
                        <a:spcBef>
                          <a:spcPts val="600"/>
                        </a:spcBef>
                        <a:spcAft>
                          <a:spcPts val="0"/>
                        </a:spcAft>
                        <a:buNone/>
                      </a:pPr>
                      <a:r>
                        <a:rPr lang="el" sz="1800"/>
                        <a:t>A</a:t>
                      </a:r>
                      <a:endParaRPr sz="1800"/>
                    </a:p>
                    <a:p>
                      <a:pPr marL="0" lvl="0" indent="0" algn="l" rtl="0">
                        <a:spcBef>
                          <a:spcPts val="600"/>
                        </a:spcBef>
                        <a:spcAft>
                          <a:spcPts val="0"/>
                        </a:spcAft>
                        <a:buNone/>
                      </a:pPr>
                      <a:r>
                        <a:rPr lang="el" sz="1800"/>
                        <a:t>function f1</a:t>
                      </a:r>
                      <a:r>
                        <a:rPr lang="el" sz="1800">
                          <a:solidFill>
                            <a:srgbClr val="FF0000"/>
                          </a:solidFill>
                        </a:rPr>
                        <a:t>() </a:t>
                      </a:r>
                      <a:r>
                        <a:rPr lang="el" sz="1800"/>
                        <a:t>{</a:t>
                      </a:r>
                      <a:endParaRPr sz="1800">
                        <a:latin typeface="Times New Roman"/>
                        <a:ea typeface="Times New Roman"/>
                        <a:cs typeface="Times New Roman"/>
                        <a:sym typeface="Times New Roman"/>
                      </a:endParaRPr>
                    </a:p>
                    <a:p>
                      <a:pPr marL="0" lvl="0" indent="0" algn="l" rtl="0">
                        <a:spcBef>
                          <a:spcPts val="600"/>
                        </a:spcBef>
                        <a:spcAft>
                          <a:spcPts val="600"/>
                        </a:spcAft>
                        <a:buNone/>
                      </a:pPr>
                      <a:r>
                        <a:rPr lang="el" sz="1800"/>
                        <a:t>  alert('HELLO');}</a:t>
                      </a:r>
                      <a:endParaRPr>
                        <a:latin typeface="Calibri"/>
                        <a:ea typeface="Calibri"/>
                        <a:cs typeface="Calibri"/>
                        <a:sym typeface="Calibri"/>
                      </a:endParaRPr>
                    </a:p>
                  </a:txBody>
                  <a:tcPr marL="91425" marR="91425" marT="91425" marB="91425">
                    <a:solidFill>
                      <a:srgbClr val="D9EAD3"/>
                    </a:solidFill>
                  </a:tcPr>
                </a:tc>
                <a:tc gridSpan="2">
                  <a:txBody>
                    <a:bodyPr/>
                    <a:lstStyle/>
                    <a:p>
                      <a:pPr marL="0" lvl="0" indent="0" algn="l" rtl="0">
                        <a:spcBef>
                          <a:spcPts val="600"/>
                        </a:spcBef>
                        <a:spcAft>
                          <a:spcPts val="0"/>
                        </a:spcAft>
                        <a:buNone/>
                      </a:pPr>
                      <a:r>
                        <a:rPr lang="el" sz="1800"/>
                        <a:t>B</a:t>
                      </a:r>
                      <a:endParaRPr sz="1800"/>
                    </a:p>
                    <a:p>
                      <a:pPr marL="0" lvl="0" indent="0" algn="l" rtl="0">
                        <a:spcBef>
                          <a:spcPts val="600"/>
                        </a:spcBef>
                        <a:spcAft>
                          <a:spcPts val="0"/>
                        </a:spcAft>
                        <a:buNone/>
                      </a:pPr>
                      <a:r>
                        <a:rPr lang="el" sz="1800"/>
                        <a:t>function f1</a:t>
                      </a:r>
                      <a:r>
                        <a:rPr lang="el" sz="1800">
                          <a:solidFill>
                            <a:srgbClr val="FF0000"/>
                          </a:solidFill>
                        </a:rPr>
                        <a:t>()</a:t>
                      </a:r>
                      <a:r>
                        <a:rPr lang="el" sz="1800"/>
                        <a:t>{</a:t>
                      </a:r>
                      <a:endParaRPr sz="1800">
                        <a:latin typeface="Times New Roman"/>
                        <a:ea typeface="Times New Roman"/>
                        <a:cs typeface="Times New Roman"/>
                        <a:sym typeface="Times New Roman"/>
                      </a:endParaRPr>
                    </a:p>
                    <a:p>
                      <a:pPr marL="0" lvl="0" indent="0" algn="l" rtl="0">
                        <a:spcBef>
                          <a:spcPts val="600"/>
                        </a:spcBef>
                        <a:spcAft>
                          <a:spcPts val="600"/>
                        </a:spcAft>
                        <a:buNone/>
                      </a:pPr>
                      <a:r>
                        <a:rPr lang="el" sz="1800"/>
                        <a:t>  alert('HELLO');}</a:t>
                      </a:r>
                      <a:endParaRPr/>
                    </a:p>
                  </a:txBody>
                  <a:tcPr marL="91425" marR="91425" marT="91425" marB="91425">
                    <a:solidFill>
                      <a:srgbClr val="D9EAD3"/>
                    </a:solidFill>
                  </a:tcPr>
                </a:tc>
                <a:tc hMerge="1">
                  <a:txBody>
                    <a:bodyPr/>
                    <a:lstStyle/>
                    <a:p>
                      <a:endParaRPr lang="en-US"/>
                    </a:p>
                  </a:txBody>
                  <a:tcPr/>
                </a:tc>
                <a:extLst>
                  <a:ext uri="{0D108BD9-81ED-4DB2-BD59-A6C34878D82A}">
                    <a16:rowId xmlns:a16="http://schemas.microsoft.com/office/drawing/2014/main" val="10000"/>
                  </a:ext>
                </a:extLst>
              </a:tr>
              <a:tr h="381000">
                <a:tc>
                  <a:txBody>
                    <a:bodyPr/>
                    <a:lstStyle/>
                    <a:p>
                      <a:pPr marL="0" lvl="0" indent="0" algn="l" rtl="0">
                        <a:spcBef>
                          <a:spcPts val="600"/>
                        </a:spcBef>
                        <a:spcAft>
                          <a:spcPts val="0"/>
                        </a:spcAft>
                        <a:buNone/>
                      </a:pPr>
                      <a:r>
                        <a:rPr lang="el" sz="1800"/>
                        <a:t>C</a:t>
                      </a:r>
                      <a:endParaRPr sz="1800"/>
                    </a:p>
                    <a:p>
                      <a:pPr marL="0" lvl="0" indent="0" algn="l" rtl="0">
                        <a:spcBef>
                          <a:spcPts val="600"/>
                        </a:spcBef>
                        <a:spcAft>
                          <a:spcPts val="0"/>
                        </a:spcAft>
                        <a:buNone/>
                      </a:pPr>
                      <a:r>
                        <a:rPr lang="el" sz="1800"/>
                        <a:t>function f1</a:t>
                      </a:r>
                      <a:r>
                        <a:rPr lang="el" sz="1800">
                          <a:solidFill>
                            <a:srgbClr val="FF0000"/>
                          </a:solidFill>
                        </a:rPr>
                        <a:t>()</a:t>
                      </a:r>
                      <a:r>
                        <a:rPr lang="el" sz="1800"/>
                        <a:t> {</a:t>
                      </a:r>
                      <a:endParaRPr sz="1800">
                        <a:latin typeface="Times New Roman"/>
                        <a:ea typeface="Times New Roman"/>
                        <a:cs typeface="Times New Roman"/>
                        <a:sym typeface="Times New Roman"/>
                      </a:endParaRPr>
                    </a:p>
                    <a:p>
                      <a:pPr marL="0" lvl="0" indent="0" algn="l" rtl="0">
                        <a:spcBef>
                          <a:spcPts val="600"/>
                        </a:spcBef>
                        <a:spcAft>
                          <a:spcPts val="600"/>
                        </a:spcAft>
                        <a:buNone/>
                      </a:pPr>
                      <a:r>
                        <a:rPr lang="el" sz="1800"/>
                        <a:t>  alert('HELLO');}</a:t>
                      </a:r>
                      <a:endParaRPr>
                        <a:latin typeface="Calibri"/>
                        <a:ea typeface="Calibri"/>
                        <a:cs typeface="Calibri"/>
                        <a:sym typeface="Calibri"/>
                      </a:endParaRPr>
                    </a:p>
                  </a:txBody>
                  <a:tcPr marL="91425" marR="91425" marT="91425" marB="91425">
                    <a:solidFill>
                      <a:srgbClr val="D9EAD3"/>
                    </a:solidFill>
                  </a:tcPr>
                </a:tc>
                <a:tc gridSpan="2">
                  <a:txBody>
                    <a:bodyPr/>
                    <a:lstStyle/>
                    <a:p>
                      <a:pPr marL="0" lvl="0" indent="0" algn="l" rtl="0">
                        <a:spcBef>
                          <a:spcPts val="600"/>
                        </a:spcBef>
                        <a:spcAft>
                          <a:spcPts val="0"/>
                        </a:spcAft>
                        <a:buNone/>
                      </a:pPr>
                      <a:r>
                        <a:rPr lang="el" sz="1800"/>
                        <a:t>D</a:t>
                      </a:r>
                      <a:endParaRPr sz="1800"/>
                    </a:p>
                    <a:p>
                      <a:pPr marL="0" lvl="0" indent="0" algn="l" rtl="0">
                        <a:spcBef>
                          <a:spcPts val="600"/>
                        </a:spcBef>
                        <a:spcAft>
                          <a:spcPts val="0"/>
                        </a:spcAft>
                        <a:buNone/>
                      </a:pPr>
                      <a:r>
                        <a:rPr lang="el" sz="1800"/>
                        <a:t>function f1</a:t>
                      </a:r>
                      <a:r>
                        <a:rPr lang="el" sz="1800">
                          <a:solidFill>
                            <a:srgbClr val="FF0000"/>
                          </a:solidFill>
                        </a:rPr>
                        <a:t>()</a:t>
                      </a:r>
                      <a:r>
                        <a:rPr lang="el" sz="1800"/>
                        <a:t>{</a:t>
                      </a:r>
                      <a:endParaRPr sz="1800">
                        <a:latin typeface="Times New Roman"/>
                        <a:ea typeface="Times New Roman"/>
                        <a:cs typeface="Times New Roman"/>
                        <a:sym typeface="Times New Roman"/>
                      </a:endParaRPr>
                    </a:p>
                    <a:p>
                      <a:pPr marL="0" lvl="0" indent="0" algn="l" rtl="0">
                        <a:spcBef>
                          <a:spcPts val="600"/>
                        </a:spcBef>
                        <a:spcAft>
                          <a:spcPts val="600"/>
                        </a:spcAft>
                        <a:buNone/>
                      </a:pPr>
                      <a:r>
                        <a:rPr lang="el" sz="1800"/>
                        <a:t>  alert('HELLO');}</a:t>
                      </a:r>
                      <a:endParaRPr>
                        <a:latin typeface="Calibri"/>
                        <a:ea typeface="Calibri"/>
                        <a:cs typeface="Calibri"/>
                        <a:sym typeface="Calibri"/>
                      </a:endParaRPr>
                    </a:p>
                  </a:txBody>
                  <a:tcPr marL="91425" marR="91425" marT="91425" marB="91425">
                    <a:solidFill>
                      <a:srgbClr val="D9EAD3"/>
                    </a:solidFill>
                  </a:tcPr>
                </a:tc>
                <a:tc hMerge="1">
                  <a:txBody>
                    <a:bodyPr/>
                    <a:lstStyle/>
                    <a:p>
                      <a:endParaRPr lang="en-US"/>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56"/>
          <p:cNvSpPr txBox="1">
            <a:spLocks noGrp="1"/>
          </p:cNvSpPr>
          <p:nvPr>
            <p:ph type="title"/>
          </p:nvPr>
        </p:nvSpPr>
        <p:spPr>
          <a:xfrm>
            <a:off x="324200" y="411550"/>
            <a:ext cx="84291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Ασκήσεις 3: Συναρτ. - Βρείτε τα συντακτικά λάθη</a:t>
            </a:r>
            <a:endParaRPr/>
          </a:p>
        </p:txBody>
      </p:sp>
      <p:graphicFrame>
        <p:nvGraphicFramePr>
          <p:cNvPr id="454" name="Google Shape;454;p56"/>
          <p:cNvGraphicFramePr/>
          <p:nvPr/>
        </p:nvGraphicFramePr>
        <p:xfrm>
          <a:off x="324175" y="1120425"/>
          <a:ext cx="3000000" cy="3000000"/>
        </p:xfrm>
        <a:graphic>
          <a:graphicData uri="http://schemas.openxmlformats.org/drawingml/2006/table">
            <a:tbl>
              <a:tblPr>
                <a:noFill/>
                <a:tableStyleId>{FD1D21A9-7E1A-4391-8461-BF05E97620D1}</a:tableStyleId>
              </a:tblPr>
              <a:tblGrid>
                <a:gridCol w="4725250">
                  <a:extLst>
                    <a:ext uri="{9D8B030D-6E8A-4147-A177-3AD203B41FA5}">
                      <a16:colId xmlns:a16="http://schemas.microsoft.com/office/drawing/2014/main" val="20000"/>
                    </a:ext>
                  </a:extLst>
                </a:gridCol>
                <a:gridCol w="1317350">
                  <a:extLst>
                    <a:ext uri="{9D8B030D-6E8A-4147-A177-3AD203B41FA5}">
                      <a16:colId xmlns:a16="http://schemas.microsoft.com/office/drawing/2014/main" val="20001"/>
                    </a:ext>
                  </a:extLst>
                </a:gridCol>
                <a:gridCol w="2453025">
                  <a:extLst>
                    <a:ext uri="{9D8B030D-6E8A-4147-A177-3AD203B41FA5}">
                      <a16:colId xmlns:a16="http://schemas.microsoft.com/office/drawing/2014/main" val="20002"/>
                    </a:ext>
                  </a:extLst>
                </a:gridCol>
              </a:tblGrid>
              <a:tr h="1826325">
                <a:tc>
                  <a:txBody>
                    <a:bodyPr/>
                    <a:lstStyle/>
                    <a:p>
                      <a:pPr marL="0" lvl="0" indent="0" algn="l" rtl="0">
                        <a:spcBef>
                          <a:spcPts val="600"/>
                        </a:spcBef>
                        <a:spcAft>
                          <a:spcPts val="0"/>
                        </a:spcAft>
                        <a:buNone/>
                      </a:pPr>
                      <a:r>
                        <a:rPr lang="el" sz="1800"/>
                        <a:t>A</a:t>
                      </a:r>
                      <a:endParaRPr sz="1800"/>
                    </a:p>
                    <a:p>
                      <a:pPr marL="0" lvl="0" indent="0" algn="l" rtl="0">
                        <a:spcBef>
                          <a:spcPts val="600"/>
                        </a:spcBef>
                        <a:spcAft>
                          <a:spcPts val="0"/>
                        </a:spcAft>
                        <a:buNone/>
                      </a:pPr>
                      <a:r>
                        <a:rPr lang="el" sz="1800"/>
                        <a:t>&lt;html&gt;&lt;body&gt;&lt;script&gt;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function f1() {</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  alert('HELLO');}</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&lt;/script&gt;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&lt;input type='button' name='b1' value='button1' onclick="fun1()"&gt;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&lt;/body&gt;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&lt;/html&gt;</a:t>
                      </a:r>
                      <a:endParaRPr sz="1800">
                        <a:latin typeface="Times New Roman"/>
                        <a:ea typeface="Times New Roman"/>
                        <a:cs typeface="Times New Roman"/>
                        <a:sym typeface="Times New Roman"/>
                      </a:endParaRPr>
                    </a:p>
                    <a:p>
                      <a:pPr marL="0" lvl="0" indent="0" algn="l" rtl="0">
                        <a:spcBef>
                          <a:spcPts val="600"/>
                        </a:spcBef>
                        <a:spcAft>
                          <a:spcPts val="600"/>
                        </a:spcAft>
                        <a:buNone/>
                      </a:pPr>
                      <a:endParaRPr>
                        <a:latin typeface="Calibri"/>
                        <a:ea typeface="Calibri"/>
                        <a:cs typeface="Calibri"/>
                        <a:sym typeface="Calibri"/>
                      </a:endParaRPr>
                    </a:p>
                  </a:txBody>
                  <a:tcPr marL="91425" marR="91425" marT="91425" marB="91425">
                    <a:solidFill>
                      <a:srgbClr val="D9EAD3"/>
                    </a:solidFill>
                  </a:tcPr>
                </a:tc>
                <a:tc gridSpan="2">
                  <a:txBody>
                    <a:bodyPr/>
                    <a:lstStyle/>
                    <a:p>
                      <a:pPr marL="0" lvl="0" indent="0" algn="l" rtl="0">
                        <a:spcBef>
                          <a:spcPts val="600"/>
                        </a:spcBef>
                        <a:spcAft>
                          <a:spcPts val="0"/>
                        </a:spcAft>
                        <a:buNone/>
                      </a:pPr>
                      <a:r>
                        <a:rPr lang="el" sz="1800"/>
                        <a:t>B</a:t>
                      </a:r>
                      <a:endParaRPr sz="1800"/>
                    </a:p>
                    <a:p>
                      <a:pPr marL="0" lvl="0" indent="0" algn="l" rtl="0">
                        <a:spcBef>
                          <a:spcPts val="600"/>
                        </a:spcBef>
                        <a:spcAft>
                          <a:spcPts val="0"/>
                        </a:spcAft>
                        <a:buNone/>
                      </a:pPr>
                      <a:r>
                        <a:rPr lang="el" sz="1800"/>
                        <a:t>&lt;html&gt;&lt;body&gt;&lt;script&gt;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function f1() {</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  alert('HELLO');}</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&lt;/script&gt;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&lt;input type='button' name='b1' value='button1' onclick="f1"&gt;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&lt;/body&gt;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&lt;/html&gt;</a:t>
                      </a:r>
                      <a:endParaRPr sz="1800">
                        <a:latin typeface="Times New Roman"/>
                        <a:ea typeface="Times New Roman"/>
                        <a:cs typeface="Times New Roman"/>
                        <a:sym typeface="Times New Roman"/>
                      </a:endParaRPr>
                    </a:p>
                    <a:p>
                      <a:pPr marL="0" lvl="0" indent="0" algn="l" rtl="0">
                        <a:spcBef>
                          <a:spcPts val="600"/>
                        </a:spcBef>
                        <a:spcAft>
                          <a:spcPts val="600"/>
                        </a:spcAft>
                        <a:buNone/>
                      </a:pPr>
                      <a:endParaRPr/>
                    </a:p>
                  </a:txBody>
                  <a:tcPr marL="91425" marR="91425" marT="91425" marB="91425">
                    <a:solidFill>
                      <a:srgbClr val="D9EAD3"/>
                    </a:solidFill>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57"/>
          <p:cNvSpPr txBox="1">
            <a:spLocks noGrp="1"/>
          </p:cNvSpPr>
          <p:nvPr>
            <p:ph type="title"/>
          </p:nvPr>
        </p:nvSpPr>
        <p:spPr>
          <a:xfrm>
            <a:off x="324200" y="411550"/>
            <a:ext cx="8429100" cy="9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l"/>
              <a:t>Ασκήσεις 3: Συναρτ. - Βρείτε τα συντακτικά λάθη</a:t>
            </a:r>
            <a:endParaRPr/>
          </a:p>
        </p:txBody>
      </p:sp>
      <p:graphicFrame>
        <p:nvGraphicFramePr>
          <p:cNvPr id="460" name="Google Shape;460;p57"/>
          <p:cNvGraphicFramePr/>
          <p:nvPr/>
        </p:nvGraphicFramePr>
        <p:xfrm>
          <a:off x="324175" y="1120425"/>
          <a:ext cx="3000000" cy="3000000"/>
        </p:xfrm>
        <a:graphic>
          <a:graphicData uri="http://schemas.openxmlformats.org/drawingml/2006/table">
            <a:tbl>
              <a:tblPr>
                <a:noFill/>
                <a:tableStyleId>{FD1D21A9-7E1A-4391-8461-BF05E97620D1}</a:tableStyleId>
              </a:tblPr>
              <a:tblGrid>
                <a:gridCol w="4725250">
                  <a:extLst>
                    <a:ext uri="{9D8B030D-6E8A-4147-A177-3AD203B41FA5}">
                      <a16:colId xmlns:a16="http://schemas.microsoft.com/office/drawing/2014/main" val="20000"/>
                    </a:ext>
                  </a:extLst>
                </a:gridCol>
                <a:gridCol w="1317350">
                  <a:extLst>
                    <a:ext uri="{9D8B030D-6E8A-4147-A177-3AD203B41FA5}">
                      <a16:colId xmlns:a16="http://schemas.microsoft.com/office/drawing/2014/main" val="20001"/>
                    </a:ext>
                  </a:extLst>
                </a:gridCol>
                <a:gridCol w="2453025">
                  <a:extLst>
                    <a:ext uri="{9D8B030D-6E8A-4147-A177-3AD203B41FA5}">
                      <a16:colId xmlns:a16="http://schemas.microsoft.com/office/drawing/2014/main" val="20002"/>
                    </a:ext>
                  </a:extLst>
                </a:gridCol>
              </a:tblGrid>
              <a:tr h="1826325">
                <a:tc>
                  <a:txBody>
                    <a:bodyPr/>
                    <a:lstStyle/>
                    <a:p>
                      <a:pPr marL="0" lvl="0" indent="0" algn="l" rtl="0">
                        <a:spcBef>
                          <a:spcPts val="600"/>
                        </a:spcBef>
                        <a:spcAft>
                          <a:spcPts val="0"/>
                        </a:spcAft>
                        <a:buNone/>
                      </a:pPr>
                      <a:r>
                        <a:rPr lang="el" sz="1800"/>
                        <a:t>C</a:t>
                      </a:r>
                      <a:endParaRPr sz="1800"/>
                    </a:p>
                    <a:p>
                      <a:pPr marL="0" lvl="0" indent="0" algn="l" rtl="0">
                        <a:spcBef>
                          <a:spcPts val="600"/>
                        </a:spcBef>
                        <a:spcAft>
                          <a:spcPts val="0"/>
                        </a:spcAft>
                        <a:buNone/>
                      </a:pPr>
                      <a:r>
                        <a:rPr lang="el" sz="1800"/>
                        <a:t>&lt;html&gt;&lt;body&gt;&lt;script&gt;</a:t>
                      </a:r>
                      <a:endParaRPr sz="1800">
                        <a:latin typeface="Times New Roman"/>
                        <a:ea typeface="Times New Roman"/>
                        <a:cs typeface="Times New Roman"/>
                        <a:sym typeface="Times New Roman"/>
                      </a:endParaRPr>
                    </a:p>
                    <a:p>
                      <a:pPr marL="0" lvl="0" indent="0" algn="l" rtl="0">
                        <a:spcBef>
                          <a:spcPts val="600"/>
                        </a:spcBef>
                        <a:spcAft>
                          <a:spcPts val="0"/>
                        </a:spcAft>
                        <a:buNone/>
                      </a:pPr>
                      <a:r>
                        <a:rPr lang="el" sz="1800"/>
                        <a:t>function f1() {</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  alert('HELLO');}</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&lt;/script&gt;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&lt;input type='button' name='b1' value='button1' "f1()"&gt;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&lt;/body&gt;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&lt;/html&gt;</a:t>
                      </a:r>
                      <a:endParaRPr sz="1800">
                        <a:latin typeface="Times New Roman"/>
                        <a:ea typeface="Times New Roman"/>
                        <a:cs typeface="Times New Roman"/>
                        <a:sym typeface="Times New Roman"/>
                      </a:endParaRPr>
                    </a:p>
                    <a:p>
                      <a:pPr marL="0" lvl="0" indent="0" algn="l" rtl="0">
                        <a:spcBef>
                          <a:spcPts val="600"/>
                        </a:spcBef>
                        <a:spcAft>
                          <a:spcPts val="600"/>
                        </a:spcAft>
                        <a:buNone/>
                      </a:pPr>
                      <a:endParaRPr sz="18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gridSpan="2">
                  <a:txBody>
                    <a:bodyPr/>
                    <a:lstStyle/>
                    <a:p>
                      <a:pPr marL="0" lvl="0" indent="0" algn="l" rtl="0">
                        <a:spcBef>
                          <a:spcPts val="600"/>
                        </a:spcBef>
                        <a:spcAft>
                          <a:spcPts val="0"/>
                        </a:spcAft>
                        <a:buNone/>
                      </a:pPr>
                      <a:r>
                        <a:rPr lang="el" sz="1800"/>
                        <a:t>D</a:t>
                      </a:r>
                      <a:endParaRPr sz="1800"/>
                    </a:p>
                    <a:p>
                      <a:pPr marL="0" lvl="0" indent="0" algn="l" rtl="0">
                        <a:spcBef>
                          <a:spcPts val="600"/>
                        </a:spcBef>
                        <a:spcAft>
                          <a:spcPts val="0"/>
                        </a:spcAft>
                        <a:buNone/>
                      </a:pPr>
                      <a:r>
                        <a:rPr lang="el" sz="1800"/>
                        <a:t>&lt;html&gt;&lt;body&gt;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&lt;script&gt;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f1() f1() {</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  alert('HELLO');}</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&lt;/script&gt;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&lt;input type='button' name='b1' value='button1' onclick="f1()"&gt;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&lt;/body&gt;</a:t>
                      </a:r>
                      <a:endParaRPr sz="1800">
                        <a:latin typeface="Times New Roman"/>
                        <a:ea typeface="Times New Roman"/>
                        <a:cs typeface="Times New Roman"/>
                        <a:sym typeface="Times New Roman"/>
                      </a:endParaRPr>
                    </a:p>
                    <a:p>
                      <a:pPr marL="0" lvl="0" indent="0" algn="l" rtl="0">
                        <a:spcBef>
                          <a:spcPts val="0"/>
                        </a:spcBef>
                        <a:spcAft>
                          <a:spcPts val="0"/>
                        </a:spcAft>
                        <a:buNone/>
                      </a:pPr>
                      <a:r>
                        <a:rPr lang="el" sz="1800"/>
                        <a:t>&lt;/html&gt;</a:t>
                      </a:r>
                      <a:endParaRPr sz="1800">
                        <a:latin typeface="Times New Roman"/>
                        <a:ea typeface="Times New Roman"/>
                        <a:cs typeface="Times New Roman"/>
                        <a:sym typeface="Times New Roman"/>
                      </a:endParaRPr>
                    </a:p>
                    <a:p>
                      <a:pPr marL="0" lvl="0" indent="0" algn="l" rtl="0">
                        <a:spcBef>
                          <a:spcPts val="600"/>
                        </a:spcBef>
                        <a:spcAft>
                          <a:spcPts val="600"/>
                        </a:spcAft>
                        <a:buNone/>
                      </a:pPr>
                      <a:endParaRPr sz="18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6542</Words>
  <Application>Microsoft Office PowerPoint</Application>
  <PresentationFormat>On-screen Show (16:9)</PresentationFormat>
  <Paragraphs>757</Paragraphs>
  <Slides>45</Slides>
  <Notes>45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Courier New</vt:lpstr>
      <vt:lpstr>Verdana</vt:lpstr>
      <vt:lpstr>Arial</vt:lpstr>
      <vt:lpstr>Nunito</vt:lpstr>
      <vt:lpstr>Calibri</vt:lpstr>
      <vt:lpstr>Times New Roman</vt:lpstr>
      <vt:lpstr>Shift</vt:lpstr>
      <vt:lpstr>    Εισαγωγή στον Προγραμματισμό Η/Υ με την JavaScript </vt:lpstr>
      <vt:lpstr>Τι είναι η Javascript</vt:lpstr>
      <vt:lpstr>Java  και Javascript</vt:lpstr>
      <vt:lpstr>Παραδείγματα Javascript</vt:lpstr>
      <vt:lpstr>H javascript είναι αντικειμενοστραφής</vt:lpstr>
      <vt:lpstr>H javascript είναι αντικειμενοστραφής </vt:lpstr>
      <vt:lpstr>Παράδειγμα 1</vt:lpstr>
      <vt:lpstr>Που μπαίνει ο κώδικας javascript</vt:lpstr>
      <vt:lpstr>Αντικείμενα και ιδιότητες στην javascript</vt:lpstr>
      <vt:lpstr>Αντικείμενα και ιδιότητες στην javascript</vt:lpstr>
      <vt:lpstr>Άσκηση 1</vt:lpstr>
      <vt:lpstr>Λύση Άσκησης 1</vt:lpstr>
      <vt:lpstr>Άσκηση 2: με κώδικα javascript:</vt:lpstr>
      <vt:lpstr>Λύση της άσκησης 2</vt:lpstr>
      <vt:lpstr>Άσκηση 3</vt:lpstr>
      <vt:lpstr>Λύση Άσκησης 3</vt:lpstr>
      <vt:lpstr>Χρησιμοποιώντας events</vt:lpstr>
      <vt:lpstr>Events- Γεγονότα</vt:lpstr>
      <vt:lpstr>Παράδειγμα1 με Event</vt:lpstr>
      <vt:lpstr>Παράδειγμα2 με Event </vt:lpstr>
      <vt:lpstr>Παράδειγμα3 με Event</vt:lpstr>
      <vt:lpstr>Παράδειγμα4 με Event </vt:lpstr>
      <vt:lpstr>Άσκηση1 με Events </vt:lpstr>
      <vt:lpstr>Άσκηση1 με Events </vt:lpstr>
      <vt:lpstr>Λύση Άσκησης 1 με Events</vt:lpstr>
      <vt:lpstr>Άσκηση2 με Events </vt:lpstr>
      <vt:lpstr>Λύση Άσκησης 2 με Events</vt:lpstr>
      <vt:lpstr>Χειρισμός Αντικειμένου select στην javascript</vt:lpstr>
      <vt:lpstr>Άσκηση 1:  Αντικειμένου select στην javascript</vt:lpstr>
      <vt:lpstr>Άσκηση 2:  Αντικείμενο select στην javascript</vt:lpstr>
      <vt:lpstr>Άσκηση 2 - Λύση:  Αντικείμενο select στην javascript</vt:lpstr>
      <vt:lpstr>Άσκηση 3:  Αντικείμενο select στην javascript</vt:lpstr>
      <vt:lpstr>Άσκηση 3 - Λύση:  Αντικείμενο select στην javascript</vt:lpstr>
      <vt:lpstr>Άσκηση 4 - Αντικείμενο select στην javascript (remove)</vt:lpstr>
      <vt:lpstr>Άσκηση 4 - Λύση:  Αντικείμενο select στην javascript (remove)</vt:lpstr>
      <vt:lpstr>Τι είναι συνάρτηση;</vt:lpstr>
      <vt:lpstr>Συναρτήσεις στην Javascript  </vt:lpstr>
      <vt:lpstr>Σύνταξη Συναρτήσεων (Function Syntax)</vt:lpstr>
      <vt:lpstr>Παραδείγμα 1: Συναρτήσεις</vt:lpstr>
      <vt:lpstr>Παραδείγμα 2: Συναρτήσεις</vt:lpstr>
      <vt:lpstr>Ασκήσεις 1: Συναρτήσεις</vt:lpstr>
      <vt:lpstr>Ασκήσεις 1: Συναρτήσεις - Λύσεις</vt:lpstr>
      <vt:lpstr>Ασκήσεις 2: Συναρτήσεις - Βρείτε τα συντακτικά λάθη</vt:lpstr>
      <vt:lpstr>Ασκήσεις 3: Συναρτ. - Βρείτε τα συντακτικά λάθη</vt:lpstr>
      <vt:lpstr>Ασκήσεις 3: Συναρτ. - Βρείτε τα συντακτικά λάθη</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Michail Vlachos</cp:lastModifiedBy>
  <cp:revision>1</cp:revision>
  <dcterms:modified xsi:type="dcterms:W3CDTF">2025-12-11T18:35:53Z</dcterms:modified>
</cp:coreProperties>
</file>